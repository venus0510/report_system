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8" r:id="rId4"/>
  </p:sldMasterIdLst>
  <p:notesMasterIdLst>
    <p:notesMasterId r:id="rId18"/>
  </p:notesMasterIdLst>
  <p:handoutMasterIdLst>
    <p:handoutMasterId r:id="rId19"/>
  </p:handoutMasterIdLst>
  <p:sldIdLst>
    <p:sldId id="2147480631" r:id="rId5"/>
    <p:sldId id="2147482934" r:id="rId6"/>
    <p:sldId id="2147482935" r:id="rId7"/>
    <p:sldId id="2147482936" r:id="rId8"/>
    <p:sldId id="2147482937" r:id="rId9"/>
    <p:sldId id="2147480633" r:id="rId10"/>
    <p:sldId id="2147480636" r:id="rId11"/>
    <p:sldId id="2147480637" r:id="rId12"/>
    <p:sldId id="2147480639" r:id="rId13"/>
    <p:sldId id="2147480640" r:id="rId14"/>
    <p:sldId id="2147480641" r:id="rId15"/>
    <p:sldId id="2147480642" r:id="rId16"/>
    <p:sldId id="16773871" r:id="rId17"/>
  </p:sldIdLst>
  <p:sldSz cx="12192000" cy="6858000"/>
  <p:notesSz cx="6735763" cy="98663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基础模板" id="{21D13D96-DF3F-43E0-A94B-530D899D88D2}">
          <p14:sldIdLst>
            <p14:sldId id="2147480631"/>
            <p14:sldId id="2147482934"/>
            <p14:sldId id="2147482935"/>
            <p14:sldId id="2147482936"/>
            <p14:sldId id="2147482937"/>
            <p14:sldId id="2147480633"/>
            <p14:sldId id="2147480636"/>
            <p14:sldId id="2147480637"/>
            <p14:sldId id="2147480639"/>
            <p14:sldId id="2147480640"/>
            <p14:sldId id="2147480641"/>
            <p14:sldId id="2147480642"/>
            <p14:sldId id="16773871"/>
          </p14:sldIdLst>
        </p14:section>
        <p14:section name="备用" id="{E26DC48B-5B92-400F-B358-13D78CE43EBB}">
          <p14:sldIdLst/>
        </p14:section>
      </p14:sectionLst>
    </p:ext>
    <p:ext uri="{EFAFB233-063F-42B5-8137-9DF3F51BA10A}">
      <p15:sldGuideLst xmlns:p15="http://schemas.microsoft.com/office/powerpoint/2012/main">
        <p15:guide id="1" pos="2593" userDrawn="1">
          <p15:clr>
            <a:srgbClr val="A4A3A4"/>
          </p15:clr>
        </p15:guide>
        <p15:guide id="2" orient="horz" pos="2183" userDrawn="1">
          <p15:clr>
            <a:srgbClr val="A4A3A4"/>
          </p15:clr>
        </p15:guide>
        <p15:guide id="3" orient="horz" pos="374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8E85909-47C0-7D8E-1601-32D55701259B}" name="Lily Shen (CN - ASR)" initials="LA" userId="S::lily.shen@cn.pwc.com::0fabdc68-0e2c-4759-beb7-73ce1029591b" providerId="AD"/>
  <p188:author id="{B47A964E-81E1-45F2-2054-0B2EBF68F166}" name="Yinyu Li" initials="YL" userId="S::liyinyu@rckj.partner.onmschina.cn::2b551563-79f6-4086-bedc-88393b2000f5" providerId="AD"/>
  <p188:author id="{EAAFBA53-666D-58E6-A097-19D3C03E8552}" name="卜 婧玙" initials="婧卜" userId="S::bujingyu@rckj.partner.onmschina.cn::0b34790d-2625-4801-8fcd-259ff7e00286" providerId="AD"/>
  <p188:author id="{6C9CA376-231A-A3A2-C1FC-FD121AC80F55}" name="Liu Yudi" initials="YL" userId="S::liuyudi@rckj.partner.onmschina.cn::92fc0b6b-a53c-487b-b164-c2e9e3573afc" providerId="AD"/>
  <p188:author id="{6B7E2F98-4CC0-E451-88C1-25E1F6AD566D}" name="Zhaojie Shen" initials="ZS" userId="S::shenzhaojie@rckj.partner.onmschina.cn::e35b2f46-b6b7-4e9c-8971-bb40776663ef" providerId="AD"/>
  <p188:author id="{199543A7-044B-A8C3-AA3A-27130990ABE9}" name="Xingjian Zou" initials="XZ" userId="S::zouxingjian@rckj.partner.onmschina.cn::6678d1a4-5d2a-42d4-89d5-3ab3dfd275f9" providerId="AD"/>
  <p188:author id="{7589F4BC-C121-E928-B7D7-B81A1EEB410B}" name="lu xuming" initials="xl" userId="S::luxuming@rckj.partner.onmschina.cn::d6705d68-fe89-47be-a32c-eb896300331d" providerId="AD"/>
  <p188:author id="{D26006E2-6D7F-8C42-FD06-DCD29C4CE747}" name="Roger JA Luo (CN - ASR)" initials="RJL(A" userId="Roger JA Luo (CN - ASR)" providerId="None"/>
  <p188:author id="{3BB255FB-7358-586F-F05B-3319E9A4932A}" name="Jia Luo" initials="JL" userId="S::luojia@rckj.partner.onmschina.cn::fc2e2b15-8059-4cb4-9edc-fac159725900" providerId="AD"/>
  <p188:author id="{BA6031FE-B476-B895-46E9-0A46E2255077}" name="Xi Chen" initials="XC" userId="S::chenxi@rckj.partner.onmschina.cn::b121454a-29ee-44a5-926b-5f11249685e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BFF"/>
    <a:srgbClr val="DDF6FF"/>
    <a:srgbClr val="BBDCF9"/>
    <a:srgbClr val="B28B44"/>
    <a:srgbClr val="F4EFDC"/>
    <a:srgbClr val="D3B989"/>
    <a:srgbClr val="1FB494"/>
    <a:srgbClr val="C19D5B"/>
    <a:srgbClr val="389485"/>
    <a:srgbClr val="F1F9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05" autoAdjust="0"/>
    <p:restoredTop sz="95487" autoAdjust="0"/>
  </p:normalViewPr>
  <p:slideViewPr>
    <p:cSldViewPr snapToGrid="0">
      <p:cViewPr varScale="1">
        <p:scale>
          <a:sx n="92" d="100"/>
          <a:sy n="92" d="100"/>
        </p:scale>
        <p:origin x="196" y="64"/>
      </p:cViewPr>
      <p:guideLst>
        <p:guide pos="2593"/>
        <p:guide orient="horz" pos="2183"/>
        <p:guide orient="horz" pos="3748"/>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62" d="100"/>
          <a:sy n="62" d="100"/>
        </p:scale>
        <p:origin x="3178"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A63FE74-6BB0-2D9E-6E7A-C9A6F291BBCD}"/>
              </a:ext>
            </a:extLst>
          </p:cNvPr>
          <p:cNvSpPr>
            <a:spLocks noGrp="1"/>
          </p:cNvSpPr>
          <p:nvPr>
            <p:ph type="hdr" sz="quarter"/>
          </p:nvPr>
        </p:nvSpPr>
        <p:spPr>
          <a:xfrm>
            <a:off x="0" y="0"/>
            <a:ext cx="2918580" cy="494311"/>
          </a:xfrm>
          <a:prstGeom prst="rect">
            <a:avLst/>
          </a:prstGeom>
        </p:spPr>
        <p:txBody>
          <a:bodyPr vert="horz" lIns="87554" tIns="43777" rIns="87554" bIns="43777" rtlCol="0"/>
          <a:lstStyle>
            <a:lvl1pPr algn="l">
              <a:defRPr sz="1100"/>
            </a:lvl1pPr>
          </a:lstStyle>
          <a:p>
            <a:endParaRPr lang="zh-CN" altLang="en-US"/>
          </a:p>
        </p:txBody>
      </p:sp>
      <p:sp>
        <p:nvSpPr>
          <p:cNvPr id="3" name="日期占位符 2">
            <a:extLst>
              <a:ext uri="{FF2B5EF4-FFF2-40B4-BE49-F238E27FC236}">
                <a16:creationId xmlns:a16="http://schemas.microsoft.com/office/drawing/2014/main" id="{89B3C61D-8A8F-21BC-5929-EAD9784C3497}"/>
              </a:ext>
            </a:extLst>
          </p:cNvPr>
          <p:cNvSpPr>
            <a:spLocks noGrp="1"/>
          </p:cNvSpPr>
          <p:nvPr>
            <p:ph type="dt" sz="quarter" idx="1"/>
          </p:nvPr>
        </p:nvSpPr>
        <p:spPr>
          <a:xfrm>
            <a:off x="3815678" y="0"/>
            <a:ext cx="2918579" cy="494311"/>
          </a:xfrm>
          <a:prstGeom prst="rect">
            <a:avLst/>
          </a:prstGeom>
        </p:spPr>
        <p:txBody>
          <a:bodyPr vert="horz" lIns="87554" tIns="43777" rIns="87554" bIns="43777" rtlCol="0"/>
          <a:lstStyle>
            <a:lvl1pPr algn="r">
              <a:defRPr sz="1100"/>
            </a:lvl1pPr>
          </a:lstStyle>
          <a:p>
            <a:fld id="{D6D15F20-D602-4BDB-9C27-30DB572781A5}" type="datetimeFigureOut">
              <a:rPr lang="zh-CN" altLang="en-US" smtClean="0"/>
              <a:t>2026/4/14</a:t>
            </a:fld>
            <a:endParaRPr lang="zh-CN" altLang="en-US"/>
          </a:p>
        </p:txBody>
      </p:sp>
      <p:sp>
        <p:nvSpPr>
          <p:cNvPr id="4" name="页脚占位符 3">
            <a:extLst>
              <a:ext uri="{FF2B5EF4-FFF2-40B4-BE49-F238E27FC236}">
                <a16:creationId xmlns:a16="http://schemas.microsoft.com/office/drawing/2014/main" id="{CBA556EB-9F8B-2079-D419-999CB26ECD57}"/>
              </a:ext>
            </a:extLst>
          </p:cNvPr>
          <p:cNvSpPr>
            <a:spLocks noGrp="1"/>
          </p:cNvSpPr>
          <p:nvPr>
            <p:ph type="ftr" sz="quarter" idx="2"/>
          </p:nvPr>
        </p:nvSpPr>
        <p:spPr>
          <a:xfrm>
            <a:off x="0" y="9372003"/>
            <a:ext cx="2918580" cy="494311"/>
          </a:xfrm>
          <a:prstGeom prst="rect">
            <a:avLst/>
          </a:prstGeom>
        </p:spPr>
        <p:txBody>
          <a:bodyPr vert="horz" lIns="87554" tIns="43777" rIns="87554" bIns="43777" rtlCol="0" anchor="b"/>
          <a:lstStyle>
            <a:lvl1pPr algn="l">
              <a:defRPr sz="1100"/>
            </a:lvl1pPr>
          </a:lstStyle>
          <a:p>
            <a:endParaRPr lang="zh-CN" altLang="en-US"/>
          </a:p>
        </p:txBody>
      </p:sp>
      <p:sp>
        <p:nvSpPr>
          <p:cNvPr id="5" name="灯片编号占位符 4">
            <a:extLst>
              <a:ext uri="{FF2B5EF4-FFF2-40B4-BE49-F238E27FC236}">
                <a16:creationId xmlns:a16="http://schemas.microsoft.com/office/drawing/2014/main" id="{52EE9FC3-4193-3661-EF14-35823C55FB2A}"/>
              </a:ext>
            </a:extLst>
          </p:cNvPr>
          <p:cNvSpPr>
            <a:spLocks noGrp="1"/>
          </p:cNvSpPr>
          <p:nvPr>
            <p:ph type="sldNum" sz="quarter" idx="3"/>
          </p:nvPr>
        </p:nvSpPr>
        <p:spPr>
          <a:xfrm>
            <a:off x="3815678" y="9372003"/>
            <a:ext cx="2918579" cy="494311"/>
          </a:xfrm>
          <a:prstGeom prst="rect">
            <a:avLst/>
          </a:prstGeom>
        </p:spPr>
        <p:txBody>
          <a:bodyPr vert="horz" lIns="87554" tIns="43777" rIns="87554" bIns="43777" rtlCol="0" anchor="b"/>
          <a:lstStyle>
            <a:lvl1pPr algn="r">
              <a:defRPr sz="1100"/>
            </a:lvl1pPr>
          </a:lstStyle>
          <a:p>
            <a:fld id="{1F1ED66E-4623-45A6-B249-6B59507AEA0D}" type="slidenum">
              <a:rPr lang="zh-CN" altLang="en-US" smtClean="0"/>
              <a:t>‹#›</a:t>
            </a:fld>
            <a:endParaRPr lang="zh-CN" altLang="en-US"/>
          </a:p>
        </p:txBody>
      </p:sp>
    </p:spTree>
    <p:extLst>
      <p:ext uri="{BB962C8B-B14F-4D97-AF65-F5344CB8AC3E}">
        <p14:creationId xmlns:p14="http://schemas.microsoft.com/office/powerpoint/2010/main" val="176817767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07" userDrawn="1">
          <p15:clr>
            <a:srgbClr val="F26B43"/>
          </p15:clr>
        </p15:guide>
        <p15:guide id="2" pos="21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2918830" cy="495029"/>
          </a:xfrm>
          <a:prstGeom prst="rect">
            <a:avLst/>
          </a:prstGeom>
        </p:spPr>
        <p:txBody>
          <a:bodyPr vert="horz" lIns="94864" tIns="47433" rIns="94864" bIns="47433" rtlCol="0"/>
          <a:lstStyle>
            <a:lvl1pPr algn="l">
              <a:defRPr sz="1200"/>
            </a:lvl1pPr>
          </a:lstStyle>
          <a:p>
            <a:endParaRPr lang="zh-CN" altLang="en-US"/>
          </a:p>
        </p:txBody>
      </p:sp>
      <p:sp>
        <p:nvSpPr>
          <p:cNvPr id="3" name="日期占位符 2"/>
          <p:cNvSpPr>
            <a:spLocks noGrp="1"/>
          </p:cNvSpPr>
          <p:nvPr>
            <p:ph type="dt" idx="1"/>
          </p:nvPr>
        </p:nvSpPr>
        <p:spPr>
          <a:xfrm>
            <a:off x="3815375" y="0"/>
            <a:ext cx="2918830" cy="495029"/>
          </a:xfrm>
          <a:prstGeom prst="rect">
            <a:avLst/>
          </a:prstGeom>
        </p:spPr>
        <p:txBody>
          <a:bodyPr vert="horz" lIns="94864" tIns="47433" rIns="94864" bIns="47433" rtlCol="0"/>
          <a:lstStyle>
            <a:lvl1pPr algn="r">
              <a:defRPr sz="1200"/>
            </a:lvl1pPr>
          </a:lstStyle>
          <a:p>
            <a:fld id="{F8078909-71D7-4AC5-9F23-C066076D66CB}" type="datetimeFigureOut">
              <a:rPr lang="zh-CN" altLang="en-US" smtClean="0"/>
              <a:t>2026/4/14</a:t>
            </a:fld>
            <a:endParaRPr lang="zh-CN" altLang="en-US"/>
          </a:p>
        </p:txBody>
      </p:sp>
      <p:sp>
        <p:nvSpPr>
          <p:cNvPr id="4" name="幻灯片图像占位符 3"/>
          <p:cNvSpPr>
            <a:spLocks noGrp="1" noRot="1" noChangeAspect="1"/>
          </p:cNvSpPr>
          <p:nvPr>
            <p:ph type="sldImg" idx="2"/>
          </p:nvPr>
        </p:nvSpPr>
        <p:spPr>
          <a:xfrm>
            <a:off x="409575" y="1233488"/>
            <a:ext cx="5918200" cy="3330575"/>
          </a:xfrm>
          <a:prstGeom prst="rect">
            <a:avLst/>
          </a:prstGeom>
          <a:noFill/>
          <a:ln w="12700">
            <a:solidFill>
              <a:prstClr val="black"/>
            </a:solidFill>
          </a:ln>
        </p:spPr>
        <p:txBody>
          <a:bodyPr vert="horz" lIns="94864" tIns="47433" rIns="94864" bIns="47433" rtlCol="0" anchor="ctr"/>
          <a:lstStyle/>
          <a:p>
            <a:endParaRPr lang="zh-CN" altLang="en-US"/>
          </a:p>
        </p:txBody>
      </p:sp>
      <p:sp>
        <p:nvSpPr>
          <p:cNvPr id="5" name="备注占位符 4"/>
          <p:cNvSpPr>
            <a:spLocks noGrp="1"/>
          </p:cNvSpPr>
          <p:nvPr>
            <p:ph type="body" sz="quarter" idx="3"/>
          </p:nvPr>
        </p:nvSpPr>
        <p:spPr>
          <a:xfrm>
            <a:off x="673577" y="4748163"/>
            <a:ext cx="5388610" cy="3884861"/>
          </a:xfrm>
          <a:prstGeom prst="rect">
            <a:avLst/>
          </a:prstGeom>
        </p:spPr>
        <p:txBody>
          <a:bodyPr vert="horz" lIns="94864" tIns="47433" rIns="94864" bIns="47433"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1" y="9371286"/>
            <a:ext cx="2918830" cy="495028"/>
          </a:xfrm>
          <a:prstGeom prst="rect">
            <a:avLst/>
          </a:prstGeom>
        </p:spPr>
        <p:txBody>
          <a:bodyPr vert="horz" lIns="94864" tIns="47433" rIns="94864" bIns="47433"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15375" y="9371286"/>
            <a:ext cx="2918830" cy="495028"/>
          </a:xfrm>
          <a:prstGeom prst="rect">
            <a:avLst/>
          </a:prstGeom>
        </p:spPr>
        <p:txBody>
          <a:bodyPr vert="horz" lIns="94864" tIns="47433" rIns="94864" bIns="47433" rtlCol="0" anchor="b"/>
          <a:lstStyle>
            <a:lvl1pPr algn="r">
              <a:defRPr sz="1200"/>
            </a:lvl1pPr>
          </a:lstStyle>
          <a:p>
            <a:fld id="{23A4B04C-25E5-4B48-8A21-B166E51FF295}" type="slidenum">
              <a:rPr lang="zh-CN" altLang="en-US" smtClean="0"/>
              <a:t>‹#›</a:t>
            </a:fld>
            <a:endParaRPr lang="zh-CN" altLang="en-US"/>
          </a:p>
        </p:txBody>
      </p:sp>
    </p:spTree>
    <p:extLst>
      <p:ext uri="{BB962C8B-B14F-4D97-AF65-F5344CB8AC3E}">
        <p14:creationId xmlns:p14="http://schemas.microsoft.com/office/powerpoint/2010/main" val="839858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SM-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60400" y="330400"/>
            <a:ext cx="10858500" cy="596911"/>
          </a:xfrm>
        </p:spPr>
        <p:txBody>
          <a:bodyPr>
            <a:noAutofit/>
          </a:bodyPr>
          <a:lstStyle>
            <a:lvl1pPr>
              <a:defRPr sz="3600" b="1" baseline="0">
                <a:solidFill>
                  <a:srgbClr val="333333"/>
                </a:solidFill>
                <a:latin typeface="Arial" panose="020B0604020202020204" pitchFamily="34" charset="0"/>
                <a:ea typeface="黑体" panose="02010609060101010101" pitchFamily="49" charset="-122"/>
              </a:defRPr>
            </a:lvl1pPr>
          </a:lstStyle>
          <a:p>
            <a:r>
              <a:rPr lang="en-US" altLang="zh-CN"/>
              <a:t>[Slide title]</a:t>
            </a:r>
            <a:endParaRPr lang="zh-CN" altLang="en-US"/>
          </a:p>
        </p:txBody>
      </p:sp>
      <p:sp>
        <p:nvSpPr>
          <p:cNvPr id="3" name="Content Placeholder 2"/>
          <p:cNvSpPr>
            <a:spLocks noGrp="1"/>
          </p:cNvSpPr>
          <p:nvPr>
            <p:ph idx="1" hasCustomPrompt="1"/>
          </p:nvPr>
        </p:nvSpPr>
        <p:spPr>
          <a:xfrm>
            <a:off x="660400" y="1890079"/>
            <a:ext cx="10858500" cy="4347209"/>
          </a:xfrm>
        </p:spPr>
        <p:txBody>
          <a:bodyPr lIns="0" tIns="0" rIns="0" bIns="0"/>
          <a:lstStyle>
            <a:lvl1pPr indent="0" algn="just">
              <a:lnSpc>
                <a:spcPct val="120000"/>
              </a:lnSpc>
              <a:spcBef>
                <a:spcPts val="0"/>
              </a:spcBef>
              <a:spcAft>
                <a:spcPts val="600"/>
              </a:spcAft>
              <a:defRPr sz="1200" b="0" baseline="0">
                <a:solidFill>
                  <a:srgbClr val="333333"/>
                </a:solidFill>
                <a:latin typeface="Arial" panose="020B0604020202020204" pitchFamily="34" charset="0"/>
                <a:ea typeface="黑体" panose="02010609060101010101" pitchFamily="49" charset="-122"/>
              </a:defRPr>
            </a:lvl1pPr>
            <a:lvl2pPr indent="0" algn="just">
              <a:lnSpc>
                <a:spcPct val="120000"/>
              </a:lnSpc>
              <a:spcBef>
                <a:spcPts val="0"/>
              </a:spcBef>
              <a:spcAft>
                <a:spcPts val="600"/>
              </a:spcAft>
              <a:defRPr sz="1200" b="0" baseline="0">
                <a:solidFill>
                  <a:srgbClr val="333333"/>
                </a:solidFill>
                <a:latin typeface="Arial" panose="020B0604020202020204" pitchFamily="34" charset="0"/>
                <a:ea typeface="黑体" panose="02010609060101010101" pitchFamily="49" charset="-122"/>
              </a:defRPr>
            </a:lvl2pPr>
            <a:lvl3pPr indent="0" algn="just">
              <a:lnSpc>
                <a:spcPct val="120000"/>
              </a:lnSpc>
              <a:spcBef>
                <a:spcPts val="0"/>
              </a:spcBef>
              <a:spcAft>
                <a:spcPts val="600"/>
              </a:spcAft>
              <a:defRPr sz="1200" b="0" baseline="0">
                <a:solidFill>
                  <a:srgbClr val="333333"/>
                </a:solidFill>
                <a:latin typeface="Arial" panose="020B0604020202020204" pitchFamily="34" charset="0"/>
                <a:ea typeface="黑体" panose="02010609060101010101" pitchFamily="49" charset="-122"/>
              </a:defRPr>
            </a:lvl3pPr>
            <a:lvl4pPr indent="0" algn="just">
              <a:lnSpc>
                <a:spcPct val="120000"/>
              </a:lnSpc>
              <a:spcBef>
                <a:spcPts val="0"/>
              </a:spcBef>
              <a:spcAft>
                <a:spcPts val="600"/>
              </a:spcAft>
              <a:defRPr sz="1200" b="0" baseline="0">
                <a:solidFill>
                  <a:srgbClr val="333333"/>
                </a:solidFill>
                <a:latin typeface="Arial" panose="020B0604020202020204" pitchFamily="34" charset="0"/>
                <a:ea typeface="黑体" panose="02010609060101010101" pitchFamily="49" charset="-122"/>
              </a:defRPr>
            </a:lvl4pPr>
            <a:lvl5pPr indent="0" algn="just">
              <a:lnSpc>
                <a:spcPct val="120000"/>
              </a:lnSpc>
              <a:spcBef>
                <a:spcPts val="0"/>
              </a:spcBef>
              <a:spcAft>
                <a:spcPts val="600"/>
              </a:spcAft>
              <a:defRPr sz="1200" b="0" baseline="0">
                <a:solidFill>
                  <a:srgbClr val="333333"/>
                </a:solidFill>
                <a:latin typeface="Arial" panose="020B0604020202020204" pitchFamily="34" charset="0"/>
                <a:ea typeface="黑体" panose="02010609060101010101" pitchFamily="49" charset="-122"/>
              </a:defRPr>
            </a:lvl5pPr>
            <a:lvl6pPr indent="0" algn="just">
              <a:lnSpc>
                <a:spcPct val="120000"/>
              </a:lnSpc>
              <a:spcBef>
                <a:spcPts val="0"/>
              </a:spcBef>
              <a:spcAft>
                <a:spcPts val="600"/>
              </a:spcAft>
              <a:defRPr sz="1200" b="0" baseline="0">
                <a:solidFill>
                  <a:srgbClr val="333333"/>
                </a:solidFill>
                <a:latin typeface="Arial" panose="020B0604020202020204" pitchFamily="34" charset="0"/>
                <a:ea typeface="黑体" panose="02010609060101010101" pitchFamily="49" charset="-122"/>
              </a:defRPr>
            </a:lvl6pPr>
            <a:lvl7pPr indent="0" algn="just">
              <a:lnSpc>
                <a:spcPct val="120000"/>
              </a:lnSpc>
              <a:spcBef>
                <a:spcPts val="0"/>
              </a:spcBef>
              <a:spcAft>
                <a:spcPts val="600"/>
              </a:spcAft>
              <a:defRPr sz="1200" b="0" baseline="0">
                <a:solidFill>
                  <a:srgbClr val="333333"/>
                </a:solidFill>
                <a:latin typeface="Arial" panose="020B0604020202020204" pitchFamily="34" charset="0"/>
                <a:ea typeface="黑体" panose="02010609060101010101" pitchFamily="49" charset="-122"/>
              </a:defRPr>
            </a:lvl7pPr>
            <a:lvl8pPr indent="0" algn="just">
              <a:lnSpc>
                <a:spcPct val="120000"/>
              </a:lnSpc>
              <a:spcBef>
                <a:spcPts val="0"/>
              </a:spcBef>
              <a:spcAft>
                <a:spcPts val="600"/>
              </a:spcAft>
              <a:defRPr sz="1200" b="0" baseline="0">
                <a:solidFill>
                  <a:srgbClr val="333333"/>
                </a:solidFill>
                <a:latin typeface="Arial" panose="020B0604020202020204" pitchFamily="34" charset="0"/>
                <a:ea typeface="黑体" panose="02010609060101010101" pitchFamily="49" charset="-122"/>
              </a:defRPr>
            </a:lvl8pPr>
            <a:lvl9pPr indent="0" algn="just">
              <a:lnSpc>
                <a:spcPct val="120000"/>
              </a:lnSpc>
              <a:spcBef>
                <a:spcPts val="0"/>
              </a:spcBef>
              <a:spcAft>
                <a:spcPts val="600"/>
              </a:spcAft>
              <a:defRPr sz="1200" b="0" baseline="0">
                <a:solidFill>
                  <a:srgbClr val="333333"/>
                </a:solidFill>
                <a:latin typeface="Arial" panose="020B0604020202020204" pitchFamily="34" charset="0"/>
                <a:ea typeface="黑体" panose="02010609060101010101" pitchFamily="49" charset="-122"/>
              </a:defRPr>
            </a:lvl9pPr>
          </a:lstStyle>
          <a:p>
            <a:pPr lvl="0"/>
            <a:r>
              <a:rPr lang="en-US" altLang="zh-CN"/>
              <a:t>Click to edit Master text styles</a:t>
            </a:r>
          </a:p>
        </p:txBody>
      </p:sp>
      <p:sp>
        <p:nvSpPr>
          <p:cNvPr id="4" name="灯片编号占位符 3"/>
          <p:cNvSpPr>
            <a:spLocks noGrp="1"/>
          </p:cNvSpPr>
          <p:nvPr>
            <p:ph type="sldNum" sz="quarter" idx="10"/>
          </p:nvPr>
        </p:nvSpPr>
        <p:spPr>
          <a:xfrm>
            <a:off x="9754108" y="6492240"/>
            <a:ext cx="1764792" cy="137160"/>
          </a:xfrm>
        </p:spPr>
        <p:txBody>
          <a:bodyPr/>
          <a:lstStyle>
            <a:lvl1pPr algn="r">
              <a:defRPr sz="900" baseline="0">
                <a:latin typeface="Arial" panose="020B0604020202020204" pitchFamily="34" charset="0"/>
                <a:ea typeface="黑体" panose="02010609060101010101" pitchFamily="49" charset="-122"/>
              </a:defRPr>
            </a:lvl1pPr>
          </a:lstStyle>
          <a:p>
            <a:fld id="{7870704B-CE94-48CC-AF30-84932A1262A7}" type="slidenum">
              <a:rPr lang="en-GB" smtClean="0"/>
              <a:pPr/>
              <a:t>‹#›</a:t>
            </a:fld>
            <a:endParaRPr lang="en-GB"/>
          </a:p>
        </p:txBody>
      </p:sp>
      <p:sp>
        <p:nvSpPr>
          <p:cNvPr id="5" name="Presentation Footer"/>
          <p:cNvSpPr>
            <a:spLocks noGrp="1"/>
          </p:cNvSpPr>
          <p:nvPr>
            <p:ph type="ftr" sz="quarter" idx="13"/>
          </p:nvPr>
        </p:nvSpPr>
        <p:spPr>
          <a:xfrm>
            <a:off x="673100" y="6478206"/>
            <a:ext cx="4800179" cy="151194"/>
          </a:xfrm>
          <a:prstGeom prst="rect">
            <a:avLst/>
          </a:prstGeom>
        </p:spPr>
        <p:txBody>
          <a:bodyPr lIns="0" tIns="0" rIns="0" bIns="0"/>
          <a:lstStyle>
            <a:lvl1pPr algn="l">
              <a:defRPr sz="900" baseline="0">
                <a:latin typeface="Arial" panose="020B0604020202020204" pitchFamily="34" charset="0"/>
                <a:ea typeface="黑体" panose="02010609060101010101" pitchFamily="49" charset="-122"/>
              </a:defRPr>
            </a:lvl1pPr>
          </a:lstStyle>
          <a:p>
            <a:r>
              <a:rPr lang="en-US" altLang="zh-CN"/>
              <a:t>© </a:t>
            </a:r>
            <a:r>
              <a:rPr lang="zh-CN" altLang="en-US"/>
              <a:t>容诚会计师事务所（特殊普通合伙），</a:t>
            </a:r>
            <a:r>
              <a:rPr lang="en-US" altLang="zh-CN"/>
              <a:t>2026</a:t>
            </a:r>
            <a:endParaRPr lang="zh-CN" altLang="en-US"/>
          </a:p>
        </p:txBody>
      </p:sp>
      <p:grpSp>
        <p:nvGrpSpPr>
          <p:cNvPr id="13" name="组合 1"/>
          <p:cNvGrpSpPr/>
          <p:nvPr userDrawn="1"/>
        </p:nvGrpSpPr>
        <p:grpSpPr>
          <a:xfrm>
            <a:off x="0" y="447875"/>
            <a:ext cx="407988" cy="248569"/>
            <a:chOff x="1542824" y="1640663"/>
            <a:chExt cx="817198" cy="273425"/>
          </a:xfrm>
        </p:grpSpPr>
        <p:sp>
          <p:nvSpPr>
            <p:cNvPr id="14" name="矩形 2"/>
            <p:cNvSpPr/>
            <p:nvPr/>
          </p:nvSpPr>
          <p:spPr>
            <a:xfrm>
              <a:off x="1542824" y="1640663"/>
              <a:ext cx="62535" cy="273425"/>
            </a:xfrm>
            <a:prstGeom prst="rect">
              <a:avLst/>
            </a:prstGeom>
            <a:solidFill>
              <a:srgbClr val="8D8D8E"/>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15" name="矩形 4"/>
            <p:cNvSpPr/>
            <p:nvPr/>
          </p:nvSpPr>
          <p:spPr>
            <a:xfrm>
              <a:off x="1634970" y="1640663"/>
              <a:ext cx="165462" cy="273425"/>
            </a:xfrm>
            <a:prstGeom prst="rect">
              <a:avLst/>
            </a:prstGeom>
            <a:solidFill>
              <a:srgbClr val="45B035"/>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16" name="矩形 5"/>
            <p:cNvSpPr/>
            <p:nvPr/>
          </p:nvSpPr>
          <p:spPr>
            <a:xfrm>
              <a:off x="1840547" y="1640663"/>
              <a:ext cx="519475" cy="273425"/>
            </a:xfrm>
            <a:prstGeom prst="rect">
              <a:avLst/>
            </a:prstGeom>
            <a:solidFill>
              <a:srgbClr val="00A3DF"/>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grpSp>
    </p:spTree>
    <p:extLst>
      <p:ext uri="{BB962C8B-B14F-4D97-AF65-F5344CB8AC3E}">
        <p14:creationId xmlns:p14="http://schemas.microsoft.com/office/powerpoint/2010/main" val="2784670191"/>
      </p:ext>
    </p:extLst>
  </p:cSld>
  <p:clrMapOvr>
    <a:masterClrMapping/>
  </p:clrMapOvr>
  <p:extLst>
    <p:ext uri="{DCECCB84-F9BA-43D5-87BE-67443E8EF086}">
      <p15:sldGuideLst xmlns:p15="http://schemas.microsoft.com/office/powerpoint/2012/main">
        <p15:guide id="1" orient="horz" pos="118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RSM-Title&amp;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60400" y="330400"/>
            <a:ext cx="10858500" cy="596911"/>
          </a:xfrm>
        </p:spPr>
        <p:txBody>
          <a:bodyPr>
            <a:noAutofit/>
          </a:bodyPr>
          <a:lstStyle>
            <a:lvl1pPr>
              <a:defRPr sz="3600" b="1" baseline="0">
                <a:solidFill>
                  <a:srgbClr val="333333"/>
                </a:solidFill>
                <a:latin typeface="Arial" panose="020B0604020202020204" pitchFamily="34" charset="0"/>
                <a:ea typeface="楷体" panose="02010609060101010101" pitchFamily="49" charset="-122"/>
              </a:defRPr>
            </a:lvl1pPr>
          </a:lstStyle>
          <a:p>
            <a:r>
              <a:rPr lang="en-US" altLang="zh-CN"/>
              <a:t>[Slide title]</a:t>
            </a:r>
            <a:endParaRPr lang="zh-CN" altLang="en-US"/>
          </a:p>
        </p:txBody>
      </p:sp>
      <p:sp>
        <p:nvSpPr>
          <p:cNvPr id="3" name="Content Placeholder 2"/>
          <p:cNvSpPr>
            <a:spLocks noGrp="1"/>
          </p:cNvSpPr>
          <p:nvPr>
            <p:ph idx="1" hasCustomPrompt="1"/>
          </p:nvPr>
        </p:nvSpPr>
        <p:spPr>
          <a:xfrm>
            <a:off x="660400" y="1890079"/>
            <a:ext cx="10858500" cy="4347209"/>
          </a:xfrm>
        </p:spPr>
        <p:txBody>
          <a:bodyPr lIns="0" tIns="0" rIns="0" bIns="0"/>
          <a:lstStyle>
            <a:lvl1pPr indent="0" algn="just">
              <a:lnSpc>
                <a:spcPct val="120000"/>
              </a:lnSpc>
              <a:spcBef>
                <a:spcPts val="0"/>
              </a:spcBef>
              <a:spcAft>
                <a:spcPts val="600"/>
              </a:spcAft>
              <a:defRPr sz="1200" b="0" baseline="0">
                <a:solidFill>
                  <a:srgbClr val="333333"/>
                </a:solidFill>
                <a:latin typeface="Arial" panose="020B0604020202020204" pitchFamily="34" charset="0"/>
                <a:ea typeface="楷体" panose="02010609060101010101" pitchFamily="49" charset="-122"/>
              </a:defRPr>
            </a:lvl1pPr>
            <a:lvl2pPr indent="0" algn="just">
              <a:lnSpc>
                <a:spcPct val="120000"/>
              </a:lnSpc>
              <a:spcBef>
                <a:spcPts val="0"/>
              </a:spcBef>
              <a:spcAft>
                <a:spcPts val="600"/>
              </a:spcAft>
              <a:defRPr sz="1200" b="0" baseline="0">
                <a:solidFill>
                  <a:srgbClr val="333333"/>
                </a:solidFill>
                <a:latin typeface="Arial" panose="020B0604020202020204" pitchFamily="34" charset="0"/>
                <a:ea typeface="黑体" panose="02010609060101010101" pitchFamily="49" charset="-122"/>
              </a:defRPr>
            </a:lvl2pPr>
            <a:lvl3pPr indent="0" algn="just">
              <a:lnSpc>
                <a:spcPct val="120000"/>
              </a:lnSpc>
              <a:spcBef>
                <a:spcPts val="0"/>
              </a:spcBef>
              <a:spcAft>
                <a:spcPts val="600"/>
              </a:spcAft>
              <a:defRPr sz="1200" b="0" baseline="0">
                <a:solidFill>
                  <a:srgbClr val="333333"/>
                </a:solidFill>
                <a:latin typeface="Arial" panose="020B0604020202020204" pitchFamily="34" charset="0"/>
                <a:ea typeface="黑体" panose="02010609060101010101" pitchFamily="49" charset="-122"/>
              </a:defRPr>
            </a:lvl3pPr>
            <a:lvl4pPr indent="0" algn="just">
              <a:lnSpc>
                <a:spcPct val="120000"/>
              </a:lnSpc>
              <a:spcBef>
                <a:spcPts val="0"/>
              </a:spcBef>
              <a:spcAft>
                <a:spcPts val="600"/>
              </a:spcAft>
              <a:defRPr sz="1200" b="0" baseline="0">
                <a:solidFill>
                  <a:srgbClr val="333333"/>
                </a:solidFill>
                <a:latin typeface="Arial" panose="020B0604020202020204" pitchFamily="34" charset="0"/>
                <a:ea typeface="黑体" panose="02010609060101010101" pitchFamily="49" charset="-122"/>
              </a:defRPr>
            </a:lvl4pPr>
            <a:lvl5pPr indent="0" algn="just">
              <a:lnSpc>
                <a:spcPct val="120000"/>
              </a:lnSpc>
              <a:spcBef>
                <a:spcPts val="0"/>
              </a:spcBef>
              <a:spcAft>
                <a:spcPts val="600"/>
              </a:spcAft>
              <a:defRPr sz="1200" b="0" baseline="0">
                <a:solidFill>
                  <a:srgbClr val="333333"/>
                </a:solidFill>
                <a:latin typeface="Arial" panose="020B0604020202020204" pitchFamily="34" charset="0"/>
                <a:ea typeface="黑体" panose="02010609060101010101" pitchFamily="49" charset="-122"/>
              </a:defRPr>
            </a:lvl5pPr>
            <a:lvl6pPr indent="0" algn="just">
              <a:lnSpc>
                <a:spcPct val="120000"/>
              </a:lnSpc>
              <a:spcBef>
                <a:spcPts val="0"/>
              </a:spcBef>
              <a:spcAft>
                <a:spcPts val="600"/>
              </a:spcAft>
              <a:defRPr sz="1200" b="0" baseline="0">
                <a:solidFill>
                  <a:srgbClr val="333333"/>
                </a:solidFill>
                <a:latin typeface="Arial" panose="020B0604020202020204" pitchFamily="34" charset="0"/>
                <a:ea typeface="黑体" panose="02010609060101010101" pitchFamily="49" charset="-122"/>
              </a:defRPr>
            </a:lvl6pPr>
            <a:lvl7pPr indent="0" algn="just">
              <a:lnSpc>
                <a:spcPct val="120000"/>
              </a:lnSpc>
              <a:spcBef>
                <a:spcPts val="0"/>
              </a:spcBef>
              <a:spcAft>
                <a:spcPts val="600"/>
              </a:spcAft>
              <a:defRPr sz="1200" b="0" baseline="0">
                <a:solidFill>
                  <a:srgbClr val="333333"/>
                </a:solidFill>
                <a:latin typeface="Arial" panose="020B0604020202020204" pitchFamily="34" charset="0"/>
                <a:ea typeface="黑体" panose="02010609060101010101" pitchFamily="49" charset="-122"/>
              </a:defRPr>
            </a:lvl7pPr>
            <a:lvl8pPr indent="0" algn="just">
              <a:lnSpc>
                <a:spcPct val="120000"/>
              </a:lnSpc>
              <a:spcBef>
                <a:spcPts val="0"/>
              </a:spcBef>
              <a:spcAft>
                <a:spcPts val="600"/>
              </a:spcAft>
              <a:defRPr sz="1200" b="0" baseline="0">
                <a:solidFill>
                  <a:srgbClr val="333333"/>
                </a:solidFill>
                <a:latin typeface="Arial" panose="020B0604020202020204" pitchFamily="34" charset="0"/>
                <a:ea typeface="黑体" panose="02010609060101010101" pitchFamily="49" charset="-122"/>
              </a:defRPr>
            </a:lvl8pPr>
            <a:lvl9pPr indent="0" algn="just">
              <a:lnSpc>
                <a:spcPct val="120000"/>
              </a:lnSpc>
              <a:spcBef>
                <a:spcPts val="0"/>
              </a:spcBef>
              <a:spcAft>
                <a:spcPts val="600"/>
              </a:spcAft>
              <a:defRPr sz="1200" b="0" baseline="0">
                <a:solidFill>
                  <a:srgbClr val="333333"/>
                </a:solidFill>
                <a:latin typeface="Arial" panose="020B0604020202020204" pitchFamily="34" charset="0"/>
                <a:ea typeface="黑体" panose="02010609060101010101" pitchFamily="49" charset="-122"/>
              </a:defRPr>
            </a:lvl9pPr>
          </a:lstStyle>
          <a:p>
            <a:pPr lvl="0"/>
            <a:r>
              <a:rPr lang="en-US" altLang="zh-CN"/>
              <a:t>Click to edit Master text styles</a:t>
            </a:r>
          </a:p>
        </p:txBody>
      </p:sp>
      <p:sp>
        <p:nvSpPr>
          <p:cNvPr id="4" name="灯片编号占位符 3"/>
          <p:cNvSpPr>
            <a:spLocks noGrp="1"/>
          </p:cNvSpPr>
          <p:nvPr>
            <p:ph type="sldNum" sz="quarter" idx="10"/>
          </p:nvPr>
        </p:nvSpPr>
        <p:spPr>
          <a:xfrm>
            <a:off x="9754108" y="6492240"/>
            <a:ext cx="1764792" cy="137160"/>
          </a:xfrm>
        </p:spPr>
        <p:txBody>
          <a:bodyPr/>
          <a:lstStyle>
            <a:lvl1pPr algn="r">
              <a:defRPr sz="900" baseline="0">
                <a:latin typeface="Arial" panose="020B0604020202020204" pitchFamily="34" charset="0"/>
                <a:ea typeface="楷体" panose="02010609060101010101" pitchFamily="49" charset="-122"/>
              </a:defRPr>
            </a:lvl1pPr>
          </a:lstStyle>
          <a:p>
            <a:fld id="{7870704B-CE94-48CC-AF30-84932A1262A7}" type="slidenum">
              <a:rPr lang="en-GB" smtClean="0"/>
              <a:pPr/>
              <a:t>‹#›</a:t>
            </a:fld>
            <a:endParaRPr lang="en-GB">
              <a:ea typeface="楷体" panose="02010609060101010101" pitchFamily="49" charset="-122"/>
            </a:endParaRPr>
          </a:p>
        </p:txBody>
      </p:sp>
      <p:sp>
        <p:nvSpPr>
          <p:cNvPr id="5" name="Presentation Footer"/>
          <p:cNvSpPr>
            <a:spLocks noGrp="1"/>
          </p:cNvSpPr>
          <p:nvPr>
            <p:ph type="ftr" sz="quarter" idx="13"/>
          </p:nvPr>
        </p:nvSpPr>
        <p:spPr>
          <a:xfrm>
            <a:off x="673100" y="6478206"/>
            <a:ext cx="4800179" cy="151194"/>
          </a:xfrm>
          <a:prstGeom prst="rect">
            <a:avLst/>
          </a:prstGeom>
        </p:spPr>
        <p:txBody>
          <a:bodyPr lIns="0" tIns="0" rIns="0" bIns="0"/>
          <a:lstStyle>
            <a:lvl1pPr algn="l">
              <a:defRPr sz="900" baseline="0">
                <a:latin typeface="Arial" panose="020B0604020202020204" pitchFamily="34" charset="0"/>
                <a:ea typeface="楷体" panose="02010609060101010101" pitchFamily="49" charset="-122"/>
              </a:defRPr>
            </a:lvl1pPr>
          </a:lstStyle>
          <a:p>
            <a:r>
              <a:rPr lang="en-US" altLang="zh-CN"/>
              <a:t>© </a:t>
            </a:r>
            <a:r>
              <a:rPr lang="zh-CN" altLang="en-US"/>
              <a:t>容诚会计师事务所（特殊普通合伙），</a:t>
            </a:r>
            <a:r>
              <a:rPr lang="en-US" altLang="zh-CN"/>
              <a:t>2026</a:t>
            </a:r>
            <a:endParaRPr lang="zh-CN" altLang="en-US">
              <a:ea typeface="楷体" panose="02010609060101010101" pitchFamily="49" charset="-122"/>
            </a:endParaRPr>
          </a:p>
        </p:txBody>
      </p:sp>
      <p:grpSp>
        <p:nvGrpSpPr>
          <p:cNvPr id="13" name="组合 1"/>
          <p:cNvGrpSpPr/>
          <p:nvPr userDrawn="1"/>
        </p:nvGrpSpPr>
        <p:grpSpPr>
          <a:xfrm>
            <a:off x="0" y="447875"/>
            <a:ext cx="407988" cy="248569"/>
            <a:chOff x="1542824" y="1640663"/>
            <a:chExt cx="817198" cy="273425"/>
          </a:xfrm>
        </p:grpSpPr>
        <p:sp>
          <p:nvSpPr>
            <p:cNvPr id="14" name="矩形 2"/>
            <p:cNvSpPr/>
            <p:nvPr/>
          </p:nvSpPr>
          <p:spPr>
            <a:xfrm>
              <a:off x="1542824" y="1640663"/>
              <a:ext cx="62535" cy="273425"/>
            </a:xfrm>
            <a:prstGeom prst="rect">
              <a:avLst/>
            </a:prstGeom>
            <a:solidFill>
              <a:srgbClr val="8D8D8E"/>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baseline="0">
                <a:latin typeface="Arial" panose="020B0604020202020204" pitchFamily="34" charset="0"/>
                <a:ea typeface="楷体" panose="02010609060101010101" pitchFamily="49" charset="-122"/>
              </a:endParaRPr>
            </a:p>
          </p:txBody>
        </p:sp>
        <p:sp>
          <p:nvSpPr>
            <p:cNvPr id="15" name="矩形 4"/>
            <p:cNvSpPr/>
            <p:nvPr/>
          </p:nvSpPr>
          <p:spPr>
            <a:xfrm>
              <a:off x="1634970" y="1640663"/>
              <a:ext cx="165462" cy="273425"/>
            </a:xfrm>
            <a:prstGeom prst="rect">
              <a:avLst/>
            </a:prstGeom>
            <a:solidFill>
              <a:srgbClr val="45B035"/>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baseline="0">
                <a:latin typeface="Arial" panose="020B0604020202020204" pitchFamily="34" charset="0"/>
                <a:ea typeface="楷体" panose="02010609060101010101" pitchFamily="49" charset="-122"/>
              </a:endParaRPr>
            </a:p>
          </p:txBody>
        </p:sp>
        <p:sp>
          <p:nvSpPr>
            <p:cNvPr id="16" name="矩形 5"/>
            <p:cNvSpPr/>
            <p:nvPr/>
          </p:nvSpPr>
          <p:spPr>
            <a:xfrm>
              <a:off x="1840547" y="1640663"/>
              <a:ext cx="519475" cy="273425"/>
            </a:xfrm>
            <a:prstGeom prst="rect">
              <a:avLst/>
            </a:prstGeom>
            <a:solidFill>
              <a:srgbClr val="00A3DF"/>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baseline="0">
                <a:latin typeface="Arial" panose="020B0604020202020204" pitchFamily="34" charset="0"/>
                <a:ea typeface="楷体" panose="02010609060101010101" pitchFamily="49" charset="-122"/>
              </a:endParaRPr>
            </a:p>
          </p:txBody>
        </p:sp>
      </p:grpSp>
      <p:sp>
        <p:nvSpPr>
          <p:cNvPr id="7" name="内容占位符 6"/>
          <p:cNvSpPr>
            <a:spLocks noGrp="1"/>
          </p:cNvSpPr>
          <p:nvPr>
            <p:ph sz="quarter" idx="14" hasCustomPrompt="1"/>
          </p:nvPr>
        </p:nvSpPr>
        <p:spPr>
          <a:xfrm>
            <a:off x="660400" y="923400"/>
            <a:ext cx="10858500" cy="596900"/>
          </a:xfrm>
          <a:prstGeom prst="rect">
            <a:avLst/>
          </a:prstGeom>
        </p:spPr>
        <p:txBody>
          <a:bodyPr lIns="0" tIns="0" rIns="0" bIns="0"/>
          <a:lstStyle>
            <a:lvl1pPr>
              <a:spcAft>
                <a:spcPts val="0"/>
              </a:spcAft>
              <a:defRPr sz="2400" b="0" baseline="0">
                <a:solidFill>
                  <a:srgbClr val="333333"/>
                </a:solidFill>
                <a:latin typeface="Arial" panose="020B0604020202020204" pitchFamily="34" charset="0"/>
                <a:ea typeface="楷体" panose="02010609060101010101" pitchFamily="49" charset="-122"/>
              </a:defRPr>
            </a:lvl1pPr>
          </a:lstStyle>
          <a:p>
            <a:pPr lvl="0"/>
            <a:r>
              <a:rPr lang="en-US" altLang="zh-CN"/>
              <a:t>Sub Title</a:t>
            </a:r>
            <a:endParaRPr lang="zh-CN" altLang="en-US"/>
          </a:p>
        </p:txBody>
      </p:sp>
    </p:spTree>
    <p:extLst>
      <p:ext uri="{BB962C8B-B14F-4D97-AF65-F5344CB8AC3E}">
        <p14:creationId xmlns:p14="http://schemas.microsoft.com/office/powerpoint/2010/main" val="878787753"/>
      </p:ext>
    </p:extLst>
  </p:cSld>
  <p:clrMapOvr>
    <a:masterClrMapping/>
  </p:clrMapOvr>
  <p:extLst>
    <p:ext uri="{DCECCB84-F9BA-43D5-87BE-67443E8EF086}">
      <p15:sldGuideLst xmlns:p15="http://schemas.microsoft.com/office/powerpoint/2012/main">
        <p15:guide id="1" orient="horz" pos="1185"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99A8B2C-3E34-819A-1F84-48783A30BB4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flipH="1">
            <a:off x="4116388" y="4565"/>
            <a:ext cx="8075612" cy="6860446"/>
          </a:xfrm>
          <a:prstGeom prst="rect">
            <a:avLst/>
          </a:prstGeom>
        </p:spPr>
      </p:pic>
      <p:sp>
        <p:nvSpPr>
          <p:cNvPr id="3" name="矩形 2">
            <a:extLst>
              <a:ext uri="{FF2B5EF4-FFF2-40B4-BE49-F238E27FC236}">
                <a16:creationId xmlns:a16="http://schemas.microsoft.com/office/drawing/2014/main" id="{CB981137-731C-E3C0-CEFA-3BE1A1B717F4}"/>
              </a:ext>
            </a:extLst>
          </p:cNvPr>
          <p:cNvSpPr/>
          <p:nvPr userDrawn="1"/>
        </p:nvSpPr>
        <p:spPr>
          <a:xfrm>
            <a:off x="4975401" y="1507559"/>
            <a:ext cx="1808087" cy="5345876"/>
          </a:xfrm>
          <a:prstGeom prst="rect">
            <a:avLst/>
          </a:prstGeom>
          <a:solidFill>
            <a:schemeClr val="bg1">
              <a:alpha val="60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4" name="矩形 3">
            <a:extLst>
              <a:ext uri="{FF2B5EF4-FFF2-40B4-BE49-F238E27FC236}">
                <a16:creationId xmlns:a16="http://schemas.microsoft.com/office/drawing/2014/main" id="{CC0B8664-F069-24A4-9D3C-4396F4FF0A5C}"/>
              </a:ext>
            </a:extLst>
          </p:cNvPr>
          <p:cNvSpPr/>
          <p:nvPr userDrawn="1"/>
        </p:nvSpPr>
        <p:spPr>
          <a:xfrm>
            <a:off x="22344" y="0"/>
            <a:ext cx="5057505" cy="6865011"/>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grpSp>
        <p:nvGrpSpPr>
          <p:cNvPr id="5" name="组合 4">
            <a:extLst>
              <a:ext uri="{FF2B5EF4-FFF2-40B4-BE49-F238E27FC236}">
                <a16:creationId xmlns:a16="http://schemas.microsoft.com/office/drawing/2014/main" id="{4A0E509A-6F2C-B07C-E0B4-DA7409CD334C}"/>
              </a:ext>
            </a:extLst>
          </p:cNvPr>
          <p:cNvGrpSpPr/>
          <p:nvPr userDrawn="1"/>
        </p:nvGrpSpPr>
        <p:grpSpPr>
          <a:xfrm>
            <a:off x="3839694" y="1514569"/>
            <a:ext cx="8145506" cy="5355006"/>
            <a:chOff x="3971925" y="1502993"/>
            <a:chExt cx="8145506" cy="5355006"/>
          </a:xfrm>
        </p:grpSpPr>
        <p:grpSp>
          <p:nvGrpSpPr>
            <p:cNvPr id="6" name="组合 5">
              <a:extLst>
                <a:ext uri="{FF2B5EF4-FFF2-40B4-BE49-F238E27FC236}">
                  <a16:creationId xmlns:a16="http://schemas.microsoft.com/office/drawing/2014/main" id="{4C87D71F-9574-88DA-358D-59D9AB71F778}"/>
                </a:ext>
              </a:extLst>
            </p:cNvPr>
            <p:cNvGrpSpPr/>
            <p:nvPr/>
          </p:nvGrpSpPr>
          <p:grpSpPr>
            <a:xfrm>
              <a:off x="4425461" y="4444162"/>
              <a:ext cx="7691970" cy="2413837"/>
              <a:chOff x="4425461" y="4444162"/>
              <a:chExt cx="7691970" cy="2413837"/>
            </a:xfrm>
          </p:grpSpPr>
          <p:sp>
            <p:nvSpPr>
              <p:cNvPr id="10" name="Freeform 17">
                <a:extLst>
                  <a:ext uri="{FF2B5EF4-FFF2-40B4-BE49-F238E27FC236}">
                    <a16:creationId xmlns:a16="http://schemas.microsoft.com/office/drawing/2014/main" id="{0575A17B-D73D-A940-490B-F96D5CF5974F}"/>
                  </a:ext>
                </a:extLst>
              </p:cNvPr>
              <p:cNvSpPr/>
              <p:nvPr/>
            </p:nvSpPr>
            <p:spPr>
              <a:xfrm flipH="1">
                <a:off x="11847345" y="6555880"/>
                <a:ext cx="270086" cy="302119"/>
              </a:xfrm>
              <a:custGeom>
                <a:avLst/>
                <a:gdLst>
                  <a:gd name="connsiteX0" fmla="*/ 0 w 180603"/>
                  <a:gd name="connsiteY0" fmla="*/ 235623 h 239365"/>
                  <a:gd name="connsiteX1" fmla="*/ 0 w 180603"/>
                  <a:gd name="connsiteY1" fmla="*/ 239366 h 239365"/>
                  <a:gd name="connsiteX2" fmla="*/ 180603 w 180603"/>
                  <a:gd name="connsiteY2" fmla="*/ 239366 h 239365"/>
                  <a:gd name="connsiteX3" fmla="*/ 180603 w 180603"/>
                  <a:gd name="connsiteY3" fmla="*/ 235623 h 239365"/>
                  <a:gd name="connsiteX4" fmla="*/ 180603 w 180603"/>
                  <a:gd name="connsiteY4" fmla="*/ 0 h 239365"/>
                  <a:gd name="connsiteX5" fmla="*/ 0 w 180603"/>
                  <a:gd name="connsiteY5" fmla="*/ 0 h 239365"/>
                  <a:gd name="connsiteX6" fmla="*/ 0 w 180603"/>
                  <a:gd name="connsiteY6" fmla="*/ 235623 h 23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603" h="239365">
                    <a:moveTo>
                      <a:pt x="0" y="235623"/>
                    </a:moveTo>
                    <a:lnTo>
                      <a:pt x="0" y="239366"/>
                    </a:lnTo>
                    <a:lnTo>
                      <a:pt x="180603" y="239366"/>
                    </a:lnTo>
                    <a:lnTo>
                      <a:pt x="180603" y="235623"/>
                    </a:lnTo>
                    <a:lnTo>
                      <a:pt x="180603" y="0"/>
                    </a:lnTo>
                    <a:lnTo>
                      <a:pt x="0" y="0"/>
                    </a:lnTo>
                    <a:lnTo>
                      <a:pt x="0" y="235623"/>
                    </a:lnTo>
                    <a:close/>
                  </a:path>
                </a:pathLst>
              </a:custGeom>
              <a:solidFill>
                <a:schemeClr val="bg1"/>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63666A"/>
                  </a:solidFill>
                  <a:effectLst/>
                  <a:uLnTx/>
                  <a:uFillTx/>
                  <a:latin typeface="Prelo Bold Italic"/>
                  <a:cs typeface="+mn-cs"/>
                </a:endParaRPr>
              </a:p>
            </p:txBody>
          </p:sp>
          <p:sp>
            <p:nvSpPr>
              <p:cNvPr id="11" name="Freeform 18">
                <a:extLst>
                  <a:ext uri="{FF2B5EF4-FFF2-40B4-BE49-F238E27FC236}">
                    <a16:creationId xmlns:a16="http://schemas.microsoft.com/office/drawing/2014/main" id="{BA966AEB-EB62-8D8B-003B-C44A03FB09A1}"/>
                  </a:ext>
                </a:extLst>
              </p:cNvPr>
              <p:cNvSpPr/>
              <p:nvPr/>
            </p:nvSpPr>
            <p:spPr>
              <a:xfrm flipH="1">
                <a:off x="11020471" y="6555880"/>
                <a:ext cx="675074" cy="302119"/>
              </a:xfrm>
              <a:custGeom>
                <a:avLst/>
                <a:gdLst>
                  <a:gd name="connsiteX0" fmla="*/ 0 w 451413"/>
                  <a:gd name="connsiteY0" fmla="*/ 235623 h 239365"/>
                  <a:gd name="connsiteX1" fmla="*/ 0 w 451413"/>
                  <a:gd name="connsiteY1" fmla="*/ 239366 h 239365"/>
                  <a:gd name="connsiteX2" fmla="*/ 451413 w 451413"/>
                  <a:gd name="connsiteY2" fmla="*/ 239366 h 239365"/>
                  <a:gd name="connsiteX3" fmla="*/ 451413 w 451413"/>
                  <a:gd name="connsiteY3" fmla="*/ 235623 h 239365"/>
                  <a:gd name="connsiteX4" fmla="*/ 451413 w 451413"/>
                  <a:gd name="connsiteY4" fmla="*/ 0 h 239365"/>
                  <a:gd name="connsiteX5" fmla="*/ 0 w 451413"/>
                  <a:gd name="connsiteY5" fmla="*/ 0 h 239365"/>
                  <a:gd name="connsiteX6" fmla="*/ 0 w 451413"/>
                  <a:gd name="connsiteY6" fmla="*/ 235623 h 23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413" h="239365">
                    <a:moveTo>
                      <a:pt x="0" y="235623"/>
                    </a:moveTo>
                    <a:lnTo>
                      <a:pt x="0" y="239366"/>
                    </a:lnTo>
                    <a:lnTo>
                      <a:pt x="451413" y="239366"/>
                    </a:lnTo>
                    <a:lnTo>
                      <a:pt x="451413" y="235623"/>
                    </a:lnTo>
                    <a:lnTo>
                      <a:pt x="451413" y="0"/>
                    </a:lnTo>
                    <a:lnTo>
                      <a:pt x="0" y="0"/>
                    </a:lnTo>
                    <a:lnTo>
                      <a:pt x="0" y="235623"/>
                    </a:lnTo>
                    <a:close/>
                  </a:path>
                </a:pathLst>
              </a:custGeom>
              <a:solidFill>
                <a:schemeClr val="bg1"/>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63666A"/>
                  </a:solidFill>
                  <a:effectLst/>
                  <a:uLnTx/>
                  <a:uFillTx/>
                  <a:latin typeface="Prelo Bold Italic"/>
                  <a:cs typeface="+mn-cs"/>
                </a:endParaRPr>
              </a:p>
            </p:txBody>
          </p:sp>
          <p:sp>
            <p:nvSpPr>
              <p:cNvPr id="12" name="Freeform 19">
                <a:extLst>
                  <a:ext uri="{FF2B5EF4-FFF2-40B4-BE49-F238E27FC236}">
                    <a16:creationId xmlns:a16="http://schemas.microsoft.com/office/drawing/2014/main" id="{3D52D2A8-452A-29F4-D6BB-8AD19C313309}"/>
                  </a:ext>
                </a:extLst>
              </p:cNvPr>
              <p:cNvSpPr/>
              <p:nvPr/>
            </p:nvSpPr>
            <p:spPr>
              <a:xfrm flipH="1">
                <a:off x="6645728" y="5048321"/>
                <a:ext cx="269991" cy="302119"/>
              </a:xfrm>
              <a:custGeom>
                <a:avLst/>
                <a:gdLst>
                  <a:gd name="connsiteX0" fmla="*/ 0 w 180539"/>
                  <a:gd name="connsiteY0" fmla="*/ 0 h 239365"/>
                  <a:gd name="connsiteX1" fmla="*/ 180539 w 180539"/>
                  <a:gd name="connsiteY1" fmla="*/ 0 h 239365"/>
                  <a:gd name="connsiteX2" fmla="*/ 180539 w 180539"/>
                  <a:gd name="connsiteY2" fmla="*/ 239366 h 239365"/>
                  <a:gd name="connsiteX3" fmla="*/ 0 w 180539"/>
                  <a:gd name="connsiteY3" fmla="*/ 239366 h 239365"/>
                </a:gdLst>
                <a:ahLst/>
                <a:cxnLst>
                  <a:cxn ang="0">
                    <a:pos x="connsiteX0" y="connsiteY0"/>
                  </a:cxn>
                  <a:cxn ang="0">
                    <a:pos x="connsiteX1" y="connsiteY1"/>
                  </a:cxn>
                  <a:cxn ang="0">
                    <a:pos x="connsiteX2" y="connsiteY2"/>
                  </a:cxn>
                  <a:cxn ang="0">
                    <a:pos x="connsiteX3" y="connsiteY3"/>
                  </a:cxn>
                </a:cxnLst>
                <a:rect l="l" t="t" r="r" b="b"/>
                <a:pathLst>
                  <a:path w="180539" h="239365">
                    <a:moveTo>
                      <a:pt x="0" y="0"/>
                    </a:moveTo>
                    <a:lnTo>
                      <a:pt x="180539" y="0"/>
                    </a:lnTo>
                    <a:lnTo>
                      <a:pt x="180539" y="239366"/>
                    </a:lnTo>
                    <a:lnTo>
                      <a:pt x="0" y="239366"/>
                    </a:lnTo>
                    <a:close/>
                  </a:path>
                </a:pathLst>
              </a:custGeom>
              <a:solidFill>
                <a:schemeClr val="bg1"/>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63666A"/>
                  </a:solidFill>
                  <a:effectLst/>
                  <a:uLnTx/>
                  <a:uFillTx/>
                  <a:latin typeface="Prelo Bold Italic"/>
                  <a:cs typeface="+mn-cs"/>
                </a:endParaRPr>
              </a:p>
            </p:txBody>
          </p:sp>
          <p:sp>
            <p:nvSpPr>
              <p:cNvPr id="13" name="Freeform 20">
                <a:extLst>
                  <a:ext uri="{FF2B5EF4-FFF2-40B4-BE49-F238E27FC236}">
                    <a16:creationId xmlns:a16="http://schemas.microsoft.com/office/drawing/2014/main" id="{1E43EB66-5639-833A-E57C-46FC170BF72E}"/>
                  </a:ext>
                </a:extLst>
              </p:cNvPr>
              <p:cNvSpPr/>
              <p:nvPr/>
            </p:nvSpPr>
            <p:spPr>
              <a:xfrm flipH="1">
                <a:off x="4425461" y="4444162"/>
                <a:ext cx="6620688" cy="2409273"/>
              </a:xfrm>
              <a:custGeom>
                <a:avLst/>
                <a:gdLst>
                  <a:gd name="connsiteX0" fmla="*/ 4016443 w 4427164"/>
                  <a:gd name="connsiteY0" fmla="*/ 0 h 1908834"/>
                  <a:gd name="connsiteX1" fmla="*/ 4016443 w 4427164"/>
                  <a:gd name="connsiteY1" fmla="*/ 239366 h 1908834"/>
                  <a:gd name="connsiteX2" fmla="*/ 4196285 w 4427164"/>
                  <a:gd name="connsiteY2" fmla="*/ 239366 h 1908834"/>
                  <a:gd name="connsiteX3" fmla="*/ 4196285 w 4427164"/>
                  <a:gd name="connsiteY3" fmla="*/ 478731 h 1908834"/>
                  <a:gd name="connsiteX4" fmla="*/ 3827587 w 4427164"/>
                  <a:gd name="connsiteY4" fmla="*/ 478731 h 1908834"/>
                  <a:gd name="connsiteX5" fmla="*/ 3827587 w 4427164"/>
                  <a:gd name="connsiteY5" fmla="*/ 239366 h 1908834"/>
                  <a:gd name="connsiteX6" fmla="*/ 3376174 w 4427164"/>
                  <a:gd name="connsiteY6" fmla="*/ 239366 h 1908834"/>
                  <a:gd name="connsiteX7" fmla="*/ 3376174 w 4427164"/>
                  <a:gd name="connsiteY7" fmla="*/ 478731 h 1908834"/>
                  <a:gd name="connsiteX8" fmla="*/ 3259305 w 4427164"/>
                  <a:gd name="connsiteY8" fmla="*/ 478731 h 1908834"/>
                  <a:gd name="connsiteX9" fmla="*/ 3259305 w 4427164"/>
                  <a:gd name="connsiteY9" fmla="*/ 239366 h 1908834"/>
                  <a:gd name="connsiteX10" fmla="*/ 3157736 w 4427164"/>
                  <a:gd name="connsiteY10" fmla="*/ 239366 h 1908834"/>
                  <a:gd name="connsiteX11" fmla="*/ 3157736 w 4427164"/>
                  <a:gd name="connsiteY11" fmla="*/ 478731 h 1908834"/>
                  <a:gd name="connsiteX12" fmla="*/ 2925459 w 4427164"/>
                  <a:gd name="connsiteY12" fmla="*/ 478731 h 1908834"/>
                  <a:gd name="connsiteX13" fmla="*/ 2925459 w 4427164"/>
                  <a:gd name="connsiteY13" fmla="*/ 718097 h 1908834"/>
                  <a:gd name="connsiteX14" fmla="*/ 3040740 w 4427164"/>
                  <a:gd name="connsiteY14" fmla="*/ 718097 h 1908834"/>
                  <a:gd name="connsiteX15" fmla="*/ 3040740 w 4427164"/>
                  <a:gd name="connsiteY15" fmla="*/ 955179 h 1908834"/>
                  <a:gd name="connsiteX16" fmla="*/ 2772152 w 4427164"/>
                  <a:gd name="connsiteY16" fmla="*/ 955179 h 1908834"/>
                  <a:gd name="connsiteX17" fmla="*/ 2772152 w 4427164"/>
                  <a:gd name="connsiteY17" fmla="*/ 1194481 h 1908834"/>
                  <a:gd name="connsiteX18" fmla="*/ 2670582 w 4427164"/>
                  <a:gd name="connsiteY18" fmla="*/ 1194481 h 1908834"/>
                  <a:gd name="connsiteX19" fmla="*/ 2670582 w 4427164"/>
                  <a:gd name="connsiteY19" fmla="*/ 955179 h 1908834"/>
                  <a:gd name="connsiteX20" fmla="*/ 2219169 w 4427164"/>
                  <a:gd name="connsiteY20" fmla="*/ 955179 h 1908834"/>
                  <a:gd name="connsiteX21" fmla="*/ 2219169 w 4427164"/>
                  <a:gd name="connsiteY21" fmla="*/ 1194481 h 1908834"/>
                  <a:gd name="connsiteX22" fmla="*/ 2117600 w 4427164"/>
                  <a:gd name="connsiteY22" fmla="*/ 1194481 h 1908834"/>
                  <a:gd name="connsiteX23" fmla="*/ 2117600 w 4427164"/>
                  <a:gd name="connsiteY23" fmla="*/ 955179 h 1908834"/>
                  <a:gd name="connsiteX24" fmla="*/ 1937059 w 4427164"/>
                  <a:gd name="connsiteY24" fmla="*/ 955179 h 1908834"/>
                  <a:gd name="connsiteX25" fmla="*/ 1937059 w 4427164"/>
                  <a:gd name="connsiteY25" fmla="*/ 1433847 h 1908834"/>
                  <a:gd name="connsiteX26" fmla="*/ 1644476 w 4427164"/>
                  <a:gd name="connsiteY26" fmla="*/ 1433847 h 1908834"/>
                  <a:gd name="connsiteX27" fmla="*/ 1644476 w 4427164"/>
                  <a:gd name="connsiteY27" fmla="*/ 1194481 h 1908834"/>
                  <a:gd name="connsiteX28" fmla="*/ 1192237 w 4427164"/>
                  <a:gd name="connsiteY28" fmla="*/ 1194481 h 1908834"/>
                  <a:gd name="connsiteX29" fmla="*/ 1192237 w 4427164"/>
                  <a:gd name="connsiteY29" fmla="*/ 1433847 h 1908834"/>
                  <a:gd name="connsiteX30" fmla="*/ 740824 w 4427164"/>
                  <a:gd name="connsiteY30" fmla="*/ 1433847 h 1908834"/>
                  <a:gd name="connsiteX31" fmla="*/ 740824 w 4427164"/>
                  <a:gd name="connsiteY31" fmla="*/ 1673212 h 1908834"/>
                  <a:gd name="connsiteX32" fmla="*/ 0 w 4427164"/>
                  <a:gd name="connsiteY32" fmla="*/ 1673212 h 1908834"/>
                  <a:gd name="connsiteX33" fmla="*/ 0 w 4427164"/>
                  <a:gd name="connsiteY33" fmla="*/ 1908835 h 1908834"/>
                  <a:gd name="connsiteX34" fmla="*/ 4427165 w 4427164"/>
                  <a:gd name="connsiteY34" fmla="*/ 1908835 h 1908834"/>
                  <a:gd name="connsiteX35" fmla="*/ 4427165 w 4427164"/>
                  <a:gd name="connsiteY35" fmla="*/ 127 h 1908834"/>
                  <a:gd name="connsiteX36" fmla="*/ 4016316 w 4427164"/>
                  <a:gd name="connsiteY36" fmla="*/ 127 h 1908834"/>
                  <a:gd name="connsiteX37" fmla="*/ 2224374 w 4427164"/>
                  <a:gd name="connsiteY37" fmla="*/ 1673149 h 1908834"/>
                  <a:gd name="connsiteX38" fmla="*/ 2122805 w 4427164"/>
                  <a:gd name="connsiteY38" fmla="*/ 1673149 h 1908834"/>
                  <a:gd name="connsiteX39" fmla="*/ 2122805 w 4427164"/>
                  <a:gd name="connsiteY39" fmla="*/ 1433783 h 1908834"/>
                  <a:gd name="connsiteX40" fmla="*/ 2224374 w 4427164"/>
                  <a:gd name="connsiteY40" fmla="*/ 1433783 h 1908834"/>
                  <a:gd name="connsiteX41" fmla="*/ 2224374 w 4427164"/>
                  <a:gd name="connsiteY41" fmla="*/ 1673149 h 1908834"/>
                  <a:gd name="connsiteX42" fmla="*/ 2530353 w 4427164"/>
                  <a:gd name="connsiteY42" fmla="*/ 1433783 h 1908834"/>
                  <a:gd name="connsiteX43" fmla="*/ 2349813 w 4427164"/>
                  <a:gd name="connsiteY43" fmla="*/ 1433783 h 1908834"/>
                  <a:gd name="connsiteX44" fmla="*/ 2349813 w 4427164"/>
                  <a:gd name="connsiteY44" fmla="*/ 1194417 h 1908834"/>
                  <a:gd name="connsiteX45" fmla="*/ 2530353 w 4427164"/>
                  <a:gd name="connsiteY45" fmla="*/ 1194417 h 1908834"/>
                  <a:gd name="connsiteX46" fmla="*/ 2530353 w 4427164"/>
                  <a:gd name="connsiteY46" fmla="*/ 1433783 h 1908834"/>
                  <a:gd name="connsiteX47" fmla="*/ 4016380 w 4427164"/>
                  <a:gd name="connsiteY47" fmla="*/ 955115 h 1908834"/>
                  <a:gd name="connsiteX48" fmla="*/ 3851709 w 4427164"/>
                  <a:gd name="connsiteY48" fmla="*/ 955115 h 1908834"/>
                  <a:gd name="connsiteX49" fmla="*/ 3851709 w 4427164"/>
                  <a:gd name="connsiteY49" fmla="*/ 718034 h 1908834"/>
                  <a:gd name="connsiteX50" fmla="*/ 4016380 w 4427164"/>
                  <a:gd name="connsiteY50" fmla="*/ 718034 h 1908834"/>
                  <a:gd name="connsiteX51" fmla="*/ 4016380 w 4427164"/>
                  <a:gd name="connsiteY51" fmla="*/ 955115 h 190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427164" h="1908834">
                    <a:moveTo>
                      <a:pt x="4016443" y="0"/>
                    </a:moveTo>
                    <a:lnTo>
                      <a:pt x="4016443" y="239366"/>
                    </a:lnTo>
                    <a:lnTo>
                      <a:pt x="4196285" y="239366"/>
                    </a:lnTo>
                    <a:lnTo>
                      <a:pt x="4196285" y="478731"/>
                    </a:lnTo>
                    <a:lnTo>
                      <a:pt x="3827587" y="478731"/>
                    </a:lnTo>
                    <a:lnTo>
                      <a:pt x="3827587" y="239366"/>
                    </a:lnTo>
                    <a:lnTo>
                      <a:pt x="3376174" y="239366"/>
                    </a:lnTo>
                    <a:lnTo>
                      <a:pt x="3376174" y="478731"/>
                    </a:lnTo>
                    <a:lnTo>
                      <a:pt x="3259305" y="478731"/>
                    </a:lnTo>
                    <a:lnTo>
                      <a:pt x="3259305" y="239366"/>
                    </a:lnTo>
                    <a:lnTo>
                      <a:pt x="3157736" y="239366"/>
                    </a:lnTo>
                    <a:lnTo>
                      <a:pt x="3157736" y="478731"/>
                    </a:lnTo>
                    <a:lnTo>
                      <a:pt x="2925459" y="478731"/>
                    </a:lnTo>
                    <a:lnTo>
                      <a:pt x="2925459" y="718097"/>
                    </a:lnTo>
                    <a:lnTo>
                      <a:pt x="3040740" y="718097"/>
                    </a:lnTo>
                    <a:lnTo>
                      <a:pt x="3040740" y="955179"/>
                    </a:lnTo>
                    <a:lnTo>
                      <a:pt x="2772152" y="955179"/>
                    </a:lnTo>
                    <a:lnTo>
                      <a:pt x="2772152" y="1194481"/>
                    </a:lnTo>
                    <a:lnTo>
                      <a:pt x="2670582" y="1194481"/>
                    </a:lnTo>
                    <a:lnTo>
                      <a:pt x="2670582" y="955179"/>
                    </a:lnTo>
                    <a:lnTo>
                      <a:pt x="2219169" y="955179"/>
                    </a:lnTo>
                    <a:lnTo>
                      <a:pt x="2219169" y="1194481"/>
                    </a:lnTo>
                    <a:lnTo>
                      <a:pt x="2117600" y="1194481"/>
                    </a:lnTo>
                    <a:lnTo>
                      <a:pt x="2117600" y="955179"/>
                    </a:lnTo>
                    <a:lnTo>
                      <a:pt x="1937059" y="955179"/>
                    </a:lnTo>
                    <a:lnTo>
                      <a:pt x="1937059" y="1433847"/>
                    </a:lnTo>
                    <a:lnTo>
                      <a:pt x="1644476" y="1433847"/>
                    </a:lnTo>
                    <a:lnTo>
                      <a:pt x="1644476" y="1194481"/>
                    </a:lnTo>
                    <a:lnTo>
                      <a:pt x="1192237" y="1194481"/>
                    </a:lnTo>
                    <a:lnTo>
                      <a:pt x="1192237" y="1433847"/>
                    </a:lnTo>
                    <a:lnTo>
                      <a:pt x="740824" y="1433847"/>
                    </a:lnTo>
                    <a:lnTo>
                      <a:pt x="740824" y="1673212"/>
                    </a:lnTo>
                    <a:lnTo>
                      <a:pt x="0" y="1673212"/>
                    </a:lnTo>
                    <a:lnTo>
                      <a:pt x="0" y="1908835"/>
                    </a:lnTo>
                    <a:lnTo>
                      <a:pt x="4427165" y="1908835"/>
                    </a:lnTo>
                    <a:lnTo>
                      <a:pt x="4427165" y="127"/>
                    </a:lnTo>
                    <a:lnTo>
                      <a:pt x="4016316" y="127"/>
                    </a:lnTo>
                    <a:close/>
                    <a:moveTo>
                      <a:pt x="2224374" y="1673149"/>
                    </a:moveTo>
                    <a:lnTo>
                      <a:pt x="2122805" y="1673149"/>
                    </a:lnTo>
                    <a:lnTo>
                      <a:pt x="2122805" y="1433783"/>
                    </a:lnTo>
                    <a:lnTo>
                      <a:pt x="2224374" y="1433783"/>
                    </a:lnTo>
                    <a:lnTo>
                      <a:pt x="2224374" y="1673149"/>
                    </a:lnTo>
                    <a:close/>
                    <a:moveTo>
                      <a:pt x="2530353" y="1433783"/>
                    </a:moveTo>
                    <a:lnTo>
                      <a:pt x="2349813" y="1433783"/>
                    </a:lnTo>
                    <a:lnTo>
                      <a:pt x="2349813" y="1194417"/>
                    </a:lnTo>
                    <a:lnTo>
                      <a:pt x="2530353" y="1194417"/>
                    </a:lnTo>
                    <a:lnTo>
                      <a:pt x="2530353" y="1433783"/>
                    </a:lnTo>
                    <a:close/>
                    <a:moveTo>
                      <a:pt x="4016380" y="955115"/>
                    </a:moveTo>
                    <a:lnTo>
                      <a:pt x="3851709" y="955115"/>
                    </a:lnTo>
                    <a:lnTo>
                      <a:pt x="3851709" y="718034"/>
                    </a:lnTo>
                    <a:lnTo>
                      <a:pt x="4016380" y="718034"/>
                    </a:lnTo>
                    <a:lnTo>
                      <a:pt x="4016380" y="955115"/>
                    </a:lnTo>
                    <a:close/>
                  </a:path>
                </a:pathLst>
              </a:custGeom>
              <a:solidFill>
                <a:schemeClr val="bg1"/>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63666A"/>
                  </a:solidFill>
                  <a:effectLst/>
                  <a:uLnTx/>
                  <a:uFillTx/>
                  <a:latin typeface="Prelo Bold Italic"/>
                  <a:cs typeface="+mn-cs"/>
                </a:endParaRPr>
              </a:p>
            </p:txBody>
          </p:sp>
        </p:grpSp>
        <p:grpSp>
          <p:nvGrpSpPr>
            <p:cNvPr id="7" name="组合 6">
              <a:extLst>
                <a:ext uri="{FF2B5EF4-FFF2-40B4-BE49-F238E27FC236}">
                  <a16:creationId xmlns:a16="http://schemas.microsoft.com/office/drawing/2014/main" id="{38D7E176-8133-D761-8674-324C06BCBADF}"/>
                </a:ext>
              </a:extLst>
            </p:cNvPr>
            <p:cNvGrpSpPr/>
            <p:nvPr/>
          </p:nvGrpSpPr>
          <p:grpSpPr>
            <a:xfrm>
              <a:off x="3971925" y="1502993"/>
              <a:ext cx="2352827" cy="3668697"/>
              <a:chOff x="3971925" y="1502993"/>
              <a:chExt cx="2352827" cy="3668697"/>
            </a:xfrm>
          </p:grpSpPr>
          <p:sp>
            <p:nvSpPr>
              <p:cNvPr id="8" name="矩形 7">
                <a:extLst>
                  <a:ext uri="{FF2B5EF4-FFF2-40B4-BE49-F238E27FC236}">
                    <a16:creationId xmlns:a16="http://schemas.microsoft.com/office/drawing/2014/main" id="{AC9F5B88-265F-CACC-A35B-3B3459F2E278}"/>
                  </a:ext>
                </a:extLst>
              </p:cNvPr>
              <p:cNvSpPr/>
              <p:nvPr/>
            </p:nvSpPr>
            <p:spPr>
              <a:xfrm>
                <a:off x="3971925" y="2240280"/>
                <a:ext cx="1769652" cy="2931410"/>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9" name="矩形 8">
                <a:extLst>
                  <a:ext uri="{FF2B5EF4-FFF2-40B4-BE49-F238E27FC236}">
                    <a16:creationId xmlns:a16="http://schemas.microsoft.com/office/drawing/2014/main" id="{A83DB7A6-AE86-3021-331D-2BEDACBD6257}"/>
                  </a:ext>
                </a:extLst>
              </p:cNvPr>
              <p:cNvSpPr/>
              <p:nvPr/>
            </p:nvSpPr>
            <p:spPr>
              <a:xfrm>
                <a:off x="4128088" y="1502993"/>
                <a:ext cx="2196664" cy="1146916"/>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grpSp>
      </p:grpSp>
      <p:pic>
        <p:nvPicPr>
          <p:cNvPr id="14" name="图片 13" descr="徽标, 图标&#10;&#10;描述已自动生成">
            <a:extLst>
              <a:ext uri="{FF2B5EF4-FFF2-40B4-BE49-F238E27FC236}">
                <a16:creationId xmlns:a16="http://schemas.microsoft.com/office/drawing/2014/main" id="{9F626BA4-522E-2559-5FD2-7A71D0013165}"/>
              </a:ext>
            </a:extLst>
          </p:cNvPr>
          <p:cNvPicPr>
            <a:picLocks noChangeAspect="1"/>
          </p:cNvPicPr>
          <p:nvPr userDrawn="1"/>
        </p:nvPicPr>
        <p:blipFill>
          <a:blip r:embed="rId3" cstate="print"/>
          <a:stretch>
            <a:fillRect/>
          </a:stretch>
        </p:blipFill>
        <p:spPr>
          <a:xfrm>
            <a:off x="3064040" y="5793136"/>
            <a:ext cx="2016930" cy="379063"/>
          </a:xfrm>
          <a:prstGeom prst="rect">
            <a:avLst/>
          </a:prstGeom>
        </p:spPr>
      </p:pic>
      <p:sp>
        <p:nvSpPr>
          <p:cNvPr id="15" name="矩形: 圆角 14">
            <a:extLst>
              <a:ext uri="{FF2B5EF4-FFF2-40B4-BE49-F238E27FC236}">
                <a16:creationId xmlns:a16="http://schemas.microsoft.com/office/drawing/2014/main" id="{5B72DB19-73C8-D7A9-328A-920B8189F4C4}"/>
              </a:ext>
            </a:extLst>
          </p:cNvPr>
          <p:cNvSpPr/>
          <p:nvPr userDrawn="1"/>
        </p:nvSpPr>
        <p:spPr>
          <a:xfrm>
            <a:off x="6785729" y="1143518"/>
            <a:ext cx="326424" cy="362875"/>
          </a:xfrm>
          <a:prstGeom prst="roundRect">
            <a:avLst>
              <a:gd name="adj" fmla="val 0"/>
            </a:avLst>
          </a:prstGeom>
          <a:solidFill>
            <a:schemeClr val="bg1">
              <a:alpha val="60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endParaRPr lang="zh-CN" altLang="en-US" sz="1600">
              <a:latin typeface="Arial" panose="020B0604020202020204" pitchFamily="34" charset="0"/>
              <a:ea typeface="黑体" panose="02010609060101010101" pitchFamily="49" charset="-122"/>
            </a:endParaRPr>
          </a:p>
        </p:txBody>
      </p:sp>
      <p:grpSp>
        <p:nvGrpSpPr>
          <p:cNvPr id="16" name="组合 15">
            <a:extLst>
              <a:ext uri="{FF2B5EF4-FFF2-40B4-BE49-F238E27FC236}">
                <a16:creationId xmlns:a16="http://schemas.microsoft.com/office/drawing/2014/main" id="{53486AAF-9267-790C-42BE-3399C17E50ED}"/>
              </a:ext>
            </a:extLst>
          </p:cNvPr>
          <p:cNvGrpSpPr/>
          <p:nvPr userDrawn="1"/>
        </p:nvGrpSpPr>
        <p:grpSpPr>
          <a:xfrm>
            <a:off x="0" y="0"/>
            <a:ext cx="200269" cy="6889532"/>
            <a:chOff x="-118353" y="0"/>
            <a:chExt cx="200269" cy="6889532"/>
          </a:xfrm>
        </p:grpSpPr>
        <p:sp>
          <p:nvSpPr>
            <p:cNvPr id="17" name="矩形 16">
              <a:extLst>
                <a:ext uri="{FF2B5EF4-FFF2-40B4-BE49-F238E27FC236}">
                  <a16:creationId xmlns:a16="http://schemas.microsoft.com/office/drawing/2014/main" id="{C6B89A45-D3A3-6426-CA14-931FA47EC053}"/>
                </a:ext>
              </a:extLst>
            </p:cNvPr>
            <p:cNvSpPr/>
            <p:nvPr/>
          </p:nvSpPr>
          <p:spPr>
            <a:xfrm>
              <a:off x="-118353" y="0"/>
              <a:ext cx="200269" cy="6889532"/>
            </a:xfrm>
            <a:prstGeom prst="rect">
              <a:avLst/>
            </a:prstGeom>
            <a:solidFill>
              <a:schemeClr val="accent4"/>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18" name="矩形 17">
              <a:extLst>
                <a:ext uri="{FF2B5EF4-FFF2-40B4-BE49-F238E27FC236}">
                  <a16:creationId xmlns:a16="http://schemas.microsoft.com/office/drawing/2014/main" id="{CE8A678F-2C1B-3465-1991-25C8165FC29D}"/>
                </a:ext>
              </a:extLst>
            </p:cNvPr>
            <p:cNvSpPr/>
            <p:nvPr/>
          </p:nvSpPr>
          <p:spPr>
            <a:xfrm>
              <a:off x="-118353" y="1648127"/>
              <a:ext cx="200269" cy="2421825"/>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grpSp>
      <p:sp>
        <p:nvSpPr>
          <p:cNvPr id="19" name="十字形 18">
            <a:extLst>
              <a:ext uri="{FF2B5EF4-FFF2-40B4-BE49-F238E27FC236}">
                <a16:creationId xmlns:a16="http://schemas.microsoft.com/office/drawing/2014/main" id="{22798CCF-0235-2ECA-4858-BD134A96C311}"/>
              </a:ext>
            </a:extLst>
          </p:cNvPr>
          <p:cNvSpPr/>
          <p:nvPr userDrawn="1"/>
        </p:nvSpPr>
        <p:spPr>
          <a:xfrm rot="2700000">
            <a:off x="2499446" y="5855762"/>
            <a:ext cx="316066" cy="316066"/>
          </a:xfrm>
          <a:prstGeom prst="plus">
            <a:avLst>
              <a:gd name="adj" fmla="val 4865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占位符 22">
            <a:extLst>
              <a:ext uri="{FF2B5EF4-FFF2-40B4-BE49-F238E27FC236}">
                <a16:creationId xmlns:a16="http://schemas.microsoft.com/office/drawing/2014/main" id="{39E8CB47-D01B-66FA-BAD4-36D15110DC71}"/>
              </a:ext>
            </a:extLst>
          </p:cNvPr>
          <p:cNvSpPr>
            <a:spLocks noGrp="1"/>
          </p:cNvSpPr>
          <p:nvPr>
            <p:ph type="body" sz="quarter" idx="10" hasCustomPrompt="1"/>
          </p:nvPr>
        </p:nvSpPr>
        <p:spPr>
          <a:xfrm>
            <a:off x="660400" y="1716373"/>
            <a:ext cx="5278438" cy="598560"/>
          </a:xfrm>
        </p:spPr>
        <p:txBody>
          <a:bodyPr/>
          <a:lstStyle>
            <a:lvl1pPr>
              <a:spcBef>
                <a:spcPts val="0"/>
              </a:spcBef>
              <a:defRPr sz="4400" b="1" baseline="0">
                <a:solidFill>
                  <a:schemeClr val="accent1"/>
                </a:solidFill>
                <a:latin typeface="Arial" panose="020B0604020202020204" pitchFamily="34" charset="0"/>
                <a:ea typeface="黑体" panose="02010609060101010101" pitchFamily="49" charset="-122"/>
              </a:defRPr>
            </a:lvl1pPr>
          </a:lstStyle>
          <a:p>
            <a:pPr lvl="0"/>
            <a:r>
              <a:rPr lang="zh-CN" altLang="en-US" dirty="0"/>
              <a:t>招标公司</a:t>
            </a:r>
          </a:p>
        </p:txBody>
      </p:sp>
      <p:sp>
        <p:nvSpPr>
          <p:cNvPr id="25" name="文本占位符 24">
            <a:extLst>
              <a:ext uri="{FF2B5EF4-FFF2-40B4-BE49-F238E27FC236}">
                <a16:creationId xmlns:a16="http://schemas.microsoft.com/office/drawing/2014/main" id="{1F16BBB2-E8F5-B117-B759-36550DD90E21}"/>
              </a:ext>
            </a:extLst>
          </p:cNvPr>
          <p:cNvSpPr>
            <a:spLocks noGrp="1"/>
          </p:cNvSpPr>
          <p:nvPr>
            <p:ph type="body" sz="quarter" idx="11" hasCustomPrompt="1"/>
          </p:nvPr>
        </p:nvSpPr>
        <p:spPr>
          <a:xfrm>
            <a:off x="660400" y="2444816"/>
            <a:ext cx="4779963" cy="350103"/>
          </a:xfrm>
        </p:spPr>
        <p:txBody>
          <a:bodyPr/>
          <a:lstStyle>
            <a:lvl1pPr>
              <a:spcBef>
                <a:spcPts val="0"/>
              </a:spcBef>
              <a:defRPr sz="2000" b="1" baseline="0">
                <a:latin typeface="Arial" panose="020B0604020202020204" pitchFamily="34" charset="0"/>
                <a:ea typeface="黑体" panose="02010609060101010101" pitchFamily="49" charset="-122"/>
              </a:defRPr>
            </a:lvl1pPr>
          </a:lstStyle>
          <a:p>
            <a:pPr lvl="0"/>
            <a:r>
              <a:rPr lang="zh-CN" altLang="en-US" dirty="0"/>
              <a:t>项目名称</a:t>
            </a:r>
          </a:p>
        </p:txBody>
      </p:sp>
      <p:sp>
        <p:nvSpPr>
          <p:cNvPr id="26" name="文本占位符 24">
            <a:extLst>
              <a:ext uri="{FF2B5EF4-FFF2-40B4-BE49-F238E27FC236}">
                <a16:creationId xmlns:a16="http://schemas.microsoft.com/office/drawing/2014/main" id="{2F43FFCF-1F98-EDCC-8135-11D99615F3BE}"/>
              </a:ext>
            </a:extLst>
          </p:cNvPr>
          <p:cNvSpPr>
            <a:spLocks noGrp="1"/>
          </p:cNvSpPr>
          <p:nvPr>
            <p:ph type="body" sz="quarter" idx="12" hasCustomPrompt="1"/>
          </p:nvPr>
        </p:nvSpPr>
        <p:spPr>
          <a:xfrm>
            <a:off x="660400" y="2948260"/>
            <a:ext cx="4779963" cy="238969"/>
          </a:xfrm>
        </p:spPr>
        <p:txBody>
          <a:bodyPr/>
          <a:lstStyle>
            <a:lvl1pPr>
              <a:spcBef>
                <a:spcPts val="0"/>
              </a:spcBef>
              <a:defRPr sz="1400" b="0" baseline="0">
                <a:latin typeface="Arial" panose="020B0604020202020204" pitchFamily="34" charset="0"/>
                <a:ea typeface="黑体" panose="02010609060101010101" pitchFamily="49" charset="-122"/>
              </a:defRPr>
            </a:lvl1pPr>
          </a:lstStyle>
          <a:p>
            <a:pPr lvl="0"/>
            <a:r>
              <a:rPr lang="zh-CN" altLang="en-US" dirty="0"/>
              <a:t>招标编号：</a:t>
            </a:r>
          </a:p>
        </p:txBody>
      </p:sp>
      <p:sp>
        <p:nvSpPr>
          <p:cNvPr id="27" name="文本占位符 24">
            <a:extLst>
              <a:ext uri="{FF2B5EF4-FFF2-40B4-BE49-F238E27FC236}">
                <a16:creationId xmlns:a16="http://schemas.microsoft.com/office/drawing/2014/main" id="{8A0E2F59-BF5B-21CF-EBA0-AAE8083DA83A}"/>
              </a:ext>
            </a:extLst>
          </p:cNvPr>
          <p:cNvSpPr>
            <a:spLocks noGrp="1"/>
          </p:cNvSpPr>
          <p:nvPr>
            <p:ph type="body" sz="quarter" idx="13" hasCustomPrompt="1"/>
          </p:nvPr>
        </p:nvSpPr>
        <p:spPr>
          <a:xfrm>
            <a:off x="660400" y="3278138"/>
            <a:ext cx="4779963" cy="238969"/>
          </a:xfrm>
        </p:spPr>
        <p:txBody>
          <a:bodyPr/>
          <a:lstStyle>
            <a:lvl1pPr>
              <a:spcBef>
                <a:spcPts val="0"/>
              </a:spcBef>
              <a:defRPr sz="1400" b="1" baseline="0">
                <a:solidFill>
                  <a:schemeClr val="accent2"/>
                </a:solidFill>
                <a:latin typeface="Arial" panose="020B0604020202020204" pitchFamily="34" charset="0"/>
                <a:ea typeface="黑体" panose="02010609060101010101" pitchFamily="49" charset="-122"/>
              </a:defRPr>
            </a:lvl1pPr>
          </a:lstStyle>
          <a:p>
            <a:pPr lvl="0"/>
            <a:r>
              <a:rPr lang="zh-CN" altLang="en-US" dirty="0"/>
              <a:t>陈述材料</a:t>
            </a:r>
          </a:p>
        </p:txBody>
      </p:sp>
      <p:sp>
        <p:nvSpPr>
          <p:cNvPr id="28" name="文本占位符 24">
            <a:extLst>
              <a:ext uri="{FF2B5EF4-FFF2-40B4-BE49-F238E27FC236}">
                <a16:creationId xmlns:a16="http://schemas.microsoft.com/office/drawing/2014/main" id="{823355B0-2626-418E-7D56-7B50634B1C01}"/>
              </a:ext>
            </a:extLst>
          </p:cNvPr>
          <p:cNvSpPr>
            <a:spLocks noGrp="1"/>
          </p:cNvSpPr>
          <p:nvPr>
            <p:ph type="body" sz="quarter" idx="14" hasCustomPrompt="1"/>
          </p:nvPr>
        </p:nvSpPr>
        <p:spPr>
          <a:xfrm>
            <a:off x="660400" y="3608017"/>
            <a:ext cx="4779963" cy="461936"/>
          </a:xfrm>
        </p:spPr>
        <p:txBody>
          <a:bodyPr/>
          <a:lstStyle>
            <a:lvl1pPr>
              <a:spcBef>
                <a:spcPts val="0"/>
              </a:spcBef>
              <a:defRPr sz="1400" b="0" baseline="0">
                <a:latin typeface="Arial" panose="020B0604020202020204" pitchFamily="34" charset="0"/>
                <a:ea typeface="黑体" panose="02010609060101010101" pitchFamily="49" charset="-122"/>
              </a:defRPr>
            </a:lvl1pPr>
          </a:lstStyle>
          <a:p>
            <a:pPr lvl="0"/>
            <a:r>
              <a:rPr lang="zh-CN" altLang="en-US" dirty="0"/>
              <a:t>容诚会计师事务所（特殊普通合伙）</a:t>
            </a:r>
          </a:p>
          <a:p>
            <a:pPr lvl="0"/>
            <a:r>
              <a:rPr lang="en-US" altLang="zh-CN" dirty="0"/>
              <a:t>2025</a:t>
            </a:r>
            <a:r>
              <a:rPr lang="zh-CN" altLang="en-US" dirty="0"/>
              <a:t>年</a:t>
            </a:r>
            <a:r>
              <a:rPr lang="en-US" altLang="zh-CN" dirty="0"/>
              <a:t>11</a:t>
            </a:r>
            <a:r>
              <a:rPr lang="zh-CN" altLang="en-US" dirty="0"/>
              <a:t>月</a:t>
            </a:r>
          </a:p>
        </p:txBody>
      </p:sp>
    </p:spTree>
    <p:extLst>
      <p:ext uri="{BB962C8B-B14F-4D97-AF65-F5344CB8AC3E}">
        <p14:creationId xmlns:p14="http://schemas.microsoft.com/office/powerpoint/2010/main" val="488526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0D3709F-30C7-9740-9C5B-7D1469F4AACE}"/>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flipH="1">
            <a:off x="-1" y="4565"/>
            <a:ext cx="5361337" cy="6860446"/>
          </a:xfrm>
          <a:prstGeom prst="rect">
            <a:avLst/>
          </a:prstGeom>
        </p:spPr>
      </p:pic>
      <p:sp>
        <p:nvSpPr>
          <p:cNvPr id="9" name="Freeform 17">
            <a:extLst>
              <a:ext uri="{FF2B5EF4-FFF2-40B4-BE49-F238E27FC236}">
                <a16:creationId xmlns:a16="http://schemas.microsoft.com/office/drawing/2014/main" id="{B0A6E1C0-8CE2-2B6F-C5ED-CAAF95FA9C65}"/>
              </a:ext>
            </a:extLst>
          </p:cNvPr>
          <p:cNvSpPr/>
          <p:nvPr/>
        </p:nvSpPr>
        <p:spPr>
          <a:xfrm>
            <a:off x="0" y="6611386"/>
            <a:ext cx="220465" cy="246613"/>
          </a:xfrm>
          <a:custGeom>
            <a:avLst/>
            <a:gdLst>
              <a:gd name="connsiteX0" fmla="*/ 0 w 180603"/>
              <a:gd name="connsiteY0" fmla="*/ 235623 h 239365"/>
              <a:gd name="connsiteX1" fmla="*/ 0 w 180603"/>
              <a:gd name="connsiteY1" fmla="*/ 239366 h 239365"/>
              <a:gd name="connsiteX2" fmla="*/ 180603 w 180603"/>
              <a:gd name="connsiteY2" fmla="*/ 239366 h 239365"/>
              <a:gd name="connsiteX3" fmla="*/ 180603 w 180603"/>
              <a:gd name="connsiteY3" fmla="*/ 235623 h 239365"/>
              <a:gd name="connsiteX4" fmla="*/ 180603 w 180603"/>
              <a:gd name="connsiteY4" fmla="*/ 0 h 239365"/>
              <a:gd name="connsiteX5" fmla="*/ 0 w 180603"/>
              <a:gd name="connsiteY5" fmla="*/ 0 h 239365"/>
              <a:gd name="connsiteX6" fmla="*/ 0 w 180603"/>
              <a:gd name="connsiteY6" fmla="*/ 235623 h 23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603" h="239365">
                <a:moveTo>
                  <a:pt x="0" y="235623"/>
                </a:moveTo>
                <a:lnTo>
                  <a:pt x="0" y="239366"/>
                </a:lnTo>
                <a:lnTo>
                  <a:pt x="180603" y="239366"/>
                </a:lnTo>
                <a:lnTo>
                  <a:pt x="180603" y="235623"/>
                </a:lnTo>
                <a:lnTo>
                  <a:pt x="180603" y="0"/>
                </a:lnTo>
                <a:lnTo>
                  <a:pt x="0" y="0"/>
                </a:lnTo>
                <a:lnTo>
                  <a:pt x="0" y="235623"/>
                </a:lnTo>
                <a:close/>
              </a:path>
            </a:pathLst>
          </a:custGeom>
          <a:solidFill>
            <a:schemeClr val="bg1"/>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3666A"/>
              </a:solidFill>
              <a:effectLst/>
              <a:uLnTx/>
              <a:uFillTx/>
              <a:latin typeface="Prelo Bold Italic"/>
              <a:ea typeface="楷体"/>
              <a:cs typeface="+mn-cs"/>
            </a:endParaRPr>
          </a:p>
        </p:txBody>
      </p:sp>
      <p:sp>
        <p:nvSpPr>
          <p:cNvPr id="10" name="Freeform 18">
            <a:extLst>
              <a:ext uri="{FF2B5EF4-FFF2-40B4-BE49-F238E27FC236}">
                <a16:creationId xmlns:a16="http://schemas.microsoft.com/office/drawing/2014/main" id="{D2B43D8C-58C6-72F8-77FD-0149E5BA009C}"/>
              </a:ext>
            </a:extLst>
          </p:cNvPr>
          <p:cNvSpPr/>
          <p:nvPr/>
        </p:nvSpPr>
        <p:spPr>
          <a:xfrm>
            <a:off x="344376" y="6611386"/>
            <a:ext cx="551048" cy="246613"/>
          </a:xfrm>
          <a:custGeom>
            <a:avLst/>
            <a:gdLst>
              <a:gd name="connsiteX0" fmla="*/ 0 w 451413"/>
              <a:gd name="connsiteY0" fmla="*/ 235623 h 239365"/>
              <a:gd name="connsiteX1" fmla="*/ 0 w 451413"/>
              <a:gd name="connsiteY1" fmla="*/ 239366 h 239365"/>
              <a:gd name="connsiteX2" fmla="*/ 451413 w 451413"/>
              <a:gd name="connsiteY2" fmla="*/ 239366 h 239365"/>
              <a:gd name="connsiteX3" fmla="*/ 451413 w 451413"/>
              <a:gd name="connsiteY3" fmla="*/ 235623 h 239365"/>
              <a:gd name="connsiteX4" fmla="*/ 451413 w 451413"/>
              <a:gd name="connsiteY4" fmla="*/ 0 h 239365"/>
              <a:gd name="connsiteX5" fmla="*/ 0 w 451413"/>
              <a:gd name="connsiteY5" fmla="*/ 0 h 239365"/>
              <a:gd name="connsiteX6" fmla="*/ 0 w 451413"/>
              <a:gd name="connsiteY6" fmla="*/ 235623 h 23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413" h="239365">
                <a:moveTo>
                  <a:pt x="0" y="235623"/>
                </a:moveTo>
                <a:lnTo>
                  <a:pt x="0" y="239366"/>
                </a:lnTo>
                <a:lnTo>
                  <a:pt x="451413" y="239366"/>
                </a:lnTo>
                <a:lnTo>
                  <a:pt x="451413" y="235623"/>
                </a:lnTo>
                <a:lnTo>
                  <a:pt x="451413" y="0"/>
                </a:lnTo>
                <a:lnTo>
                  <a:pt x="0" y="0"/>
                </a:lnTo>
                <a:lnTo>
                  <a:pt x="0" y="235623"/>
                </a:lnTo>
                <a:close/>
              </a:path>
            </a:pathLst>
          </a:custGeom>
          <a:solidFill>
            <a:schemeClr val="bg1"/>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3666A"/>
              </a:solidFill>
              <a:effectLst/>
              <a:uLnTx/>
              <a:uFillTx/>
              <a:latin typeface="Prelo Bold Italic"/>
              <a:ea typeface="楷体"/>
              <a:cs typeface="+mn-cs"/>
            </a:endParaRPr>
          </a:p>
        </p:txBody>
      </p:sp>
      <p:sp>
        <p:nvSpPr>
          <p:cNvPr id="11" name="Freeform 19">
            <a:extLst>
              <a:ext uri="{FF2B5EF4-FFF2-40B4-BE49-F238E27FC236}">
                <a16:creationId xmlns:a16="http://schemas.microsoft.com/office/drawing/2014/main" id="{CF8A0332-14B2-A086-9DBA-CAE0B7C84783}"/>
              </a:ext>
            </a:extLst>
          </p:cNvPr>
          <p:cNvSpPr/>
          <p:nvPr/>
        </p:nvSpPr>
        <p:spPr>
          <a:xfrm>
            <a:off x="4246042" y="5380799"/>
            <a:ext cx="220388" cy="246613"/>
          </a:xfrm>
          <a:custGeom>
            <a:avLst/>
            <a:gdLst>
              <a:gd name="connsiteX0" fmla="*/ 0 w 180539"/>
              <a:gd name="connsiteY0" fmla="*/ 0 h 239365"/>
              <a:gd name="connsiteX1" fmla="*/ 180539 w 180539"/>
              <a:gd name="connsiteY1" fmla="*/ 0 h 239365"/>
              <a:gd name="connsiteX2" fmla="*/ 180539 w 180539"/>
              <a:gd name="connsiteY2" fmla="*/ 239366 h 239365"/>
              <a:gd name="connsiteX3" fmla="*/ 0 w 180539"/>
              <a:gd name="connsiteY3" fmla="*/ 239366 h 239365"/>
            </a:gdLst>
            <a:ahLst/>
            <a:cxnLst>
              <a:cxn ang="0">
                <a:pos x="connsiteX0" y="connsiteY0"/>
              </a:cxn>
              <a:cxn ang="0">
                <a:pos x="connsiteX1" y="connsiteY1"/>
              </a:cxn>
              <a:cxn ang="0">
                <a:pos x="connsiteX2" y="connsiteY2"/>
              </a:cxn>
              <a:cxn ang="0">
                <a:pos x="connsiteX3" y="connsiteY3"/>
              </a:cxn>
            </a:cxnLst>
            <a:rect l="l" t="t" r="r" b="b"/>
            <a:pathLst>
              <a:path w="180539" h="239365">
                <a:moveTo>
                  <a:pt x="0" y="0"/>
                </a:moveTo>
                <a:lnTo>
                  <a:pt x="180539" y="0"/>
                </a:lnTo>
                <a:lnTo>
                  <a:pt x="180539" y="239366"/>
                </a:lnTo>
                <a:lnTo>
                  <a:pt x="0" y="239366"/>
                </a:lnTo>
                <a:close/>
              </a:path>
            </a:pathLst>
          </a:custGeom>
          <a:solidFill>
            <a:schemeClr val="bg1"/>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3666A"/>
              </a:solidFill>
              <a:effectLst/>
              <a:uLnTx/>
              <a:uFillTx/>
              <a:latin typeface="Prelo Bold Italic"/>
              <a:ea typeface="楷体"/>
              <a:cs typeface="+mn-cs"/>
            </a:endParaRPr>
          </a:p>
        </p:txBody>
      </p:sp>
      <p:sp>
        <p:nvSpPr>
          <p:cNvPr id="12" name="Freeform 20">
            <a:extLst>
              <a:ext uri="{FF2B5EF4-FFF2-40B4-BE49-F238E27FC236}">
                <a16:creationId xmlns:a16="http://schemas.microsoft.com/office/drawing/2014/main" id="{EF7944CF-DD67-1C9A-9F7B-714B289B77BE}"/>
              </a:ext>
            </a:extLst>
          </p:cNvPr>
          <p:cNvSpPr/>
          <p:nvPr/>
        </p:nvSpPr>
        <p:spPr>
          <a:xfrm>
            <a:off x="874464" y="4887638"/>
            <a:ext cx="5404321" cy="1966636"/>
          </a:xfrm>
          <a:custGeom>
            <a:avLst/>
            <a:gdLst>
              <a:gd name="connsiteX0" fmla="*/ 4016443 w 4427164"/>
              <a:gd name="connsiteY0" fmla="*/ 0 h 1908834"/>
              <a:gd name="connsiteX1" fmla="*/ 4016443 w 4427164"/>
              <a:gd name="connsiteY1" fmla="*/ 239366 h 1908834"/>
              <a:gd name="connsiteX2" fmla="*/ 4196285 w 4427164"/>
              <a:gd name="connsiteY2" fmla="*/ 239366 h 1908834"/>
              <a:gd name="connsiteX3" fmla="*/ 4196285 w 4427164"/>
              <a:gd name="connsiteY3" fmla="*/ 478731 h 1908834"/>
              <a:gd name="connsiteX4" fmla="*/ 3827587 w 4427164"/>
              <a:gd name="connsiteY4" fmla="*/ 478731 h 1908834"/>
              <a:gd name="connsiteX5" fmla="*/ 3827587 w 4427164"/>
              <a:gd name="connsiteY5" fmla="*/ 239366 h 1908834"/>
              <a:gd name="connsiteX6" fmla="*/ 3376174 w 4427164"/>
              <a:gd name="connsiteY6" fmla="*/ 239366 h 1908834"/>
              <a:gd name="connsiteX7" fmla="*/ 3376174 w 4427164"/>
              <a:gd name="connsiteY7" fmla="*/ 478731 h 1908834"/>
              <a:gd name="connsiteX8" fmla="*/ 3259305 w 4427164"/>
              <a:gd name="connsiteY8" fmla="*/ 478731 h 1908834"/>
              <a:gd name="connsiteX9" fmla="*/ 3259305 w 4427164"/>
              <a:gd name="connsiteY9" fmla="*/ 239366 h 1908834"/>
              <a:gd name="connsiteX10" fmla="*/ 3157736 w 4427164"/>
              <a:gd name="connsiteY10" fmla="*/ 239366 h 1908834"/>
              <a:gd name="connsiteX11" fmla="*/ 3157736 w 4427164"/>
              <a:gd name="connsiteY11" fmla="*/ 478731 h 1908834"/>
              <a:gd name="connsiteX12" fmla="*/ 2925459 w 4427164"/>
              <a:gd name="connsiteY12" fmla="*/ 478731 h 1908834"/>
              <a:gd name="connsiteX13" fmla="*/ 2925459 w 4427164"/>
              <a:gd name="connsiteY13" fmla="*/ 718097 h 1908834"/>
              <a:gd name="connsiteX14" fmla="*/ 3040740 w 4427164"/>
              <a:gd name="connsiteY14" fmla="*/ 718097 h 1908834"/>
              <a:gd name="connsiteX15" fmla="*/ 3040740 w 4427164"/>
              <a:gd name="connsiteY15" fmla="*/ 955179 h 1908834"/>
              <a:gd name="connsiteX16" fmla="*/ 2772152 w 4427164"/>
              <a:gd name="connsiteY16" fmla="*/ 955179 h 1908834"/>
              <a:gd name="connsiteX17" fmla="*/ 2772152 w 4427164"/>
              <a:gd name="connsiteY17" fmla="*/ 1194481 h 1908834"/>
              <a:gd name="connsiteX18" fmla="*/ 2670582 w 4427164"/>
              <a:gd name="connsiteY18" fmla="*/ 1194481 h 1908834"/>
              <a:gd name="connsiteX19" fmla="*/ 2670582 w 4427164"/>
              <a:gd name="connsiteY19" fmla="*/ 955179 h 1908834"/>
              <a:gd name="connsiteX20" fmla="*/ 2219169 w 4427164"/>
              <a:gd name="connsiteY20" fmla="*/ 955179 h 1908834"/>
              <a:gd name="connsiteX21" fmla="*/ 2219169 w 4427164"/>
              <a:gd name="connsiteY21" fmla="*/ 1194481 h 1908834"/>
              <a:gd name="connsiteX22" fmla="*/ 2117600 w 4427164"/>
              <a:gd name="connsiteY22" fmla="*/ 1194481 h 1908834"/>
              <a:gd name="connsiteX23" fmla="*/ 2117600 w 4427164"/>
              <a:gd name="connsiteY23" fmla="*/ 955179 h 1908834"/>
              <a:gd name="connsiteX24" fmla="*/ 1937059 w 4427164"/>
              <a:gd name="connsiteY24" fmla="*/ 955179 h 1908834"/>
              <a:gd name="connsiteX25" fmla="*/ 1937059 w 4427164"/>
              <a:gd name="connsiteY25" fmla="*/ 1433847 h 1908834"/>
              <a:gd name="connsiteX26" fmla="*/ 1644476 w 4427164"/>
              <a:gd name="connsiteY26" fmla="*/ 1433847 h 1908834"/>
              <a:gd name="connsiteX27" fmla="*/ 1644476 w 4427164"/>
              <a:gd name="connsiteY27" fmla="*/ 1194481 h 1908834"/>
              <a:gd name="connsiteX28" fmla="*/ 1192237 w 4427164"/>
              <a:gd name="connsiteY28" fmla="*/ 1194481 h 1908834"/>
              <a:gd name="connsiteX29" fmla="*/ 1192237 w 4427164"/>
              <a:gd name="connsiteY29" fmla="*/ 1433847 h 1908834"/>
              <a:gd name="connsiteX30" fmla="*/ 740824 w 4427164"/>
              <a:gd name="connsiteY30" fmla="*/ 1433847 h 1908834"/>
              <a:gd name="connsiteX31" fmla="*/ 740824 w 4427164"/>
              <a:gd name="connsiteY31" fmla="*/ 1673212 h 1908834"/>
              <a:gd name="connsiteX32" fmla="*/ 0 w 4427164"/>
              <a:gd name="connsiteY32" fmla="*/ 1673212 h 1908834"/>
              <a:gd name="connsiteX33" fmla="*/ 0 w 4427164"/>
              <a:gd name="connsiteY33" fmla="*/ 1908835 h 1908834"/>
              <a:gd name="connsiteX34" fmla="*/ 4427165 w 4427164"/>
              <a:gd name="connsiteY34" fmla="*/ 1908835 h 1908834"/>
              <a:gd name="connsiteX35" fmla="*/ 4427165 w 4427164"/>
              <a:gd name="connsiteY35" fmla="*/ 127 h 1908834"/>
              <a:gd name="connsiteX36" fmla="*/ 4016316 w 4427164"/>
              <a:gd name="connsiteY36" fmla="*/ 127 h 1908834"/>
              <a:gd name="connsiteX37" fmla="*/ 2224374 w 4427164"/>
              <a:gd name="connsiteY37" fmla="*/ 1673149 h 1908834"/>
              <a:gd name="connsiteX38" fmla="*/ 2122805 w 4427164"/>
              <a:gd name="connsiteY38" fmla="*/ 1673149 h 1908834"/>
              <a:gd name="connsiteX39" fmla="*/ 2122805 w 4427164"/>
              <a:gd name="connsiteY39" fmla="*/ 1433783 h 1908834"/>
              <a:gd name="connsiteX40" fmla="*/ 2224374 w 4427164"/>
              <a:gd name="connsiteY40" fmla="*/ 1433783 h 1908834"/>
              <a:gd name="connsiteX41" fmla="*/ 2224374 w 4427164"/>
              <a:gd name="connsiteY41" fmla="*/ 1673149 h 1908834"/>
              <a:gd name="connsiteX42" fmla="*/ 2530353 w 4427164"/>
              <a:gd name="connsiteY42" fmla="*/ 1433783 h 1908834"/>
              <a:gd name="connsiteX43" fmla="*/ 2349813 w 4427164"/>
              <a:gd name="connsiteY43" fmla="*/ 1433783 h 1908834"/>
              <a:gd name="connsiteX44" fmla="*/ 2349813 w 4427164"/>
              <a:gd name="connsiteY44" fmla="*/ 1194417 h 1908834"/>
              <a:gd name="connsiteX45" fmla="*/ 2530353 w 4427164"/>
              <a:gd name="connsiteY45" fmla="*/ 1194417 h 1908834"/>
              <a:gd name="connsiteX46" fmla="*/ 2530353 w 4427164"/>
              <a:gd name="connsiteY46" fmla="*/ 1433783 h 1908834"/>
              <a:gd name="connsiteX47" fmla="*/ 4016380 w 4427164"/>
              <a:gd name="connsiteY47" fmla="*/ 955115 h 1908834"/>
              <a:gd name="connsiteX48" fmla="*/ 3851709 w 4427164"/>
              <a:gd name="connsiteY48" fmla="*/ 955115 h 1908834"/>
              <a:gd name="connsiteX49" fmla="*/ 3851709 w 4427164"/>
              <a:gd name="connsiteY49" fmla="*/ 718034 h 1908834"/>
              <a:gd name="connsiteX50" fmla="*/ 4016380 w 4427164"/>
              <a:gd name="connsiteY50" fmla="*/ 718034 h 1908834"/>
              <a:gd name="connsiteX51" fmla="*/ 4016380 w 4427164"/>
              <a:gd name="connsiteY51" fmla="*/ 955115 h 190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427164" h="1908834">
                <a:moveTo>
                  <a:pt x="4016443" y="0"/>
                </a:moveTo>
                <a:lnTo>
                  <a:pt x="4016443" y="239366"/>
                </a:lnTo>
                <a:lnTo>
                  <a:pt x="4196285" y="239366"/>
                </a:lnTo>
                <a:lnTo>
                  <a:pt x="4196285" y="478731"/>
                </a:lnTo>
                <a:lnTo>
                  <a:pt x="3827587" y="478731"/>
                </a:lnTo>
                <a:lnTo>
                  <a:pt x="3827587" y="239366"/>
                </a:lnTo>
                <a:lnTo>
                  <a:pt x="3376174" y="239366"/>
                </a:lnTo>
                <a:lnTo>
                  <a:pt x="3376174" y="478731"/>
                </a:lnTo>
                <a:lnTo>
                  <a:pt x="3259305" y="478731"/>
                </a:lnTo>
                <a:lnTo>
                  <a:pt x="3259305" y="239366"/>
                </a:lnTo>
                <a:lnTo>
                  <a:pt x="3157736" y="239366"/>
                </a:lnTo>
                <a:lnTo>
                  <a:pt x="3157736" y="478731"/>
                </a:lnTo>
                <a:lnTo>
                  <a:pt x="2925459" y="478731"/>
                </a:lnTo>
                <a:lnTo>
                  <a:pt x="2925459" y="718097"/>
                </a:lnTo>
                <a:lnTo>
                  <a:pt x="3040740" y="718097"/>
                </a:lnTo>
                <a:lnTo>
                  <a:pt x="3040740" y="955179"/>
                </a:lnTo>
                <a:lnTo>
                  <a:pt x="2772152" y="955179"/>
                </a:lnTo>
                <a:lnTo>
                  <a:pt x="2772152" y="1194481"/>
                </a:lnTo>
                <a:lnTo>
                  <a:pt x="2670582" y="1194481"/>
                </a:lnTo>
                <a:lnTo>
                  <a:pt x="2670582" y="955179"/>
                </a:lnTo>
                <a:lnTo>
                  <a:pt x="2219169" y="955179"/>
                </a:lnTo>
                <a:lnTo>
                  <a:pt x="2219169" y="1194481"/>
                </a:lnTo>
                <a:lnTo>
                  <a:pt x="2117600" y="1194481"/>
                </a:lnTo>
                <a:lnTo>
                  <a:pt x="2117600" y="955179"/>
                </a:lnTo>
                <a:lnTo>
                  <a:pt x="1937059" y="955179"/>
                </a:lnTo>
                <a:lnTo>
                  <a:pt x="1937059" y="1433847"/>
                </a:lnTo>
                <a:lnTo>
                  <a:pt x="1644476" y="1433847"/>
                </a:lnTo>
                <a:lnTo>
                  <a:pt x="1644476" y="1194481"/>
                </a:lnTo>
                <a:lnTo>
                  <a:pt x="1192237" y="1194481"/>
                </a:lnTo>
                <a:lnTo>
                  <a:pt x="1192237" y="1433847"/>
                </a:lnTo>
                <a:lnTo>
                  <a:pt x="740824" y="1433847"/>
                </a:lnTo>
                <a:lnTo>
                  <a:pt x="740824" y="1673212"/>
                </a:lnTo>
                <a:lnTo>
                  <a:pt x="0" y="1673212"/>
                </a:lnTo>
                <a:lnTo>
                  <a:pt x="0" y="1908835"/>
                </a:lnTo>
                <a:lnTo>
                  <a:pt x="4427165" y="1908835"/>
                </a:lnTo>
                <a:lnTo>
                  <a:pt x="4427165" y="127"/>
                </a:lnTo>
                <a:lnTo>
                  <a:pt x="4016316" y="127"/>
                </a:lnTo>
                <a:close/>
                <a:moveTo>
                  <a:pt x="2224374" y="1673149"/>
                </a:moveTo>
                <a:lnTo>
                  <a:pt x="2122805" y="1673149"/>
                </a:lnTo>
                <a:lnTo>
                  <a:pt x="2122805" y="1433783"/>
                </a:lnTo>
                <a:lnTo>
                  <a:pt x="2224374" y="1433783"/>
                </a:lnTo>
                <a:lnTo>
                  <a:pt x="2224374" y="1673149"/>
                </a:lnTo>
                <a:close/>
                <a:moveTo>
                  <a:pt x="2530353" y="1433783"/>
                </a:moveTo>
                <a:lnTo>
                  <a:pt x="2349813" y="1433783"/>
                </a:lnTo>
                <a:lnTo>
                  <a:pt x="2349813" y="1194417"/>
                </a:lnTo>
                <a:lnTo>
                  <a:pt x="2530353" y="1194417"/>
                </a:lnTo>
                <a:lnTo>
                  <a:pt x="2530353" y="1433783"/>
                </a:lnTo>
                <a:close/>
                <a:moveTo>
                  <a:pt x="4016380" y="955115"/>
                </a:moveTo>
                <a:lnTo>
                  <a:pt x="3851709" y="955115"/>
                </a:lnTo>
                <a:lnTo>
                  <a:pt x="3851709" y="718034"/>
                </a:lnTo>
                <a:lnTo>
                  <a:pt x="4016380" y="718034"/>
                </a:lnTo>
                <a:lnTo>
                  <a:pt x="4016380" y="955115"/>
                </a:lnTo>
                <a:close/>
              </a:path>
            </a:pathLst>
          </a:custGeom>
          <a:solidFill>
            <a:schemeClr val="bg1"/>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3666A"/>
              </a:solidFill>
              <a:effectLst/>
              <a:uLnTx/>
              <a:uFillTx/>
              <a:latin typeface="Prelo Bold Italic"/>
              <a:ea typeface="楷体"/>
              <a:cs typeface="+mn-cs"/>
            </a:endParaRPr>
          </a:p>
        </p:txBody>
      </p:sp>
      <p:sp>
        <p:nvSpPr>
          <p:cNvPr id="6" name="矩形 5">
            <a:extLst>
              <a:ext uri="{FF2B5EF4-FFF2-40B4-BE49-F238E27FC236}">
                <a16:creationId xmlns:a16="http://schemas.microsoft.com/office/drawing/2014/main" id="{4A21F089-12B7-83DF-8D21-06BFE865770C}"/>
              </a:ext>
            </a:extLst>
          </p:cNvPr>
          <p:cNvSpPr/>
          <p:nvPr/>
        </p:nvSpPr>
        <p:spPr>
          <a:xfrm flipH="1">
            <a:off x="5265223" y="0"/>
            <a:ext cx="6926777" cy="6857998"/>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Arial"/>
              <a:ea typeface="楷体"/>
              <a:cs typeface="+mn-cs"/>
            </a:endParaRPr>
          </a:p>
        </p:txBody>
      </p:sp>
      <p:sp>
        <p:nvSpPr>
          <p:cNvPr id="7" name="矩形 6">
            <a:extLst>
              <a:ext uri="{FF2B5EF4-FFF2-40B4-BE49-F238E27FC236}">
                <a16:creationId xmlns:a16="http://schemas.microsoft.com/office/drawing/2014/main" id="{A952C502-6949-9386-CD86-DEB97205EF10}"/>
              </a:ext>
            </a:extLst>
          </p:cNvPr>
          <p:cNvSpPr/>
          <p:nvPr/>
        </p:nvSpPr>
        <p:spPr>
          <a:xfrm flipH="1">
            <a:off x="4246041" y="1628775"/>
            <a:ext cx="1670570" cy="863640"/>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Arial" panose="020B0604020202020204" pitchFamily="34" charset="0"/>
              <a:ea typeface="楷体" panose="02010609060101010101" pitchFamily="49" charset="-122"/>
              <a:cs typeface="+mn-cs"/>
            </a:endParaRPr>
          </a:p>
        </p:txBody>
      </p:sp>
      <p:sp>
        <p:nvSpPr>
          <p:cNvPr id="8" name="矩形 7">
            <a:extLst>
              <a:ext uri="{FF2B5EF4-FFF2-40B4-BE49-F238E27FC236}">
                <a16:creationId xmlns:a16="http://schemas.microsoft.com/office/drawing/2014/main" id="{0DBA1899-43D1-B34B-AEE8-A129C05C9239}"/>
              </a:ext>
            </a:extLst>
          </p:cNvPr>
          <p:cNvSpPr/>
          <p:nvPr/>
        </p:nvSpPr>
        <p:spPr>
          <a:xfrm flipH="1">
            <a:off x="5661723" y="1628775"/>
            <a:ext cx="170754" cy="863640"/>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Arial" panose="020B0604020202020204" pitchFamily="34" charset="0"/>
              <a:ea typeface="楷体" panose="02010609060101010101" pitchFamily="49" charset="-122"/>
              <a:cs typeface="+mn-cs"/>
            </a:endParaRPr>
          </a:p>
        </p:txBody>
      </p:sp>
      <p:sp>
        <p:nvSpPr>
          <p:cNvPr id="13" name="标题 1">
            <a:extLst>
              <a:ext uri="{FF2B5EF4-FFF2-40B4-BE49-F238E27FC236}">
                <a16:creationId xmlns:a16="http://schemas.microsoft.com/office/drawing/2014/main" id="{D51F27CA-4AA5-CEED-5035-3266135C3846}"/>
              </a:ext>
            </a:extLst>
          </p:cNvPr>
          <p:cNvSpPr txBox="1">
            <a:spLocks/>
          </p:cNvSpPr>
          <p:nvPr/>
        </p:nvSpPr>
        <p:spPr>
          <a:xfrm>
            <a:off x="4384008" y="1843764"/>
            <a:ext cx="1045987" cy="596911"/>
          </a:xfrm>
          <a:prstGeom prst="rect">
            <a:avLst/>
          </a:prstGeom>
        </p:spPr>
        <p:txBody>
          <a:bodyPr lIns="0" tIns="0" rIns="0" bIns="0"/>
          <a:lstStyle>
            <a:lvl1pPr algn="l" defTabSz="914486" rtl="0" eaLnBrk="1" latinLnBrk="0" hangingPunct="1">
              <a:lnSpc>
                <a:spcPct val="85000"/>
              </a:lnSpc>
              <a:spcBef>
                <a:spcPct val="0"/>
              </a:spcBef>
              <a:buNone/>
              <a:defRPr sz="2400" kern="1200">
                <a:solidFill>
                  <a:schemeClr val="tx1"/>
                </a:solidFill>
                <a:latin typeface="+mj-lt"/>
                <a:ea typeface="+mj-ea"/>
                <a:cs typeface="+mj-cs"/>
              </a:defRPr>
            </a:lvl1pPr>
          </a:lstStyle>
          <a:p>
            <a:pPr marL="0" marR="0" lvl="0" indent="0" algn="l" defTabSz="914486" rtl="0" eaLnBrk="1" fontAlgn="auto" latinLnBrk="0" hangingPunct="1">
              <a:lnSpc>
                <a:spcPct val="85000"/>
              </a:lnSpc>
              <a:spcBef>
                <a:spcPct val="0"/>
              </a:spcBef>
              <a:spcAft>
                <a:spcPts val="0"/>
              </a:spcAft>
              <a:buClrTx/>
              <a:buSzTx/>
              <a:buFontTx/>
              <a:buNone/>
              <a:tabLst/>
              <a:defRPr/>
            </a:pPr>
            <a:r>
              <a:rPr kumimoji="0" lang="zh-CN" altLang="en-US" sz="4000" b="1" i="0" u="none" strike="noStrike" kern="1200" cap="none" spc="0" normalizeH="0" baseline="0" noProof="0" dirty="0">
                <a:ln>
                  <a:noFill/>
                </a:ln>
                <a:solidFill>
                  <a:schemeClr val="accent1"/>
                </a:solidFill>
                <a:effectLst/>
                <a:uLnTx/>
                <a:uFillTx/>
                <a:latin typeface="Arial" panose="020B0604020202020204" pitchFamily="34" charset="0"/>
                <a:ea typeface="楷体" panose="02010609060101010101" pitchFamily="49" charset="-122"/>
                <a:cs typeface="+mj-cs"/>
              </a:rPr>
              <a:t>议程</a:t>
            </a:r>
          </a:p>
        </p:txBody>
      </p:sp>
      <p:sp>
        <p:nvSpPr>
          <p:cNvPr id="14" name="矩形: 圆角 13">
            <a:extLst>
              <a:ext uri="{FF2B5EF4-FFF2-40B4-BE49-F238E27FC236}">
                <a16:creationId xmlns:a16="http://schemas.microsoft.com/office/drawing/2014/main" id="{C48543FA-6AD1-A925-B8D3-8EDD88B6DEEC}"/>
              </a:ext>
            </a:extLst>
          </p:cNvPr>
          <p:cNvSpPr/>
          <p:nvPr/>
        </p:nvSpPr>
        <p:spPr>
          <a:xfrm>
            <a:off x="4743790" y="2580523"/>
            <a:ext cx="326424" cy="362875"/>
          </a:xfrm>
          <a:prstGeom prst="roundRect">
            <a:avLst>
              <a:gd name="adj" fmla="val 0"/>
            </a:avLst>
          </a:prstGeom>
          <a:solidFill>
            <a:schemeClr val="bg1">
              <a:alpha val="60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Arial" panose="020B0604020202020204" pitchFamily="34" charset="0"/>
              <a:ea typeface="楷体" panose="02010609060101010101" pitchFamily="49" charset="-122"/>
              <a:cs typeface="+mn-cs"/>
            </a:endParaRPr>
          </a:p>
        </p:txBody>
      </p:sp>
    </p:spTree>
    <p:extLst>
      <p:ext uri="{BB962C8B-B14F-4D97-AF65-F5344CB8AC3E}">
        <p14:creationId xmlns:p14="http://schemas.microsoft.com/office/powerpoint/2010/main" val="3670079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8F15E3E-E52C-EB2A-0025-BA926DEB228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12192000" cy="3898800"/>
          </a:xfrm>
          <a:prstGeom prst="rect">
            <a:avLst/>
          </a:prstGeom>
        </p:spPr>
      </p:pic>
      <p:grpSp>
        <p:nvGrpSpPr>
          <p:cNvPr id="3" name="Graphic 4">
            <a:extLst>
              <a:ext uri="{FF2B5EF4-FFF2-40B4-BE49-F238E27FC236}">
                <a16:creationId xmlns:a16="http://schemas.microsoft.com/office/drawing/2014/main" id="{AE083B2E-6030-E428-44DC-53CBB23438FC}"/>
              </a:ext>
            </a:extLst>
          </p:cNvPr>
          <p:cNvGrpSpPr/>
          <p:nvPr userDrawn="1"/>
        </p:nvGrpSpPr>
        <p:grpSpPr>
          <a:xfrm rot="10800000">
            <a:off x="0" y="1"/>
            <a:ext cx="6817360" cy="2477685"/>
            <a:chOff x="6929743" y="4949292"/>
            <a:chExt cx="5262129" cy="1912450"/>
          </a:xfrm>
          <a:solidFill>
            <a:schemeClr val="bg1"/>
          </a:solidFill>
        </p:grpSpPr>
        <p:sp>
          <p:nvSpPr>
            <p:cNvPr id="4" name="Freeform 17">
              <a:extLst>
                <a:ext uri="{FF2B5EF4-FFF2-40B4-BE49-F238E27FC236}">
                  <a16:creationId xmlns:a16="http://schemas.microsoft.com/office/drawing/2014/main" id="{60FEB55A-AE35-C7D0-A929-076D2B877D0D}"/>
                </a:ext>
              </a:extLst>
            </p:cNvPr>
            <p:cNvSpPr/>
            <p:nvPr/>
          </p:nvSpPr>
          <p:spPr>
            <a:xfrm>
              <a:off x="6929743" y="6622377"/>
              <a:ext cx="180603" cy="239365"/>
            </a:xfrm>
            <a:custGeom>
              <a:avLst/>
              <a:gdLst>
                <a:gd name="connsiteX0" fmla="*/ 0 w 180603"/>
                <a:gd name="connsiteY0" fmla="*/ 235623 h 239365"/>
                <a:gd name="connsiteX1" fmla="*/ 0 w 180603"/>
                <a:gd name="connsiteY1" fmla="*/ 239366 h 239365"/>
                <a:gd name="connsiteX2" fmla="*/ 180603 w 180603"/>
                <a:gd name="connsiteY2" fmla="*/ 239366 h 239365"/>
                <a:gd name="connsiteX3" fmla="*/ 180603 w 180603"/>
                <a:gd name="connsiteY3" fmla="*/ 235623 h 239365"/>
                <a:gd name="connsiteX4" fmla="*/ 180603 w 180603"/>
                <a:gd name="connsiteY4" fmla="*/ 0 h 239365"/>
                <a:gd name="connsiteX5" fmla="*/ 0 w 180603"/>
                <a:gd name="connsiteY5" fmla="*/ 0 h 239365"/>
                <a:gd name="connsiteX6" fmla="*/ 0 w 180603"/>
                <a:gd name="connsiteY6" fmla="*/ 235623 h 23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603" h="239365">
                  <a:moveTo>
                    <a:pt x="0" y="235623"/>
                  </a:moveTo>
                  <a:lnTo>
                    <a:pt x="0" y="239366"/>
                  </a:lnTo>
                  <a:lnTo>
                    <a:pt x="180603" y="239366"/>
                  </a:lnTo>
                  <a:lnTo>
                    <a:pt x="180603" y="235623"/>
                  </a:lnTo>
                  <a:lnTo>
                    <a:pt x="180603" y="0"/>
                  </a:lnTo>
                  <a:lnTo>
                    <a:pt x="0" y="0"/>
                  </a:lnTo>
                  <a:lnTo>
                    <a:pt x="0" y="235623"/>
                  </a:lnTo>
                  <a:close/>
                </a:path>
              </a:pathLst>
            </a:custGeom>
            <a:grp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3666A"/>
                </a:solidFill>
                <a:effectLst/>
                <a:uLnTx/>
                <a:uFillTx/>
                <a:latin typeface="Prelo Bold Italic"/>
                <a:ea typeface="楷体"/>
                <a:cs typeface="+mn-cs"/>
              </a:endParaRPr>
            </a:p>
          </p:txBody>
        </p:sp>
        <p:sp>
          <p:nvSpPr>
            <p:cNvPr id="5" name="Freeform 18">
              <a:extLst>
                <a:ext uri="{FF2B5EF4-FFF2-40B4-BE49-F238E27FC236}">
                  <a16:creationId xmlns:a16="http://schemas.microsoft.com/office/drawing/2014/main" id="{747E9DD0-22F7-2BDA-6FB5-B5A13700A328}"/>
                </a:ext>
              </a:extLst>
            </p:cNvPr>
            <p:cNvSpPr/>
            <p:nvPr/>
          </p:nvSpPr>
          <p:spPr>
            <a:xfrm>
              <a:off x="7211852" y="6622377"/>
              <a:ext cx="451413" cy="239365"/>
            </a:xfrm>
            <a:custGeom>
              <a:avLst/>
              <a:gdLst>
                <a:gd name="connsiteX0" fmla="*/ 0 w 451413"/>
                <a:gd name="connsiteY0" fmla="*/ 235623 h 239365"/>
                <a:gd name="connsiteX1" fmla="*/ 0 w 451413"/>
                <a:gd name="connsiteY1" fmla="*/ 239366 h 239365"/>
                <a:gd name="connsiteX2" fmla="*/ 451413 w 451413"/>
                <a:gd name="connsiteY2" fmla="*/ 239366 h 239365"/>
                <a:gd name="connsiteX3" fmla="*/ 451413 w 451413"/>
                <a:gd name="connsiteY3" fmla="*/ 235623 h 239365"/>
                <a:gd name="connsiteX4" fmla="*/ 451413 w 451413"/>
                <a:gd name="connsiteY4" fmla="*/ 0 h 239365"/>
                <a:gd name="connsiteX5" fmla="*/ 0 w 451413"/>
                <a:gd name="connsiteY5" fmla="*/ 0 h 239365"/>
                <a:gd name="connsiteX6" fmla="*/ 0 w 451413"/>
                <a:gd name="connsiteY6" fmla="*/ 235623 h 23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413" h="239365">
                  <a:moveTo>
                    <a:pt x="0" y="235623"/>
                  </a:moveTo>
                  <a:lnTo>
                    <a:pt x="0" y="239366"/>
                  </a:lnTo>
                  <a:lnTo>
                    <a:pt x="451413" y="239366"/>
                  </a:lnTo>
                  <a:lnTo>
                    <a:pt x="451413" y="235623"/>
                  </a:lnTo>
                  <a:lnTo>
                    <a:pt x="451413" y="0"/>
                  </a:lnTo>
                  <a:lnTo>
                    <a:pt x="0" y="0"/>
                  </a:lnTo>
                  <a:lnTo>
                    <a:pt x="0" y="235623"/>
                  </a:lnTo>
                  <a:close/>
                </a:path>
              </a:pathLst>
            </a:custGeom>
            <a:grp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3666A"/>
                </a:solidFill>
                <a:effectLst/>
                <a:uLnTx/>
                <a:uFillTx/>
                <a:latin typeface="Prelo Bold Italic"/>
                <a:ea typeface="楷体"/>
                <a:cs typeface="+mn-cs"/>
              </a:endParaRPr>
            </a:p>
          </p:txBody>
        </p:sp>
        <p:sp>
          <p:nvSpPr>
            <p:cNvPr id="6" name="Freeform 19">
              <a:extLst>
                <a:ext uri="{FF2B5EF4-FFF2-40B4-BE49-F238E27FC236}">
                  <a16:creationId xmlns:a16="http://schemas.microsoft.com/office/drawing/2014/main" id="{2A5B966B-94AE-3FBB-9B26-AFFD5E3E82B9}"/>
                </a:ext>
              </a:extLst>
            </p:cNvPr>
            <p:cNvSpPr/>
            <p:nvPr/>
          </p:nvSpPr>
          <p:spPr>
            <a:xfrm>
              <a:off x="10408057" y="5427959"/>
              <a:ext cx="180539" cy="239365"/>
            </a:xfrm>
            <a:custGeom>
              <a:avLst/>
              <a:gdLst>
                <a:gd name="connsiteX0" fmla="*/ 0 w 180539"/>
                <a:gd name="connsiteY0" fmla="*/ 0 h 239365"/>
                <a:gd name="connsiteX1" fmla="*/ 180539 w 180539"/>
                <a:gd name="connsiteY1" fmla="*/ 0 h 239365"/>
                <a:gd name="connsiteX2" fmla="*/ 180539 w 180539"/>
                <a:gd name="connsiteY2" fmla="*/ 239366 h 239365"/>
                <a:gd name="connsiteX3" fmla="*/ 0 w 180539"/>
                <a:gd name="connsiteY3" fmla="*/ 239366 h 239365"/>
              </a:gdLst>
              <a:ahLst/>
              <a:cxnLst>
                <a:cxn ang="0">
                  <a:pos x="connsiteX0" y="connsiteY0"/>
                </a:cxn>
                <a:cxn ang="0">
                  <a:pos x="connsiteX1" y="connsiteY1"/>
                </a:cxn>
                <a:cxn ang="0">
                  <a:pos x="connsiteX2" y="connsiteY2"/>
                </a:cxn>
                <a:cxn ang="0">
                  <a:pos x="connsiteX3" y="connsiteY3"/>
                </a:cxn>
              </a:cxnLst>
              <a:rect l="l" t="t" r="r" b="b"/>
              <a:pathLst>
                <a:path w="180539" h="239365">
                  <a:moveTo>
                    <a:pt x="0" y="0"/>
                  </a:moveTo>
                  <a:lnTo>
                    <a:pt x="180539" y="0"/>
                  </a:lnTo>
                  <a:lnTo>
                    <a:pt x="180539" y="239366"/>
                  </a:lnTo>
                  <a:lnTo>
                    <a:pt x="0" y="239366"/>
                  </a:lnTo>
                  <a:close/>
                </a:path>
              </a:pathLst>
            </a:custGeom>
            <a:grp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3666A"/>
                </a:solidFill>
                <a:effectLst/>
                <a:uLnTx/>
                <a:uFillTx/>
                <a:latin typeface="Prelo Bold Italic"/>
                <a:ea typeface="楷体"/>
                <a:cs typeface="+mn-cs"/>
              </a:endParaRPr>
            </a:p>
          </p:txBody>
        </p:sp>
        <p:sp>
          <p:nvSpPr>
            <p:cNvPr id="7" name="Freeform 20">
              <a:extLst>
                <a:ext uri="{FF2B5EF4-FFF2-40B4-BE49-F238E27FC236}">
                  <a16:creationId xmlns:a16="http://schemas.microsoft.com/office/drawing/2014/main" id="{F6B632D6-9670-94E8-FEF4-70D1067B2CC4}"/>
                </a:ext>
              </a:extLst>
            </p:cNvPr>
            <p:cNvSpPr/>
            <p:nvPr/>
          </p:nvSpPr>
          <p:spPr>
            <a:xfrm>
              <a:off x="7764708" y="4949292"/>
              <a:ext cx="4427164" cy="1908834"/>
            </a:xfrm>
            <a:custGeom>
              <a:avLst/>
              <a:gdLst>
                <a:gd name="connsiteX0" fmla="*/ 4016443 w 4427164"/>
                <a:gd name="connsiteY0" fmla="*/ 0 h 1908834"/>
                <a:gd name="connsiteX1" fmla="*/ 4016443 w 4427164"/>
                <a:gd name="connsiteY1" fmla="*/ 239366 h 1908834"/>
                <a:gd name="connsiteX2" fmla="*/ 4196285 w 4427164"/>
                <a:gd name="connsiteY2" fmla="*/ 239366 h 1908834"/>
                <a:gd name="connsiteX3" fmla="*/ 4196285 w 4427164"/>
                <a:gd name="connsiteY3" fmla="*/ 478731 h 1908834"/>
                <a:gd name="connsiteX4" fmla="*/ 3827587 w 4427164"/>
                <a:gd name="connsiteY4" fmla="*/ 478731 h 1908834"/>
                <a:gd name="connsiteX5" fmla="*/ 3827587 w 4427164"/>
                <a:gd name="connsiteY5" fmla="*/ 239366 h 1908834"/>
                <a:gd name="connsiteX6" fmla="*/ 3376174 w 4427164"/>
                <a:gd name="connsiteY6" fmla="*/ 239366 h 1908834"/>
                <a:gd name="connsiteX7" fmla="*/ 3376174 w 4427164"/>
                <a:gd name="connsiteY7" fmla="*/ 478731 h 1908834"/>
                <a:gd name="connsiteX8" fmla="*/ 3259305 w 4427164"/>
                <a:gd name="connsiteY8" fmla="*/ 478731 h 1908834"/>
                <a:gd name="connsiteX9" fmla="*/ 3259305 w 4427164"/>
                <a:gd name="connsiteY9" fmla="*/ 239366 h 1908834"/>
                <a:gd name="connsiteX10" fmla="*/ 3157736 w 4427164"/>
                <a:gd name="connsiteY10" fmla="*/ 239366 h 1908834"/>
                <a:gd name="connsiteX11" fmla="*/ 3157736 w 4427164"/>
                <a:gd name="connsiteY11" fmla="*/ 478731 h 1908834"/>
                <a:gd name="connsiteX12" fmla="*/ 2925459 w 4427164"/>
                <a:gd name="connsiteY12" fmla="*/ 478731 h 1908834"/>
                <a:gd name="connsiteX13" fmla="*/ 2925459 w 4427164"/>
                <a:gd name="connsiteY13" fmla="*/ 718097 h 1908834"/>
                <a:gd name="connsiteX14" fmla="*/ 3040740 w 4427164"/>
                <a:gd name="connsiteY14" fmla="*/ 718097 h 1908834"/>
                <a:gd name="connsiteX15" fmla="*/ 3040740 w 4427164"/>
                <a:gd name="connsiteY15" fmla="*/ 955179 h 1908834"/>
                <a:gd name="connsiteX16" fmla="*/ 2772152 w 4427164"/>
                <a:gd name="connsiteY16" fmla="*/ 955179 h 1908834"/>
                <a:gd name="connsiteX17" fmla="*/ 2772152 w 4427164"/>
                <a:gd name="connsiteY17" fmla="*/ 1194481 h 1908834"/>
                <a:gd name="connsiteX18" fmla="*/ 2670582 w 4427164"/>
                <a:gd name="connsiteY18" fmla="*/ 1194481 h 1908834"/>
                <a:gd name="connsiteX19" fmla="*/ 2670582 w 4427164"/>
                <a:gd name="connsiteY19" fmla="*/ 955179 h 1908834"/>
                <a:gd name="connsiteX20" fmla="*/ 2219169 w 4427164"/>
                <a:gd name="connsiteY20" fmla="*/ 955179 h 1908834"/>
                <a:gd name="connsiteX21" fmla="*/ 2219169 w 4427164"/>
                <a:gd name="connsiteY21" fmla="*/ 1194481 h 1908834"/>
                <a:gd name="connsiteX22" fmla="*/ 2117600 w 4427164"/>
                <a:gd name="connsiteY22" fmla="*/ 1194481 h 1908834"/>
                <a:gd name="connsiteX23" fmla="*/ 2117600 w 4427164"/>
                <a:gd name="connsiteY23" fmla="*/ 955179 h 1908834"/>
                <a:gd name="connsiteX24" fmla="*/ 1937059 w 4427164"/>
                <a:gd name="connsiteY24" fmla="*/ 955179 h 1908834"/>
                <a:gd name="connsiteX25" fmla="*/ 1937059 w 4427164"/>
                <a:gd name="connsiteY25" fmla="*/ 1433847 h 1908834"/>
                <a:gd name="connsiteX26" fmla="*/ 1644476 w 4427164"/>
                <a:gd name="connsiteY26" fmla="*/ 1433847 h 1908834"/>
                <a:gd name="connsiteX27" fmla="*/ 1644476 w 4427164"/>
                <a:gd name="connsiteY27" fmla="*/ 1194481 h 1908834"/>
                <a:gd name="connsiteX28" fmla="*/ 1192237 w 4427164"/>
                <a:gd name="connsiteY28" fmla="*/ 1194481 h 1908834"/>
                <a:gd name="connsiteX29" fmla="*/ 1192237 w 4427164"/>
                <a:gd name="connsiteY29" fmla="*/ 1433847 h 1908834"/>
                <a:gd name="connsiteX30" fmla="*/ 740824 w 4427164"/>
                <a:gd name="connsiteY30" fmla="*/ 1433847 h 1908834"/>
                <a:gd name="connsiteX31" fmla="*/ 740824 w 4427164"/>
                <a:gd name="connsiteY31" fmla="*/ 1673212 h 1908834"/>
                <a:gd name="connsiteX32" fmla="*/ 0 w 4427164"/>
                <a:gd name="connsiteY32" fmla="*/ 1673212 h 1908834"/>
                <a:gd name="connsiteX33" fmla="*/ 0 w 4427164"/>
                <a:gd name="connsiteY33" fmla="*/ 1908835 h 1908834"/>
                <a:gd name="connsiteX34" fmla="*/ 4427165 w 4427164"/>
                <a:gd name="connsiteY34" fmla="*/ 1908835 h 1908834"/>
                <a:gd name="connsiteX35" fmla="*/ 4427165 w 4427164"/>
                <a:gd name="connsiteY35" fmla="*/ 127 h 1908834"/>
                <a:gd name="connsiteX36" fmla="*/ 4016316 w 4427164"/>
                <a:gd name="connsiteY36" fmla="*/ 127 h 1908834"/>
                <a:gd name="connsiteX37" fmla="*/ 2224374 w 4427164"/>
                <a:gd name="connsiteY37" fmla="*/ 1673149 h 1908834"/>
                <a:gd name="connsiteX38" fmla="*/ 2122805 w 4427164"/>
                <a:gd name="connsiteY38" fmla="*/ 1673149 h 1908834"/>
                <a:gd name="connsiteX39" fmla="*/ 2122805 w 4427164"/>
                <a:gd name="connsiteY39" fmla="*/ 1433783 h 1908834"/>
                <a:gd name="connsiteX40" fmla="*/ 2224374 w 4427164"/>
                <a:gd name="connsiteY40" fmla="*/ 1433783 h 1908834"/>
                <a:gd name="connsiteX41" fmla="*/ 2224374 w 4427164"/>
                <a:gd name="connsiteY41" fmla="*/ 1673149 h 1908834"/>
                <a:gd name="connsiteX42" fmla="*/ 2530353 w 4427164"/>
                <a:gd name="connsiteY42" fmla="*/ 1433783 h 1908834"/>
                <a:gd name="connsiteX43" fmla="*/ 2349813 w 4427164"/>
                <a:gd name="connsiteY43" fmla="*/ 1433783 h 1908834"/>
                <a:gd name="connsiteX44" fmla="*/ 2349813 w 4427164"/>
                <a:gd name="connsiteY44" fmla="*/ 1194417 h 1908834"/>
                <a:gd name="connsiteX45" fmla="*/ 2530353 w 4427164"/>
                <a:gd name="connsiteY45" fmla="*/ 1194417 h 1908834"/>
                <a:gd name="connsiteX46" fmla="*/ 2530353 w 4427164"/>
                <a:gd name="connsiteY46" fmla="*/ 1433783 h 1908834"/>
                <a:gd name="connsiteX47" fmla="*/ 4016380 w 4427164"/>
                <a:gd name="connsiteY47" fmla="*/ 955115 h 1908834"/>
                <a:gd name="connsiteX48" fmla="*/ 3851709 w 4427164"/>
                <a:gd name="connsiteY48" fmla="*/ 955115 h 1908834"/>
                <a:gd name="connsiteX49" fmla="*/ 3851709 w 4427164"/>
                <a:gd name="connsiteY49" fmla="*/ 718034 h 1908834"/>
                <a:gd name="connsiteX50" fmla="*/ 4016380 w 4427164"/>
                <a:gd name="connsiteY50" fmla="*/ 718034 h 1908834"/>
                <a:gd name="connsiteX51" fmla="*/ 4016380 w 4427164"/>
                <a:gd name="connsiteY51" fmla="*/ 955115 h 190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427164" h="1908834">
                  <a:moveTo>
                    <a:pt x="4016443" y="0"/>
                  </a:moveTo>
                  <a:lnTo>
                    <a:pt x="4016443" y="239366"/>
                  </a:lnTo>
                  <a:lnTo>
                    <a:pt x="4196285" y="239366"/>
                  </a:lnTo>
                  <a:lnTo>
                    <a:pt x="4196285" y="478731"/>
                  </a:lnTo>
                  <a:lnTo>
                    <a:pt x="3827587" y="478731"/>
                  </a:lnTo>
                  <a:lnTo>
                    <a:pt x="3827587" y="239366"/>
                  </a:lnTo>
                  <a:lnTo>
                    <a:pt x="3376174" y="239366"/>
                  </a:lnTo>
                  <a:lnTo>
                    <a:pt x="3376174" y="478731"/>
                  </a:lnTo>
                  <a:lnTo>
                    <a:pt x="3259305" y="478731"/>
                  </a:lnTo>
                  <a:lnTo>
                    <a:pt x="3259305" y="239366"/>
                  </a:lnTo>
                  <a:lnTo>
                    <a:pt x="3157736" y="239366"/>
                  </a:lnTo>
                  <a:lnTo>
                    <a:pt x="3157736" y="478731"/>
                  </a:lnTo>
                  <a:lnTo>
                    <a:pt x="2925459" y="478731"/>
                  </a:lnTo>
                  <a:lnTo>
                    <a:pt x="2925459" y="718097"/>
                  </a:lnTo>
                  <a:lnTo>
                    <a:pt x="3040740" y="718097"/>
                  </a:lnTo>
                  <a:lnTo>
                    <a:pt x="3040740" y="955179"/>
                  </a:lnTo>
                  <a:lnTo>
                    <a:pt x="2772152" y="955179"/>
                  </a:lnTo>
                  <a:lnTo>
                    <a:pt x="2772152" y="1194481"/>
                  </a:lnTo>
                  <a:lnTo>
                    <a:pt x="2670582" y="1194481"/>
                  </a:lnTo>
                  <a:lnTo>
                    <a:pt x="2670582" y="955179"/>
                  </a:lnTo>
                  <a:lnTo>
                    <a:pt x="2219169" y="955179"/>
                  </a:lnTo>
                  <a:lnTo>
                    <a:pt x="2219169" y="1194481"/>
                  </a:lnTo>
                  <a:lnTo>
                    <a:pt x="2117600" y="1194481"/>
                  </a:lnTo>
                  <a:lnTo>
                    <a:pt x="2117600" y="955179"/>
                  </a:lnTo>
                  <a:lnTo>
                    <a:pt x="1937059" y="955179"/>
                  </a:lnTo>
                  <a:lnTo>
                    <a:pt x="1937059" y="1433847"/>
                  </a:lnTo>
                  <a:lnTo>
                    <a:pt x="1644476" y="1433847"/>
                  </a:lnTo>
                  <a:lnTo>
                    <a:pt x="1644476" y="1194481"/>
                  </a:lnTo>
                  <a:lnTo>
                    <a:pt x="1192237" y="1194481"/>
                  </a:lnTo>
                  <a:lnTo>
                    <a:pt x="1192237" y="1433847"/>
                  </a:lnTo>
                  <a:lnTo>
                    <a:pt x="740824" y="1433847"/>
                  </a:lnTo>
                  <a:lnTo>
                    <a:pt x="740824" y="1673212"/>
                  </a:lnTo>
                  <a:lnTo>
                    <a:pt x="0" y="1673212"/>
                  </a:lnTo>
                  <a:lnTo>
                    <a:pt x="0" y="1908835"/>
                  </a:lnTo>
                  <a:lnTo>
                    <a:pt x="4427165" y="1908835"/>
                  </a:lnTo>
                  <a:lnTo>
                    <a:pt x="4427165" y="127"/>
                  </a:lnTo>
                  <a:lnTo>
                    <a:pt x="4016316" y="127"/>
                  </a:lnTo>
                  <a:close/>
                  <a:moveTo>
                    <a:pt x="2224374" y="1673149"/>
                  </a:moveTo>
                  <a:lnTo>
                    <a:pt x="2122805" y="1673149"/>
                  </a:lnTo>
                  <a:lnTo>
                    <a:pt x="2122805" y="1433783"/>
                  </a:lnTo>
                  <a:lnTo>
                    <a:pt x="2224374" y="1433783"/>
                  </a:lnTo>
                  <a:lnTo>
                    <a:pt x="2224374" y="1673149"/>
                  </a:lnTo>
                  <a:close/>
                  <a:moveTo>
                    <a:pt x="2530353" y="1433783"/>
                  </a:moveTo>
                  <a:lnTo>
                    <a:pt x="2349813" y="1433783"/>
                  </a:lnTo>
                  <a:lnTo>
                    <a:pt x="2349813" y="1194417"/>
                  </a:lnTo>
                  <a:lnTo>
                    <a:pt x="2530353" y="1194417"/>
                  </a:lnTo>
                  <a:lnTo>
                    <a:pt x="2530353" y="1433783"/>
                  </a:lnTo>
                  <a:close/>
                  <a:moveTo>
                    <a:pt x="4016380" y="955115"/>
                  </a:moveTo>
                  <a:lnTo>
                    <a:pt x="3851709" y="955115"/>
                  </a:lnTo>
                  <a:lnTo>
                    <a:pt x="3851709" y="718034"/>
                  </a:lnTo>
                  <a:lnTo>
                    <a:pt x="4016380" y="718034"/>
                  </a:lnTo>
                  <a:lnTo>
                    <a:pt x="4016380" y="955115"/>
                  </a:lnTo>
                  <a:close/>
                </a:path>
              </a:pathLst>
            </a:custGeom>
            <a:grp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3666A"/>
                </a:solidFill>
                <a:effectLst/>
                <a:uLnTx/>
                <a:uFillTx/>
                <a:latin typeface="Prelo Bold Italic"/>
                <a:ea typeface="楷体"/>
                <a:cs typeface="+mn-cs"/>
              </a:endParaRPr>
            </a:p>
          </p:txBody>
        </p:sp>
      </p:grpSp>
      <p:grpSp>
        <p:nvGrpSpPr>
          <p:cNvPr id="8" name="组合 7">
            <a:extLst>
              <a:ext uri="{FF2B5EF4-FFF2-40B4-BE49-F238E27FC236}">
                <a16:creationId xmlns:a16="http://schemas.microsoft.com/office/drawing/2014/main" id="{84809073-6060-B01F-4C4C-3583FB97ADDC}"/>
              </a:ext>
            </a:extLst>
          </p:cNvPr>
          <p:cNvGrpSpPr/>
          <p:nvPr userDrawn="1"/>
        </p:nvGrpSpPr>
        <p:grpSpPr>
          <a:xfrm>
            <a:off x="0" y="0"/>
            <a:ext cx="12192000" cy="5229224"/>
            <a:chOff x="4696340" y="-309755"/>
            <a:chExt cx="9495663" cy="4072753"/>
          </a:xfrm>
        </p:grpSpPr>
        <p:sp>
          <p:nvSpPr>
            <p:cNvPr id="9" name="矩形 8">
              <a:extLst>
                <a:ext uri="{FF2B5EF4-FFF2-40B4-BE49-F238E27FC236}">
                  <a16:creationId xmlns:a16="http://schemas.microsoft.com/office/drawing/2014/main" id="{EA01B492-20D8-3AD1-F00A-5E70530BEBA3}"/>
                </a:ext>
              </a:extLst>
            </p:cNvPr>
            <p:cNvSpPr/>
            <p:nvPr/>
          </p:nvSpPr>
          <p:spPr>
            <a:xfrm>
              <a:off x="4696340" y="2360904"/>
              <a:ext cx="1277740" cy="365900"/>
            </a:xfrm>
            <a:prstGeom prst="rect">
              <a:avLst/>
            </a:prstGeom>
            <a:solidFill>
              <a:schemeClr val="bg1">
                <a:alpha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noProof="0">
                <a:ln>
                  <a:noFill/>
                </a:ln>
                <a:solidFill>
                  <a:srgbClr val="FFFFFF"/>
                </a:solidFill>
                <a:effectLst/>
                <a:uLnTx/>
                <a:uFillTx/>
                <a:latin typeface="Arial" panose="020B0604020202020204" pitchFamily="34" charset="0"/>
                <a:ea typeface="黑体" panose="02010609060101010101" pitchFamily="49" charset="-122"/>
                <a:cs typeface="+mn-ea"/>
                <a:sym typeface="+mn-lt"/>
              </a:endParaRPr>
            </a:p>
          </p:txBody>
        </p:sp>
        <p:sp>
          <p:nvSpPr>
            <p:cNvPr id="10" name="矩形 9">
              <a:extLst>
                <a:ext uri="{FF2B5EF4-FFF2-40B4-BE49-F238E27FC236}">
                  <a16:creationId xmlns:a16="http://schemas.microsoft.com/office/drawing/2014/main" id="{4DF1814A-90ED-29B2-F114-AF366254E382}"/>
                </a:ext>
              </a:extLst>
            </p:cNvPr>
            <p:cNvSpPr/>
            <p:nvPr/>
          </p:nvSpPr>
          <p:spPr>
            <a:xfrm>
              <a:off x="5041299" y="2726804"/>
              <a:ext cx="9150703" cy="103619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noProof="0">
                <a:ln>
                  <a:noFill/>
                </a:ln>
                <a:solidFill>
                  <a:srgbClr val="FFFFFF"/>
                </a:solidFill>
                <a:effectLst/>
                <a:uLnTx/>
                <a:uFillTx/>
                <a:latin typeface="Arial" panose="020B0604020202020204" pitchFamily="34" charset="0"/>
                <a:ea typeface="黑体" panose="02010609060101010101" pitchFamily="49" charset="-122"/>
                <a:cs typeface="+mn-cs"/>
              </a:endParaRPr>
            </a:p>
          </p:txBody>
        </p:sp>
        <p:sp>
          <p:nvSpPr>
            <p:cNvPr id="12" name="矩形 11">
              <a:extLst>
                <a:ext uri="{FF2B5EF4-FFF2-40B4-BE49-F238E27FC236}">
                  <a16:creationId xmlns:a16="http://schemas.microsoft.com/office/drawing/2014/main" id="{4DA07E4C-36FF-1507-3E3E-6F1E57E9FB8A}"/>
                </a:ext>
              </a:extLst>
            </p:cNvPr>
            <p:cNvSpPr/>
            <p:nvPr/>
          </p:nvSpPr>
          <p:spPr>
            <a:xfrm>
              <a:off x="5037516" y="2726804"/>
              <a:ext cx="936564" cy="103619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noProof="0">
                <a:ln>
                  <a:noFill/>
                </a:ln>
                <a:solidFill>
                  <a:srgbClr val="FFFFFF"/>
                </a:solidFill>
                <a:effectLst/>
                <a:uLnTx/>
                <a:uFillTx/>
                <a:latin typeface="Arial" panose="020B0604020202020204" pitchFamily="34" charset="0"/>
                <a:ea typeface="黑体" panose="02010609060101010101" pitchFamily="49" charset="-122"/>
                <a:cs typeface="+mn-cs"/>
              </a:endParaRPr>
            </a:p>
          </p:txBody>
        </p:sp>
        <p:sp>
          <p:nvSpPr>
            <p:cNvPr id="13" name="标题 8">
              <a:extLst>
                <a:ext uri="{FF2B5EF4-FFF2-40B4-BE49-F238E27FC236}">
                  <a16:creationId xmlns:a16="http://schemas.microsoft.com/office/drawing/2014/main" id="{82E40A6F-57EF-6DB4-BBE3-67CBD81BB610}"/>
                </a:ext>
              </a:extLst>
            </p:cNvPr>
            <p:cNvSpPr txBox="1">
              <a:spLocks/>
            </p:cNvSpPr>
            <p:nvPr/>
          </p:nvSpPr>
          <p:spPr>
            <a:xfrm>
              <a:off x="5142874" y="2935230"/>
              <a:ext cx="725847" cy="619341"/>
            </a:xfrm>
            <a:prstGeom prst="rect">
              <a:avLst/>
            </a:prstGeom>
            <a:noFill/>
            <a:ln>
              <a:noFill/>
            </a:ln>
          </p:spPr>
          <p:txBody>
            <a:bodyPr vert="horz" wrap="none" lIns="91440" tIns="45720" rIns="91440" bIns="45720" rtlCol="0" anchor="b">
              <a:noAutofit/>
            </a:bodyPr>
            <a:lstStyle>
              <a:lvl1pPr algn="l" defTabSz="914400" rtl="0" eaLnBrk="1" latinLnBrk="0" hangingPunct="1">
                <a:lnSpc>
                  <a:spcPct val="100000"/>
                </a:lnSpc>
                <a:spcBef>
                  <a:spcPct val="0"/>
                </a:spcBef>
                <a:buNone/>
                <a:defRPr sz="2400" kern="1200">
                  <a:solidFill>
                    <a:srgbClr val="333333"/>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zh-CN" altLang="en-US" sz="4800" b="1" i="0" u="none" strike="noStrike" kern="1200" cap="none" spc="0" normalizeH="0" noProof="0" dirty="0">
                <a:ln>
                  <a:noFill/>
                </a:ln>
                <a:solidFill>
                  <a:srgbClr val="FFFFFF"/>
                </a:solidFill>
                <a:effectLst/>
                <a:uLnTx/>
                <a:uFillTx/>
                <a:latin typeface="Arial" panose="020B0604020202020204" pitchFamily="34" charset="0"/>
                <a:ea typeface="黑体" panose="02010609060101010101" pitchFamily="49" charset="-122"/>
                <a:cs typeface="+mn-ea"/>
              </a:endParaRPr>
            </a:p>
          </p:txBody>
        </p:sp>
        <p:sp>
          <p:nvSpPr>
            <p:cNvPr id="14" name="矩形 13">
              <a:extLst>
                <a:ext uri="{FF2B5EF4-FFF2-40B4-BE49-F238E27FC236}">
                  <a16:creationId xmlns:a16="http://schemas.microsoft.com/office/drawing/2014/main" id="{8CB5383E-D1B1-0130-EAAC-196C59936186}"/>
                </a:ext>
              </a:extLst>
            </p:cNvPr>
            <p:cNvSpPr/>
            <p:nvPr/>
          </p:nvSpPr>
          <p:spPr>
            <a:xfrm>
              <a:off x="14049568" y="2726804"/>
              <a:ext cx="142435" cy="103619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noProof="0">
                <a:ln>
                  <a:noFill/>
                </a:ln>
                <a:solidFill>
                  <a:srgbClr val="FFFFFF"/>
                </a:solidFill>
                <a:effectLst/>
                <a:uLnTx/>
                <a:uFillTx/>
                <a:latin typeface="Arial" panose="020B0604020202020204" pitchFamily="34" charset="0"/>
                <a:ea typeface="黑体" panose="02010609060101010101" pitchFamily="49" charset="-122"/>
                <a:cs typeface="+mn-cs"/>
              </a:endParaRPr>
            </a:p>
          </p:txBody>
        </p:sp>
        <p:sp>
          <p:nvSpPr>
            <p:cNvPr id="15" name="矩形 14">
              <a:extLst>
                <a:ext uri="{FF2B5EF4-FFF2-40B4-BE49-F238E27FC236}">
                  <a16:creationId xmlns:a16="http://schemas.microsoft.com/office/drawing/2014/main" id="{BDE844C1-2F75-5FDE-F52A-3344F691165D}"/>
                </a:ext>
              </a:extLst>
            </p:cNvPr>
            <p:cNvSpPr/>
            <p:nvPr/>
          </p:nvSpPr>
          <p:spPr>
            <a:xfrm>
              <a:off x="5037514" y="-309755"/>
              <a:ext cx="936565" cy="3036557"/>
            </a:xfrm>
            <a:prstGeom prst="rect">
              <a:avLst/>
            </a:prstGeom>
            <a:solidFill>
              <a:schemeClr val="bg1">
                <a:alpha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noProof="0">
                <a:ln>
                  <a:noFill/>
                </a:ln>
                <a:solidFill>
                  <a:srgbClr val="FFFFFF"/>
                </a:solidFill>
                <a:effectLst/>
                <a:uLnTx/>
                <a:uFillTx/>
                <a:latin typeface="Arial" panose="020B0604020202020204" pitchFamily="34" charset="0"/>
                <a:ea typeface="黑体" panose="02010609060101010101" pitchFamily="49" charset="-122"/>
                <a:cs typeface="+mn-ea"/>
                <a:sym typeface="+mn-lt"/>
              </a:endParaRPr>
            </a:p>
          </p:txBody>
        </p:sp>
        <p:sp>
          <p:nvSpPr>
            <p:cNvPr id="16" name="矩形 15">
              <a:extLst>
                <a:ext uri="{FF2B5EF4-FFF2-40B4-BE49-F238E27FC236}">
                  <a16:creationId xmlns:a16="http://schemas.microsoft.com/office/drawing/2014/main" id="{6F7C792B-A5F2-C252-C205-55EF5109CEC1}"/>
                </a:ext>
              </a:extLst>
            </p:cNvPr>
            <p:cNvSpPr/>
            <p:nvPr/>
          </p:nvSpPr>
          <p:spPr>
            <a:xfrm>
              <a:off x="11984469" y="2726804"/>
              <a:ext cx="2207534" cy="1036194"/>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noProof="0">
                <a:ln>
                  <a:noFill/>
                </a:ln>
                <a:solidFill>
                  <a:srgbClr val="FFFFFF"/>
                </a:solidFill>
                <a:effectLst/>
                <a:uLnTx/>
                <a:uFillTx/>
                <a:latin typeface="Arial" panose="020B0604020202020204" pitchFamily="34" charset="0"/>
                <a:ea typeface="黑体" panose="02010609060101010101" pitchFamily="49" charset="-122"/>
                <a:cs typeface="+mn-cs"/>
              </a:endParaRPr>
            </a:p>
          </p:txBody>
        </p:sp>
      </p:grpSp>
      <p:pic>
        <p:nvPicPr>
          <p:cNvPr id="17" name="图形 16">
            <a:extLst>
              <a:ext uri="{FF2B5EF4-FFF2-40B4-BE49-F238E27FC236}">
                <a16:creationId xmlns:a16="http://schemas.microsoft.com/office/drawing/2014/main" id="{013145D5-1188-55E5-D881-C8CB09D8AE48}"/>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60400" y="6084577"/>
            <a:ext cx="1965381" cy="368155"/>
          </a:xfrm>
          <a:prstGeom prst="rect">
            <a:avLst/>
          </a:prstGeom>
        </p:spPr>
      </p:pic>
      <p:sp>
        <p:nvSpPr>
          <p:cNvPr id="18" name="文本框 17">
            <a:extLst>
              <a:ext uri="{FF2B5EF4-FFF2-40B4-BE49-F238E27FC236}">
                <a16:creationId xmlns:a16="http://schemas.microsoft.com/office/drawing/2014/main" id="{6022A90C-53CC-5651-B486-9528B7DE7401}"/>
              </a:ext>
            </a:extLst>
          </p:cNvPr>
          <p:cNvSpPr txBox="1"/>
          <p:nvPr userDrawn="1"/>
        </p:nvSpPr>
        <p:spPr>
          <a:xfrm>
            <a:off x="9357626" y="6337316"/>
            <a:ext cx="2499402"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 </a:t>
            </a:r>
            <a:r>
              <a:rPr kumimoji="0" lang="zh-CN" altLang="en-US" sz="900" b="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容诚会计师事务所（特殊普通合伙），</a:t>
            </a:r>
            <a:r>
              <a:rPr kumimoji="0" lang="en-US" altLang="zh-CN" sz="900" b="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2026</a:t>
            </a:r>
          </a:p>
        </p:txBody>
      </p:sp>
      <p:sp>
        <p:nvSpPr>
          <p:cNvPr id="20" name="文本占位符 19">
            <a:extLst>
              <a:ext uri="{FF2B5EF4-FFF2-40B4-BE49-F238E27FC236}">
                <a16:creationId xmlns:a16="http://schemas.microsoft.com/office/drawing/2014/main" id="{00203ECF-1BA1-5E17-6378-34712C367150}"/>
              </a:ext>
            </a:extLst>
          </p:cNvPr>
          <p:cNvSpPr>
            <a:spLocks noGrp="1"/>
          </p:cNvSpPr>
          <p:nvPr>
            <p:ph type="body" sz="quarter" idx="10" hasCustomPrompt="1"/>
          </p:nvPr>
        </p:nvSpPr>
        <p:spPr>
          <a:xfrm>
            <a:off x="505905" y="4095699"/>
            <a:ext cx="1066800" cy="936625"/>
          </a:xfrm>
        </p:spPr>
        <p:txBody>
          <a:bodyPr anchor="ctr"/>
          <a:lstStyle>
            <a:lvl1pPr algn="ctr">
              <a:defRPr sz="4800" b="1" baseline="0">
                <a:solidFill>
                  <a:schemeClr val="bg1"/>
                </a:solidFill>
                <a:latin typeface="Arial" panose="020B0604020202020204" pitchFamily="34" charset="0"/>
                <a:ea typeface="黑体" panose="02010609060101010101" pitchFamily="49" charset="-122"/>
              </a:defRPr>
            </a:lvl1pPr>
          </a:lstStyle>
          <a:p>
            <a:pPr lvl="0"/>
            <a:r>
              <a:rPr lang="en-US" altLang="zh-CN" dirty="0"/>
              <a:t>01</a:t>
            </a:r>
            <a:endParaRPr lang="zh-CN" altLang="en-US" dirty="0"/>
          </a:p>
        </p:txBody>
      </p:sp>
      <p:sp>
        <p:nvSpPr>
          <p:cNvPr id="21" name="文本占位符 19">
            <a:extLst>
              <a:ext uri="{FF2B5EF4-FFF2-40B4-BE49-F238E27FC236}">
                <a16:creationId xmlns:a16="http://schemas.microsoft.com/office/drawing/2014/main" id="{C37EB91D-60C8-D3DA-3AD8-D17AD5E24EC4}"/>
              </a:ext>
            </a:extLst>
          </p:cNvPr>
          <p:cNvSpPr>
            <a:spLocks noGrp="1"/>
          </p:cNvSpPr>
          <p:nvPr>
            <p:ph type="body" sz="quarter" idx="11" hasCustomPrompt="1"/>
          </p:nvPr>
        </p:nvSpPr>
        <p:spPr>
          <a:xfrm>
            <a:off x="1944548" y="4095699"/>
            <a:ext cx="7413078" cy="936625"/>
          </a:xfrm>
        </p:spPr>
        <p:txBody>
          <a:bodyPr anchor="ctr"/>
          <a:lstStyle>
            <a:lvl1pPr algn="l">
              <a:defRPr sz="4000" b="1" baseline="0">
                <a:solidFill>
                  <a:schemeClr val="tx2"/>
                </a:solidFill>
                <a:latin typeface="Arial" panose="020B0604020202020204" pitchFamily="34" charset="0"/>
                <a:ea typeface="黑体" panose="02010609060101010101" pitchFamily="49" charset="-122"/>
              </a:defRPr>
            </a:lvl1pPr>
          </a:lstStyle>
          <a:p>
            <a:pPr lvl="0"/>
            <a:r>
              <a:rPr lang="zh-CN" altLang="en-US" dirty="0"/>
              <a:t>添加章节内容</a:t>
            </a:r>
          </a:p>
        </p:txBody>
      </p:sp>
    </p:spTree>
    <p:extLst>
      <p:ext uri="{BB962C8B-B14F-4D97-AF65-F5344CB8AC3E}">
        <p14:creationId xmlns:p14="http://schemas.microsoft.com/office/powerpoint/2010/main" val="2399343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简历">
    <p:spTree>
      <p:nvGrpSpPr>
        <p:cNvPr id="1" name=""/>
        <p:cNvGrpSpPr/>
        <p:nvPr/>
      </p:nvGrpSpPr>
      <p:grpSpPr>
        <a:xfrm>
          <a:off x="0" y="0"/>
          <a:ext cx="0" cy="0"/>
          <a:chOff x="0" y="0"/>
          <a:chExt cx="0" cy="0"/>
        </a:xfrm>
      </p:grpSpPr>
      <p:pic>
        <p:nvPicPr>
          <p:cNvPr id="40" name="图片 39">
            <a:extLst>
              <a:ext uri="{FF2B5EF4-FFF2-40B4-BE49-F238E27FC236}">
                <a16:creationId xmlns:a16="http://schemas.microsoft.com/office/drawing/2014/main" id="{208EB07D-866D-D2A1-39FF-E90DC954A3E3}"/>
              </a:ext>
            </a:extLst>
          </p:cNvPr>
          <p:cNvPicPr>
            <a:picLocks noChangeAspect="1"/>
          </p:cNvPicPr>
          <p:nvPr userDrawn="1"/>
        </p:nvPicPr>
        <p:blipFill>
          <a:blip r:embed="rId2" cstate="print">
            <a:alphaModFix amt="35000"/>
          </a:blip>
          <a:srcRect l="16769" t="1637" r="9937" b="24797"/>
          <a:stretch>
            <a:fillRect/>
          </a:stretch>
        </p:blipFill>
        <p:spPr>
          <a:xfrm>
            <a:off x="1" y="0"/>
            <a:ext cx="12192000" cy="6858000"/>
          </a:xfrm>
          <a:prstGeom prst="rect">
            <a:avLst/>
          </a:prstGeom>
        </p:spPr>
      </p:pic>
      <p:sp>
        <p:nvSpPr>
          <p:cNvPr id="2" name="灯片编号占位符 3">
            <a:extLst>
              <a:ext uri="{FF2B5EF4-FFF2-40B4-BE49-F238E27FC236}">
                <a16:creationId xmlns:a16="http://schemas.microsoft.com/office/drawing/2014/main" id="{D097A429-3ACF-F399-73BA-E25A6BBB732E}"/>
              </a:ext>
            </a:extLst>
          </p:cNvPr>
          <p:cNvSpPr>
            <a:spLocks noGrp="1"/>
          </p:cNvSpPr>
          <p:nvPr>
            <p:ph type="sldNum" sz="quarter" idx="10"/>
          </p:nvPr>
        </p:nvSpPr>
        <p:spPr>
          <a:xfrm>
            <a:off x="9754108" y="6492240"/>
            <a:ext cx="1764792" cy="137160"/>
          </a:xfrm>
        </p:spPr>
        <p:txBody>
          <a:bodyPr/>
          <a:lstStyle>
            <a:lvl1pPr algn="r">
              <a:defRPr sz="900" baseline="0">
                <a:latin typeface="Arial" panose="020B0604020202020204" pitchFamily="34" charset="0"/>
                <a:ea typeface="黑体" panose="02010609060101010101" pitchFamily="49" charset="-122"/>
              </a:defRPr>
            </a:lvl1pPr>
          </a:lstStyle>
          <a:p>
            <a:fld id="{7870704B-CE94-48CC-AF30-84932A1262A7}" type="slidenum">
              <a:rPr lang="en-GB" smtClean="0"/>
              <a:pPr/>
              <a:t>‹#›</a:t>
            </a:fld>
            <a:endParaRPr lang="en-GB"/>
          </a:p>
        </p:txBody>
      </p:sp>
      <p:sp>
        <p:nvSpPr>
          <p:cNvPr id="3" name="Presentation Footer">
            <a:extLst>
              <a:ext uri="{FF2B5EF4-FFF2-40B4-BE49-F238E27FC236}">
                <a16:creationId xmlns:a16="http://schemas.microsoft.com/office/drawing/2014/main" id="{31AD0A4D-5130-D4B2-7A02-90BFE57843F0}"/>
              </a:ext>
            </a:extLst>
          </p:cNvPr>
          <p:cNvSpPr>
            <a:spLocks noGrp="1"/>
          </p:cNvSpPr>
          <p:nvPr>
            <p:ph type="ftr" sz="quarter" idx="13"/>
          </p:nvPr>
        </p:nvSpPr>
        <p:spPr>
          <a:xfrm>
            <a:off x="673100" y="6478206"/>
            <a:ext cx="4800179" cy="151194"/>
          </a:xfrm>
          <a:prstGeom prst="rect">
            <a:avLst/>
          </a:prstGeom>
        </p:spPr>
        <p:txBody>
          <a:bodyPr lIns="0" tIns="0" rIns="0" bIns="0"/>
          <a:lstStyle>
            <a:lvl1pPr algn="l">
              <a:defRPr sz="900" baseline="0">
                <a:latin typeface="Arial" panose="020B0604020202020204" pitchFamily="34" charset="0"/>
                <a:ea typeface="黑体" panose="02010609060101010101" pitchFamily="49" charset="-122"/>
              </a:defRPr>
            </a:lvl1pPr>
          </a:lstStyle>
          <a:p>
            <a:r>
              <a:rPr lang="en-US" altLang="zh-CN"/>
              <a:t>© </a:t>
            </a:r>
            <a:r>
              <a:rPr lang="zh-CN" altLang="en-US"/>
              <a:t>容诚会计师事务所（特殊普通合伙），</a:t>
            </a:r>
            <a:r>
              <a:rPr lang="en-US" altLang="zh-CN"/>
              <a:t>2026</a:t>
            </a:r>
            <a:endParaRPr lang="zh-CN" altLang="en-US"/>
          </a:p>
        </p:txBody>
      </p:sp>
      <p:sp>
        <p:nvSpPr>
          <p:cNvPr id="4" name="Title 1">
            <a:extLst>
              <a:ext uri="{FF2B5EF4-FFF2-40B4-BE49-F238E27FC236}">
                <a16:creationId xmlns:a16="http://schemas.microsoft.com/office/drawing/2014/main" id="{9304B535-663A-FD5A-C4BE-46FFD8DCA61D}"/>
              </a:ext>
            </a:extLst>
          </p:cNvPr>
          <p:cNvSpPr>
            <a:spLocks noGrp="1"/>
          </p:cNvSpPr>
          <p:nvPr>
            <p:ph type="title" hasCustomPrompt="1"/>
          </p:nvPr>
        </p:nvSpPr>
        <p:spPr>
          <a:xfrm>
            <a:off x="660400" y="330400"/>
            <a:ext cx="10858500" cy="596911"/>
          </a:xfrm>
        </p:spPr>
        <p:txBody>
          <a:bodyPr>
            <a:noAutofit/>
          </a:bodyPr>
          <a:lstStyle>
            <a:lvl1pPr>
              <a:defRPr sz="3600" b="1" baseline="0">
                <a:solidFill>
                  <a:srgbClr val="333333"/>
                </a:solidFill>
                <a:latin typeface="Arial" panose="020B0604020202020204" pitchFamily="34" charset="0"/>
                <a:ea typeface="黑体" panose="02010609060101010101" pitchFamily="49" charset="-122"/>
              </a:defRPr>
            </a:lvl1pPr>
          </a:lstStyle>
          <a:p>
            <a:r>
              <a:rPr lang="zh-CN" altLang="en-US" dirty="0"/>
              <a:t>核心团队简历</a:t>
            </a:r>
          </a:p>
        </p:txBody>
      </p:sp>
      <p:grpSp>
        <p:nvGrpSpPr>
          <p:cNvPr id="5" name="组合 1">
            <a:extLst>
              <a:ext uri="{FF2B5EF4-FFF2-40B4-BE49-F238E27FC236}">
                <a16:creationId xmlns:a16="http://schemas.microsoft.com/office/drawing/2014/main" id="{C71E52A0-5A95-FAE2-3E0A-3D4BFCB2842A}"/>
              </a:ext>
            </a:extLst>
          </p:cNvPr>
          <p:cNvGrpSpPr/>
          <p:nvPr userDrawn="1"/>
        </p:nvGrpSpPr>
        <p:grpSpPr>
          <a:xfrm>
            <a:off x="0" y="447875"/>
            <a:ext cx="407988" cy="248569"/>
            <a:chOff x="1542824" y="1640663"/>
            <a:chExt cx="817198" cy="273425"/>
          </a:xfrm>
        </p:grpSpPr>
        <p:sp>
          <p:nvSpPr>
            <p:cNvPr id="6" name="矩形 2">
              <a:extLst>
                <a:ext uri="{FF2B5EF4-FFF2-40B4-BE49-F238E27FC236}">
                  <a16:creationId xmlns:a16="http://schemas.microsoft.com/office/drawing/2014/main" id="{02CA061A-2EC8-00A8-8F1B-CF655FF852A8}"/>
                </a:ext>
              </a:extLst>
            </p:cNvPr>
            <p:cNvSpPr/>
            <p:nvPr/>
          </p:nvSpPr>
          <p:spPr>
            <a:xfrm>
              <a:off x="1542824" y="1640663"/>
              <a:ext cx="62535" cy="273425"/>
            </a:xfrm>
            <a:prstGeom prst="rect">
              <a:avLst/>
            </a:prstGeom>
            <a:solidFill>
              <a:srgbClr val="8D8D8E"/>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7" name="矩形 4">
              <a:extLst>
                <a:ext uri="{FF2B5EF4-FFF2-40B4-BE49-F238E27FC236}">
                  <a16:creationId xmlns:a16="http://schemas.microsoft.com/office/drawing/2014/main" id="{1F79AC54-4ECD-9842-A91E-A86AE088E970}"/>
                </a:ext>
              </a:extLst>
            </p:cNvPr>
            <p:cNvSpPr/>
            <p:nvPr/>
          </p:nvSpPr>
          <p:spPr>
            <a:xfrm>
              <a:off x="1634970" y="1640663"/>
              <a:ext cx="165462" cy="273425"/>
            </a:xfrm>
            <a:prstGeom prst="rect">
              <a:avLst/>
            </a:prstGeom>
            <a:solidFill>
              <a:srgbClr val="45B035"/>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8" name="矩形 5">
              <a:extLst>
                <a:ext uri="{FF2B5EF4-FFF2-40B4-BE49-F238E27FC236}">
                  <a16:creationId xmlns:a16="http://schemas.microsoft.com/office/drawing/2014/main" id="{BEA2FE14-CA4B-8D33-98B0-A8E2451857F2}"/>
                </a:ext>
              </a:extLst>
            </p:cNvPr>
            <p:cNvSpPr/>
            <p:nvPr/>
          </p:nvSpPr>
          <p:spPr>
            <a:xfrm>
              <a:off x="1840547" y="1640663"/>
              <a:ext cx="519475" cy="273425"/>
            </a:xfrm>
            <a:prstGeom prst="rect">
              <a:avLst/>
            </a:prstGeom>
            <a:solidFill>
              <a:srgbClr val="00A3DF"/>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grpSp>
      <p:sp>
        <p:nvSpPr>
          <p:cNvPr id="9" name="矩形 8">
            <a:extLst>
              <a:ext uri="{FF2B5EF4-FFF2-40B4-BE49-F238E27FC236}">
                <a16:creationId xmlns:a16="http://schemas.microsoft.com/office/drawing/2014/main" id="{3133949B-3923-9932-DB56-99A095862052}"/>
              </a:ext>
            </a:extLst>
          </p:cNvPr>
          <p:cNvSpPr/>
          <p:nvPr userDrawn="1"/>
        </p:nvSpPr>
        <p:spPr>
          <a:xfrm>
            <a:off x="0" y="1967696"/>
            <a:ext cx="12192000" cy="4204504"/>
          </a:xfrm>
          <a:prstGeom prst="rect">
            <a:avLst/>
          </a:prstGeom>
          <a:solidFill>
            <a:schemeClr val="bg1">
              <a:alpha val="80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Arial"/>
              <a:ea typeface="楷体"/>
              <a:cs typeface="+mn-cs"/>
            </a:endParaRPr>
          </a:p>
        </p:txBody>
      </p:sp>
      <p:sp>
        <p:nvSpPr>
          <p:cNvPr id="10" name="矩形 9">
            <a:extLst>
              <a:ext uri="{FF2B5EF4-FFF2-40B4-BE49-F238E27FC236}">
                <a16:creationId xmlns:a16="http://schemas.microsoft.com/office/drawing/2014/main" id="{4B44AFFD-86A0-BDAC-4666-C3C015C8CB17}"/>
              </a:ext>
            </a:extLst>
          </p:cNvPr>
          <p:cNvSpPr/>
          <p:nvPr userDrawn="1"/>
        </p:nvSpPr>
        <p:spPr>
          <a:xfrm>
            <a:off x="6563360" y="1498060"/>
            <a:ext cx="5362751" cy="4674140"/>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Arial"/>
              <a:ea typeface="楷体"/>
              <a:cs typeface="+mn-cs"/>
            </a:endParaRPr>
          </a:p>
        </p:txBody>
      </p:sp>
      <p:sp>
        <p:nvSpPr>
          <p:cNvPr id="15" name="medal-variant-with-star_30347">
            <a:extLst>
              <a:ext uri="{FF2B5EF4-FFF2-40B4-BE49-F238E27FC236}">
                <a16:creationId xmlns:a16="http://schemas.microsoft.com/office/drawing/2014/main" id="{1F69008D-4A1E-383C-6805-E9AF307A3312}"/>
              </a:ext>
            </a:extLst>
          </p:cNvPr>
          <p:cNvSpPr/>
          <p:nvPr/>
        </p:nvSpPr>
        <p:spPr>
          <a:xfrm>
            <a:off x="755747" y="3575523"/>
            <a:ext cx="209500" cy="230412"/>
          </a:xfrm>
          <a:custGeom>
            <a:avLst/>
            <a:gdLst>
              <a:gd name="connsiteX0" fmla="*/ 458312 w 547887"/>
              <a:gd name="connsiteY0" fmla="*/ 414273 h 602581"/>
              <a:gd name="connsiteX1" fmla="*/ 543041 w 547887"/>
              <a:gd name="connsiteY1" fmla="*/ 498842 h 602581"/>
              <a:gd name="connsiteX2" fmla="*/ 547349 w 547887"/>
              <a:gd name="connsiteY2" fmla="*/ 514609 h 602581"/>
              <a:gd name="connsiteX3" fmla="*/ 534424 w 547887"/>
              <a:gd name="connsiteY3" fmla="*/ 526076 h 602581"/>
              <a:gd name="connsiteX4" fmla="*/ 481289 w 547887"/>
              <a:gd name="connsiteY4" fmla="*/ 536109 h 602581"/>
              <a:gd name="connsiteX5" fmla="*/ 471236 w 547887"/>
              <a:gd name="connsiteY5" fmla="*/ 589144 h 602581"/>
              <a:gd name="connsiteX6" fmla="*/ 459748 w 547887"/>
              <a:gd name="connsiteY6" fmla="*/ 602044 h 602581"/>
              <a:gd name="connsiteX7" fmla="*/ 443951 w 547887"/>
              <a:gd name="connsiteY7" fmla="*/ 597744 h 602581"/>
              <a:gd name="connsiteX8" fmla="*/ 333372 w 547887"/>
              <a:gd name="connsiteY8" fmla="*/ 487375 h 602581"/>
              <a:gd name="connsiteX9" fmla="*/ 341989 w 547887"/>
              <a:gd name="connsiteY9" fmla="*/ 480208 h 602581"/>
              <a:gd name="connsiteX10" fmla="*/ 347733 w 547887"/>
              <a:gd name="connsiteY10" fmla="*/ 477341 h 602581"/>
              <a:gd name="connsiteX11" fmla="*/ 396560 w 547887"/>
              <a:gd name="connsiteY11" fmla="*/ 484508 h 602581"/>
              <a:gd name="connsiteX12" fmla="*/ 433898 w 547887"/>
              <a:gd name="connsiteY12" fmla="*/ 475908 h 602581"/>
              <a:gd name="connsiteX13" fmla="*/ 454003 w 547887"/>
              <a:gd name="connsiteY13" fmla="*/ 442941 h 602581"/>
              <a:gd name="connsiteX14" fmla="*/ 88068 w 547887"/>
              <a:gd name="connsiteY14" fmla="*/ 414273 h 602581"/>
              <a:gd name="connsiteX15" fmla="*/ 92373 w 547887"/>
              <a:gd name="connsiteY15" fmla="*/ 442941 h 602581"/>
              <a:gd name="connsiteX16" fmla="*/ 112462 w 547887"/>
              <a:gd name="connsiteY16" fmla="*/ 475908 h 602581"/>
              <a:gd name="connsiteX17" fmla="*/ 149770 w 547887"/>
              <a:gd name="connsiteY17" fmla="*/ 484508 h 602581"/>
              <a:gd name="connsiteX18" fmla="*/ 198558 w 547887"/>
              <a:gd name="connsiteY18" fmla="*/ 477341 h 602581"/>
              <a:gd name="connsiteX19" fmla="*/ 205732 w 547887"/>
              <a:gd name="connsiteY19" fmla="*/ 480208 h 602581"/>
              <a:gd name="connsiteX20" fmla="*/ 212907 w 547887"/>
              <a:gd name="connsiteY20" fmla="*/ 487375 h 602581"/>
              <a:gd name="connsiteX21" fmla="*/ 103853 w 547887"/>
              <a:gd name="connsiteY21" fmla="*/ 597744 h 602581"/>
              <a:gd name="connsiteX22" fmla="*/ 86633 w 547887"/>
              <a:gd name="connsiteY22" fmla="*/ 602044 h 602581"/>
              <a:gd name="connsiteX23" fmla="*/ 76589 w 547887"/>
              <a:gd name="connsiteY23" fmla="*/ 589144 h 602581"/>
              <a:gd name="connsiteX24" fmla="*/ 66545 w 547887"/>
              <a:gd name="connsiteY24" fmla="*/ 536109 h 602581"/>
              <a:gd name="connsiteX25" fmla="*/ 12017 w 547887"/>
              <a:gd name="connsiteY25" fmla="*/ 526076 h 602581"/>
              <a:gd name="connsiteX26" fmla="*/ 538 w 547887"/>
              <a:gd name="connsiteY26" fmla="*/ 514609 h 602581"/>
              <a:gd name="connsiteX27" fmla="*/ 4843 w 547887"/>
              <a:gd name="connsiteY27" fmla="*/ 498842 h 602581"/>
              <a:gd name="connsiteX28" fmla="*/ 273945 w 547887"/>
              <a:gd name="connsiteY28" fmla="*/ 94487 h 602581"/>
              <a:gd name="connsiteX29" fmla="*/ 428321 w 547887"/>
              <a:gd name="connsiteY29" fmla="*/ 249322 h 602581"/>
              <a:gd name="connsiteX30" fmla="*/ 273945 w 547887"/>
              <a:gd name="connsiteY30" fmla="*/ 404157 h 602581"/>
              <a:gd name="connsiteX31" fmla="*/ 119569 w 547887"/>
              <a:gd name="connsiteY31" fmla="*/ 249322 h 602581"/>
              <a:gd name="connsiteX32" fmla="*/ 273945 w 547887"/>
              <a:gd name="connsiteY32" fmla="*/ 94487 h 602581"/>
              <a:gd name="connsiteX33" fmla="*/ 273254 w 547887"/>
              <a:gd name="connsiteY33" fmla="*/ 68790 h 602581"/>
              <a:gd name="connsiteX34" fmla="*/ 92381 w 547887"/>
              <a:gd name="connsiteY34" fmla="*/ 249364 h 602581"/>
              <a:gd name="connsiteX35" fmla="*/ 273254 w 547887"/>
              <a:gd name="connsiteY35" fmla="*/ 431371 h 602581"/>
              <a:gd name="connsiteX36" fmla="*/ 454127 w 547887"/>
              <a:gd name="connsiteY36" fmla="*/ 249364 h 602581"/>
              <a:gd name="connsiteX37" fmla="*/ 273254 w 547887"/>
              <a:gd name="connsiteY37" fmla="*/ 68790 h 602581"/>
              <a:gd name="connsiteX38" fmla="*/ 273254 w 547887"/>
              <a:gd name="connsiteY38" fmla="*/ 0 h 602581"/>
              <a:gd name="connsiteX39" fmla="*/ 293351 w 547887"/>
              <a:gd name="connsiteY39" fmla="*/ 8599 h 602581"/>
              <a:gd name="connsiteX40" fmla="*/ 327803 w 547887"/>
              <a:gd name="connsiteY40" fmla="*/ 42994 h 602581"/>
              <a:gd name="connsiteX41" fmla="*/ 353642 w 547887"/>
              <a:gd name="connsiteY41" fmla="*/ 51592 h 602581"/>
              <a:gd name="connsiteX42" fmla="*/ 399578 w 547887"/>
              <a:gd name="connsiteY42" fmla="*/ 42994 h 602581"/>
              <a:gd name="connsiteX43" fmla="*/ 422546 w 547887"/>
              <a:gd name="connsiteY43" fmla="*/ 48726 h 602581"/>
              <a:gd name="connsiteX44" fmla="*/ 434030 w 547887"/>
              <a:gd name="connsiteY44" fmla="*/ 68790 h 602581"/>
              <a:gd name="connsiteX45" fmla="*/ 441207 w 547887"/>
              <a:gd name="connsiteY45" fmla="*/ 114650 h 602581"/>
              <a:gd name="connsiteX46" fmla="*/ 456998 w 547887"/>
              <a:gd name="connsiteY46" fmla="*/ 137580 h 602581"/>
              <a:gd name="connsiteX47" fmla="*/ 500063 w 547887"/>
              <a:gd name="connsiteY47" fmla="*/ 157644 h 602581"/>
              <a:gd name="connsiteX48" fmla="*/ 514418 w 547887"/>
              <a:gd name="connsiteY48" fmla="*/ 174841 h 602581"/>
              <a:gd name="connsiteX49" fmla="*/ 512983 w 547887"/>
              <a:gd name="connsiteY49" fmla="*/ 197771 h 602581"/>
              <a:gd name="connsiteX50" fmla="*/ 491450 w 547887"/>
              <a:gd name="connsiteY50" fmla="*/ 240765 h 602581"/>
              <a:gd name="connsiteX51" fmla="*/ 491450 w 547887"/>
              <a:gd name="connsiteY51" fmla="*/ 267994 h 602581"/>
              <a:gd name="connsiteX52" fmla="*/ 512983 w 547887"/>
              <a:gd name="connsiteY52" fmla="*/ 309555 h 602581"/>
              <a:gd name="connsiteX53" fmla="*/ 514418 w 547887"/>
              <a:gd name="connsiteY53" fmla="*/ 332485 h 602581"/>
              <a:gd name="connsiteX54" fmla="*/ 500063 w 547887"/>
              <a:gd name="connsiteY54" fmla="*/ 349683 h 602581"/>
              <a:gd name="connsiteX55" fmla="*/ 456998 w 547887"/>
              <a:gd name="connsiteY55" fmla="*/ 371180 h 602581"/>
              <a:gd name="connsiteX56" fmla="*/ 441207 w 547887"/>
              <a:gd name="connsiteY56" fmla="*/ 392676 h 602581"/>
              <a:gd name="connsiteX57" fmla="*/ 434030 w 547887"/>
              <a:gd name="connsiteY57" fmla="*/ 439970 h 602581"/>
              <a:gd name="connsiteX58" fmla="*/ 422546 w 547887"/>
              <a:gd name="connsiteY58" fmla="*/ 460034 h 602581"/>
              <a:gd name="connsiteX59" fmla="*/ 399578 w 547887"/>
              <a:gd name="connsiteY59" fmla="*/ 464333 h 602581"/>
              <a:gd name="connsiteX60" fmla="*/ 352207 w 547887"/>
              <a:gd name="connsiteY60" fmla="*/ 457168 h 602581"/>
              <a:gd name="connsiteX61" fmla="*/ 327803 w 547887"/>
              <a:gd name="connsiteY61" fmla="*/ 465766 h 602581"/>
              <a:gd name="connsiteX62" fmla="*/ 293351 w 547887"/>
              <a:gd name="connsiteY62" fmla="*/ 500161 h 602581"/>
              <a:gd name="connsiteX63" fmla="*/ 273254 w 547887"/>
              <a:gd name="connsiteY63" fmla="*/ 508760 h 602581"/>
              <a:gd name="connsiteX64" fmla="*/ 253157 w 547887"/>
              <a:gd name="connsiteY64" fmla="*/ 500161 h 602581"/>
              <a:gd name="connsiteX65" fmla="*/ 220141 w 547887"/>
              <a:gd name="connsiteY65" fmla="*/ 465766 h 602581"/>
              <a:gd name="connsiteX66" fmla="*/ 194301 w 547887"/>
              <a:gd name="connsiteY66" fmla="*/ 457168 h 602581"/>
              <a:gd name="connsiteX67" fmla="*/ 146930 w 547887"/>
              <a:gd name="connsiteY67" fmla="*/ 464333 h 602581"/>
              <a:gd name="connsiteX68" fmla="*/ 125397 w 547887"/>
              <a:gd name="connsiteY68" fmla="*/ 460034 h 602581"/>
              <a:gd name="connsiteX69" fmla="*/ 112478 w 547887"/>
              <a:gd name="connsiteY69" fmla="*/ 439970 h 602581"/>
              <a:gd name="connsiteX70" fmla="*/ 105301 w 547887"/>
              <a:gd name="connsiteY70" fmla="*/ 392676 h 602581"/>
              <a:gd name="connsiteX71" fmla="*/ 89510 w 547887"/>
              <a:gd name="connsiteY71" fmla="*/ 371180 h 602581"/>
              <a:gd name="connsiteX72" fmla="*/ 47881 w 547887"/>
              <a:gd name="connsiteY72" fmla="*/ 349683 h 602581"/>
              <a:gd name="connsiteX73" fmla="*/ 32090 w 547887"/>
              <a:gd name="connsiteY73" fmla="*/ 332485 h 602581"/>
              <a:gd name="connsiteX74" fmla="*/ 33525 w 547887"/>
              <a:gd name="connsiteY74" fmla="*/ 309555 h 602581"/>
              <a:gd name="connsiteX75" fmla="*/ 56493 w 547887"/>
              <a:gd name="connsiteY75" fmla="*/ 267994 h 602581"/>
              <a:gd name="connsiteX76" fmla="*/ 56493 w 547887"/>
              <a:gd name="connsiteY76" fmla="*/ 240765 h 602581"/>
              <a:gd name="connsiteX77" fmla="*/ 33525 w 547887"/>
              <a:gd name="connsiteY77" fmla="*/ 197771 h 602581"/>
              <a:gd name="connsiteX78" fmla="*/ 32090 w 547887"/>
              <a:gd name="connsiteY78" fmla="*/ 176274 h 602581"/>
              <a:gd name="connsiteX79" fmla="*/ 47881 w 547887"/>
              <a:gd name="connsiteY79" fmla="*/ 157644 h 602581"/>
              <a:gd name="connsiteX80" fmla="*/ 89510 w 547887"/>
              <a:gd name="connsiteY80" fmla="*/ 137580 h 602581"/>
              <a:gd name="connsiteX81" fmla="*/ 105301 w 547887"/>
              <a:gd name="connsiteY81" fmla="*/ 114650 h 602581"/>
              <a:gd name="connsiteX82" fmla="*/ 112478 w 547887"/>
              <a:gd name="connsiteY82" fmla="*/ 68790 h 602581"/>
              <a:gd name="connsiteX83" fmla="*/ 125397 w 547887"/>
              <a:gd name="connsiteY83" fmla="*/ 48726 h 602581"/>
              <a:gd name="connsiteX84" fmla="*/ 146930 w 547887"/>
              <a:gd name="connsiteY84" fmla="*/ 42994 h 602581"/>
              <a:gd name="connsiteX85" fmla="*/ 194301 w 547887"/>
              <a:gd name="connsiteY85" fmla="*/ 51592 h 602581"/>
              <a:gd name="connsiteX86" fmla="*/ 220141 w 547887"/>
              <a:gd name="connsiteY86" fmla="*/ 42994 h 602581"/>
              <a:gd name="connsiteX87" fmla="*/ 253157 w 547887"/>
              <a:gd name="connsiteY87" fmla="*/ 8599 h 602581"/>
              <a:gd name="connsiteX88" fmla="*/ 273254 w 547887"/>
              <a:gd name="connsiteY88" fmla="*/ 0 h 602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547887" h="602581">
                <a:moveTo>
                  <a:pt x="458312" y="414273"/>
                </a:moveTo>
                <a:lnTo>
                  <a:pt x="543041" y="498842"/>
                </a:lnTo>
                <a:cubicBezTo>
                  <a:pt x="547349" y="503142"/>
                  <a:pt x="548785" y="508875"/>
                  <a:pt x="547349" y="514609"/>
                </a:cubicBezTo>
                <a:cubicBezTo>
                  <a:pt x="544477" y="520342"/>
                  <a:pt x="540168" y="524642"/>
                  <a:pt x="534424" y="526076"/>
                </a:cubicBezTo>
                <a:lnTo>
                  <a:pt x="481289" y="536109"/>
                </a:lnTo>
                <a:lnTo>
                  <a:pt x="471236" y="589144"/>
                </a:lnTo>
                <a:cubicBezTo>
                  <a:pt x="469800" y="594877"/>
                  <a:pt x="465492" y="600611"/>
                  <a:pt x="459748" y="602044"/>
                </a:cubicBezTo>
                <a:cubicBezTo>
                  <a:pt x="454003" y="603477"/>
                  <a:pt x="448259" y="602044"/>
                  <a:pt x="443951" y="597744"/>
                </a:cubicBezTo>
                <a:lnTo>
                  <a:pt x="333372" y="487375"/>
                </a:lnTo>
                <a:lnTo>
                  <a:pt x="341989" y="480208"/>
                </a:lnTo>
                <a:cubicBezTo>
                  <a:pt x="343425" y="477341"/>
                  <a:pt x="344861" y="477341"/>
                  <a:pt x="347733" y="477341"/>
                </a:cubicBezTo>
                <a:lnTo>
                  <a:pt x="396560" y="484508"/>
                </a:lnTo>
                <a:cubicBezTo>
                  <a:pt x="409485" y="487375"/>
                  <a:pt x="423845" y="484508"/>
                  <a:pt x="433898" y="475908"/>
                </a:cubicBezTo>
                <a:cubicBezTo>
                  <a:pt x="445387" y="468741"/>
                  <a:pt x="452567" y="455841"/>
                  <a:pt x="454003" y="442941"/>
                </a:cubicBezTo>
                <a:close/>
                <a:moveTo>
                  <a:pt x="88068" y="414273"/>
                </a:moveTo>
                <a:lnTo>
                  <a:pt x="92373" y="442941"/>
                </a:lnTo>
                <a:cubicBezTo>
                  <a:pt x="95243" y="455841"/>
                  <a:pt x="102418" y="468741"/>
                  <a:pt x="112462" y="475908"/>
                </a:cubicBezTo>
                <a:cubicBezTo>
                  <a:pt x="123942" y="484508"/>
                  <a:pt x="136856" y="487375"/>
                  <a:pt x="149770" y="484508"/>
                </a:cubicBezTo>
                <a:lnTo>
                  <a:pt x="198558" y="477341"/>
                </a:lnTo>
                <a:cubicBezTo>
                  <a:pt x="201428" y="477341"/>
                  <a:pt x="204297" y="477341"/>
                  <a:pt x="205732" y="480208"/>
                </a:cubicBezTo>
                <a:lnTo>
                  <a:pt x="212907" y="487375"/>
                </a:lnTo>
                <a:lnTo>
                  <a:pt x="103853" y="597744"/>
                </a:lnTo>
                <a:cubicBezTo>
                  <a:pt x="99548" y="602044"/>
                  <a:pt x="92373" y="603477"/>
                  <a:pt x="86633" y="602044"/>
                </a:cubicBezTo>
                <a:cubicBezTo>
                  <a:pt x="82329" y="600611"/>
                  <a:pt x="78024" y="594877"/>
                  <a:pt x="76589" y="589144"/>
                </a:cubicBezTo>
                <a:lnTo>
                  <a:pt x="66545" y="536109"/>
                </a:lnTo>
                <a:lnTo>
                  <a:pt x="12017" y="526076"/>
                </a:lnTo>
                <a:cubicBezTo>
                  <a:pt x="6278" y="524642"/>
                  <a:pt x="1973" y="520342"/>
                  <a:pt x="538" y="514609"/>
                </a:cubicBezTo>
                <a:cubicBezTo>
                  <a:pt x="-897" y="508875"/>
                  <a:pt x="538" y="503142"/>
                  <a:pt x="4843" y="498842"/>
                </a:cubicBezTo>
                <a:close/>
                <a:moveTo>
                  <a:pt x="273945" y="94487"/>
                </a:moveTo>
                <a:cubicBezTo>
                  <a:pt x="359205" y="94487"/>
                  <a:pt x="428321" y="163809"/>
                  <a:pt x="428321" y="249322"/>
                </a:cubicBezTo>
                <a:cubicBezTo>
                  <a:pt x="428321" y="334835"/>
                  <a:pt x="359205" y="404157"/>
                  <a:pt x="273945" y="404157"/>
                </a:cubicBezTo>
                <a:cubicBezTo>
                  <a:pt x="188685" y="404157"/>
                  <a:pt x="119569" y="334835"/>
                  <a:pt x="119569" y="249322"/>
                </a:cubicBezTo>
                <a:cubicBezTo>
                  <a:pt x="119569" y="163809"/>
                  <a:pt x="188685" y="94487"/>
                  <a:pt x="273945" y="94487"/>
                </a:cubicBezTo>
                <a:close/>
                <a:moveTo>
                  <a:pt x="273254" y="68790"/>
                </a:moveTo>
                <a:cubicBezTo>
                  <a:pt x="174205" y="68790"/>
                  <a:pt x="92381" y="150478"/>
                  <a:pt x="92381" y="249364"/>
                </a:cubicBezTo>
                <a:cubicBezTo>
                  <a:pt x="92381" y="349683"/>
                  <a:pt x="174205" y="429938"/>
                  <a:pt x="273254" y="431371"/>
                </a:cubicBezTo>
                <a:cubicBezTo>
                  <a:pt x="373739" y="429938"/>
                  <a:pt x="454127" y="349683"/>
                  <a:pt x="454127" y="249364"/>
                </a:cubicBezTo>
                <a:cubicBezTo>
                  <a:pt x="454127" y="150478"/>
                  <a:pt x="373739" y="68790"/>
                  <a:pt x="273254" y="68790"/>
                </a:cubicBezTo>
                <a:close/>
                <a:moveTo>
                  <a:pt x="273254" y="0"/>
                </a:moveTo>
                <a:cubicBezTo>
                  <a:pt x="281867" y="0"/>
                  <a:pt x="289045" y="2866"/>
                  <a:pt x="293351" y="8599"/>
                </a:cubicBezTo>
                <a:lnTo>
                  <a:pt x="327803" y="42994"/>
                </a:lnTo>
                <a:cubicBezTo>
                  <a:pt x="333545" y="48726"/>
                  <a:pt x="343593" y="53025"/>
                  <a:pt x="353642" y="51592"/>
                </a:cubicBezTo>
                <a:lnTo>
                  <a:pt x="399578" y="42994"/>
                </a:lnTo>
                <a:cubicBezTo>
                  <a:pt x="408191" y="41560"/>
                  <a:pt x="415369" y="44427"/>
                  <a:pt x="422546" y="48726"/>
                </a:cubicBezTo>
                <a:cubicBezTo>
                  <a:pt x="428288" y="53025"/>
                  <a:pt x="432595" y="60191"/>
                  <a:pt x="434030" y="68790"/>
                </a:cubicBezTo>
                <a:lnTo>
                  <a:pt x="441207" y="114650"/>
                </a:lnTo>
                <a:cubicBezTo>
                  <a:pt x="442643" y="124682"/>
                  <a:pt x="448385" y="133281"/>
                  <a:pt x="456998" y="137580"/>
                </a:cubicBezTo>
                <a:lnTo>
                  <a:pt x="500063" y="157644"/>
                </a:lnTo>
                <a:cubicBezTo>
                  <a:pt x="507241" y="161943"/>
                  <a:pt x="512983" y="167676"/>
                  <a:pt x="514418" y="174841"/>
                </a:cubicBezTo>
                <a:cubicBezTo>
                  <a:pt x="517289" y="183440"/>
                  <a:pt x="517289" y="192039"/>
                  <a:pt x="512983" y="197771"/>
                </a:cubicBezTo>
                <a:lnTo>
                  <a:pt x="491450" y="240765"/>
                </a:lnTo>
                <a:cubicBezTo>
                  <a:pt x="487143" y="249364"/>
                  <a:pt x="487143" y="259396"/>
                  <a:pt x="491450" y="267994"/>
                </a:cubicBezTo>
                <a:lnTo>
                  <a:pt x="512983" y="309555"/>
                </a:lnTo>
                <a:cubicBezTo>
                  <a:pt x="515853" y="316721"/>
                  <a:pt x="517289" y="325320"/>
                  <a:pt x="514418" y="332485"/>
                </a:cubicBezTo>
                <a:cubicBezTo>
                  <a:pt x="512983" y="339651"/>
                  <a:pt x="507241" y="346816"/>
                  <a:pt x="500063" y="349683"/>
                </a:cubicBezTo>
                <a:lnTo>
                  <a:pt x="456998" y="371180"/>
                </a:lnTo>
                <a:cubicBezTo>
                  <a:pt x="448385" y="375479"/>
                  <a:pt x="442643" y="384078"/>
                  <a:pt x="441207" y="392676"/>
                </a:cubicBezTo>
                <a:lnTo>
                  <a:pt x="434030" y="439970"/>
                </a:lnTo>
                <a:cubicBezTo>
                  <a:pt x="432595" y="448569"/>
                  <a:pt x="428288" y="455735"/>
                  <a:pt x="422546" y="460034"/>
                </a:cubicBezTo>
                <a:cubicBezTo>
                  <a:pt x="415369" y="464333"/>
                  <a:pt x="408191" y="465766"/>
                  <a:pt x="399578" y="464333"/>
                </a:cubicBezTo>
                <a:lnTo>
                  <a:pt x="352207" y="457168"/>
                </a:lnTo>
                <a:cubicBezTo>
                  <a:pt x="343593" y="455735"/>
                  <a:pt x="333545" y="458601"/>
                  <a:pt x="327803" y="465766"/>
                </a:cubicBezTo>
                <a:lnTo>
                  <a:pt x="293351" y="500161"/>
                </a:lnTo>
                <a:cubicBezTo>
                  <a:pt x="289045" y="504461"/>
                  <a:pt x="281867" y="507327"/>
                  <a:pt x="273254" y="508760"/>
                </a:cubicBezTo>
                <a:cubicBezTo>
                  <a:pt x="266077" y="507327"/>
                  <a:pt x="258899" y="504461"/>
                  <a:pt x="253157" y="500161"/>
                </a:cubicBezTo>
                <a:lnTo>
                  <a:pt x="220141" y="465766"/>
                </a:lnTo>
                <a:cubicBezTo>
                  <a:pt x="212963" y="458601"/>
                  <a:pt x="202915" y="455735"/>
                  <a:pt x="194301" y="457168"/>
                </a:cubicBezTo>
                <a:lnTo>
                  <a:pt x="146930" y="464333"/>
                </a:lnTo>
                <a:cubicBezTo>
                  <a:pt x="139753" y="465766"/>
                  <a:pt x="131139" y="464333"/>
                  <a:pt x="125397" y="460034"/>
                </a:cubicBezTo>
                <a:cubicBezTo>
                  <a:pt x="118220" y="455735"/>
                  <a:pt x="113913" y="448569"/>
                  <a:pt x="112478" y="439970"/>
                </a:cubicBezTo>
                <a:lnTo>
                  <a:pt x="105301" y="392676"/>
                </a:lnTo>
                <a:cubicBezTo>
                  <a:pt x="103865" y="384078"/>
                  <a:pt x="98123" y="375479"/>
                  <a:pt x="89510" y="371180"/>
                </a:cubicBezTo>
                <a:lnTo>
                  <a:pt x="47881" y="349683"/>
                </a:lnTo>
                <a:cubicBezTo>
                  <a:pt x="40703" y="346816"/>
                  <a:pt x="34961" y="339651"/>
                  <a:pt x="32090" y="332485"/>
                </a:cubicBezTo>
                <a:cubicBezTo>
                  <a:pt x="29219" y="325320"/>
                  <a:pt x="30655" y="316721"/>
                  <a:pt x="33525" y="309555"/>
                </a:cubicBezTo>
                <a:lnTo>
                  <a:pt x="56493" y="267994"/>
                </a:lnTo>
                <a:cubicBezTo>
                  <a:pt x="60800" y="259396"/>
                  <a:pt x="60800" y="249364"/>
                  <a:pt x="56493" y="240765"/>
                </a:cubicBezTo>
                <a:lnTo>
                  <a:pt x="33525" y="197771"/>
                </a:lnTo>
                <a:cubicBezTo>
                  <a:pt x="30655" y="192039"/>
                  <a:pt x="29219" y="183440"/>
                  <a:pt x="32090" y="176274"/>
                </a:cubicBezTo>
                <a:cubicBezTo>
                  <a:pt x="34961" y="167676"/>
                  <a:pt x="40703" y="161943"/>
                  <a:pt x="47881" y="157644"/>
                </a:cubicBezTo>
                <a:lnTo>
                  <a:pt x="89510" y="137580"/>
                </a:lnTo>
                <a:cubicBezTo>
                  <a:pt x="98123" y="133281"/>
                  <a:pt x="103865" y="124682"/>
                  <a:pt x="105301" y="114650"/>
                </a:cubicBezTo>
                <a:lnTo>
                  <a:pt x="112478" y="68790"/>
                </a:lnTo>
                <a:cubicBezTo>
                  <a:pt x="113913" y="60191"/>
                  <a:pt x="118220" y="53025"/>
                  <a:pt x="125397" y="48726"/>
                </a:cubicBezTo>
                <a:cubicBezTo>
                  <a:pt x="131139" y="44427"/>
                  <a:pt x="139753" y="41560"/>
                  <a:pt x="146930" y="42994"/>
                </a:cubicBezTo>
                <a:lnTo>
                  <a:pt x="194301" y="51592"/>
                </a:lnTo>
                <a:cubicBezTo>
                  <a:pt x="202915" y="53025"/>
                  <a:pt x="212963" y="48726"/>
                  <a:pt x="220141" y="42994"/>
                </a:cubicBezTo>
                <a:lnTo>
                  <a:pt x="253157" y="8599"/>
                </a:lnTo>
                <a:cubicBezTo>
                  <a:pt x="258899" y="2866"/>
                  <a:pt x="266077" y="0"/>
                  <a:pt x="273254" y="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黑体" panose="02010609060101010101" pitchFamily="49" charset="-122"/>
              <a:cs typeface="+mn-ea"/>
              <a:sym typeface="+mn-lt"/>
            </a:endParaRPr>
          </a:p>
        </p:txBody>
      </p:sp>
      <p:sp>
        <p:nvSpPr>
          <p:cNvPr id="18" name="直角三角形 17">
            <a:extLst>
              <a:ext uri="{FF2B5EF4-FFF2-40B4-BE49-F238E27FC236}">
                <a16:creationId xmlns:a16="http://schemas.microsoft.com/office/drawing/2014/main" id="{34F26043-ADE2-25F5-C3AE-16B107F3C6B8}"/>
              </a:ext>
            </a:extLst>
          </p:cNvPr>
          <p:cNvSpPr/>
          <p:nvPr userDrawn="1"/>
        </p:nvSpPr>
        <p:spPr>
          <a:xfrm>
            <a:off x="11926111" y="1498059"/>
            <a:ext cx="265889" cy="469805"/>
          </a:xfrm>
          <a:prstGeom prst="rtTriangle">
            <a:avLst/>
          </a:prstGeom>
          <a:solidFill>
            <a:schemeClr val="accent5">
              <a:lumMod val="90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Arial"/>
              <a:ea typeface="楷体"/>
              <a:cs typeface="+mn-cs"/>
            </a:endParaRPr>
          </a:p>
        </p:txBody>
      </p:sp>
      <p:sp>
        <p:nvSpPr>
          <p:cNvPr id="19" name="文本框 15">
            <a:extLst>
              <a:ext uri="{FF2B5EF4-FFF2-40B4-BE49-F238E27FC236}">
                <a16:creationId xmlns:a16="http://schemas.microsoft.com/office/drawing/2014/main" id="{96B712D6-B68E-CDE2-0FD2-B2D79552A89B}"/>
              </a:ext>
            </a:extLst>
          </p:cNvPr>
          <p:cNvSpPr txBox="1"/>
          <p:nvPr userDrawn="1"/>
        </p:nvSpPr>
        <p:spPr>
          <a:xfrm>
            <a:off x="6727613" y="1646490"/>
            <a:ext cx="4657624" cy="232821"/>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0000"/>
              </a:lnSpc>
              <a:spcBef>
                <a:spcPts val="0"/>
              </a:spcBef>
              <a:spcAft>
                <a:spcPts val="300"/>
              </a:spcAft>
              <a:buClrTx/>
              <a:buSzTx/>
              <a:buFontTx/>
              <a:buNone/>
              <a:tabLst/>
              <a:defRPr/>
            </a:pPr>
            <a:r>
              <a:rPr kumimoji="0" lang="zh-CN" altLang="en-US" sz="1400" b="1" i="0" u="none" strike="noStrike" kern="1200" cap="none" spc="0" normalizeH="0" baseline="0" noProof="0" dirty="0">
                <a:ln>
                  <a:noFill/>
                </a:ln>
                <a:solidFill>
                  <a:schemeClr val="accent1"/>
                </a:solidFill>
                <a:effectLst/>
                <a:uLnTx/>
                <a:uFillTx/>
                <a:latin typeface="Arial" panose="020B0604020202020204" pitchFamily="34" charset="0"/>
                <a:ea typeface="黑体" panose="02010609060101010101" pitchFamily="49" charset="-122"/>
                <a:cs typeface="+mn-ea"/>
                <a:sym typeface="+mn-lt"/>
              </a:rPr>
              <a:t>个人履历</a:t>
            </a:r>
          </a:p>
        </p:txBody>
      </p:sp>
      <p:sp>
        <p:nvSpPr>
          <p:cNvPr id="20" name="矩形 19">
            <a:extLst>
              <a:ext uri="{FF2B5EF4-FFF2-40B4-BE49-F238E27FC236}">
                <a16:creationId xmlns:a16="http://schemas.microsoft.com/office/drawing/2014/main" id="{80FFE93B-EEA8-C012-1640-3707C7955432}"/>
              </a:ext>
            </a:extLst>
          </p:cNvPr>
          <p:cNvSpPr/>
          <p:nvPr userDrawn="1"/>
        </p:nvSpPr>
        <p:spPr>
          <a:xfrm>
            <a:off x="6727613" y="1963046"/>
            <a:ext cx="739987" cy="36000"/>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Arial"/>
              <a:ea typeface="楷体"/>
              <a:cs typeface="+mn-cs"/>
            </a:endParaRPr>
          </a:p>
        </p:txBody>
      </p:sp>
      <p:sp>
        <p:nvSpPr>
          <p:cNvPr id="21" name="矩形 20">
            <a:extLst>
              <a:ext uri="{FF2B5EF4-FFF2-40B4-BE49-F238E27FC236}">
                <a16:creationId xmlns:a16="http://schemas.microsoft.com/office/drawing/2014/main" id="{3E953386-E56A-DDC8-6C74-2EAB3526AC2E}"/>
              </a:ext>
            </a:extLst>
          </p:cNvPr>
          <p:cNvSpPr/>
          <p:nvPr userDrawn="1"/>
        </p:nvSpPr>
        <p:spPr>
          <a:xfrm flipV="1">
            <a:off x="7470563" y="1963046"/>
            <a:ext cx="4291293" cy="36000"/>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Arial"/>
              <a:ea typeface="楷体"/>
              <a:cs typeface="+mn-cs"/>
            </a:endParaRPr>
          </a:p>
        </p:txBody>
      </p:sp>
      <p:grpSp>
        <p:nvGrpSpPr>
          <p:cNvPr id="22" name="组合 21">
            <a:extLst>
              <a:ext uri="{FF2B5EF4-FFF2-40B4-BE49-F238E27FC236}">
                <a16:creationId xmlns:a16="http://schemas.microsoft.com/office/drawing/2014/main" id="{3853593C-A788-B4F5-6E1C-5C6A8CF37C8B}"/>
              </a:ext>
            </a:extLst>
          </p:cNvPr>
          <p:cNvGrpSpPr/>
          <p:nvPr userDrawn="1"/>
        </p:nvGrpSpPr>
        <p:grpSpPr>
          <a:xfrm>
            <a:off x="755747" y="4111941"/>
            <a:ext cx="196261" cy="220468"/>
            <a:chOff x="7029140" y="2523914"/>
            <a:chExt cx="239618" cy="269173"/>
          </a:xfrm>
          <a:solidFill>
            <a:schemeClr val="accent1">
              <a:lumMod val="75000"/>
            </a:schemeClr>
          </a:solidFill>
        </p:grpSpPr>
        <p:sp>
          <p:nvSpPr>
            <p:cNvPr id="23" name="任意多边形: 形状 22">
              <a:extLst>
                <a:ext uri="{FF2B5EF4-FFF2-40B4-BE49-F238E27FC236}">
                  <a16:creationId xmlns:a16="http://schemas.microsoft.com/office/drawing/2014/main" id="{501745F0-E3D5-2E41-826E-762059467146}"/>
                </a:ext>
              </a:extLst>
            </p:cNvPr>
            <p:cNvSpPr/>
            <p:nvPr/>
          </p:nvSpPr>
          <p:spPr>
            <a:xfrm>
              <a:off x="7104158" y="2523914"/>
              <a:ext cx="89191" cy="39245"/>
            </a:xfrm>
            <a:custGeom>
              <a:avLst/>
              <a:gdLst>
                <a:gd name="connsiteX0" fmla="*/ 14829 w 15777"/>
                <a:gd name="connsiteY0" fmla="*/ 6943 h 6942"/>
                <a:gd name="connsiteX1" fmla="*/ 14258 w 15777"/>
                <a:gd name="connsiteY1" fmla="*/ 6752 h 6942"/>
                <a:gd name="connsiteX2" fmla="*/ 7971 w 15777"/>
                <a:gd name="connsiteY2" fmla="*/ 2085 h 6942"/>
                <a:gd name="connsiteX3" fmla="*/ 1494 w 15777"/>
                <a:gd name="connsiteY3" fmla="*/ 6466 h 6942"/>
                <a:gd name="connsiteX4" fmla="*/ 161 w 15777"/>
                <a:gd name="connsiteY4" fmla="*/ 6181 h 6942"/>
                <a:gd name="connsiteX5" fmla="*/ 446 w 15777"/>
                <a:gd name="connsiteY5" fmla="*/ 4847 h 6942"/>
                <a:gd name="connsiteX6" fmla="*/ 7495 w 15777"/>
                <a:gd name="connsiteY6" fmla="*/ 85 h 6942"/>
                <a:gd name="connsiteX7" fmla="*/ 8638 w 15777"/>
                <a:gd name="connsiteY7" fmla="*/ 85 h 6942"/>
                <a:gd name="connsiteX8" fmla="*/ 15496 w 15777"/>
                <a:gd name="connsiteY8" fmla="*/ 5133 h 6942"/>
                <a:gd name="connsiteX9" fmla="*/ 15686 w 15777"/>
                <a:gd name="connsiteY9" fmla="*/ 6466 h 6942"/>
                <a:gd name="connsiteX10" fmla="*/ 14924 w 15777"/>
                <a:gd name="connsiteY10" fmla="*/ 6847 h 6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77" h="6942">
                  <a:moveTo>
                    <a:pt x="14829" y="6943"/>
                  </a:moveTo>
                  <a:cubicBezTo>
                    <a:pt x="14829" y="6943"/>
                    <a:pt x="14448" y="6943"/>
                    <a:pt x="14258" y="6752"/>
                  </a:cubicBezTo>
                  <a:lnTo>
                    <a:pt x="7971" y="2085"/>
                  </a:lnTo>
                  <a:lnTo>
                    <a:pt x="1494" y="6466"/>
                  </a:lnTo>
                  <a:cubicBezTo>
                    <a:pt x="1494" y="6466"/>
                    <a:pt x="446" y="6657"/>
                    <a:pt x="161" y="6181"/>
                  </a:cubicBezTo>
                  <a:cubicBezTo>
                    <a:pt x="-125" y="5704"/>
                    <a:pt x="-30" y="5133"/>
                    <a:pt x="446" y="4847"/>
                  </a:cubicBezTo>
                  <a:lnTo>
                    <a:pt x="7495" y="85"/>
                  </a:lnTo>
                  <a:cubicBezTo>
                    <a:pt x="7495" y="85"/>
                    <a:pt x="8257" y="-106"/>
                    <a:pt x="8638" y="85"/>
                  </a:cubicBezTo>
                  <a:lnTo>
                    <a:pt x="15496" y="5133"/>
                  </a:lnTo>
                  <a:cubicBezTo>
                    <a:pt x="15496" y="5133"/>
                    <a:pt x="15972" y="6085"/>
                    <a:pt x="15686" y="6466"/>
                  </a:cubicBezTo>
                  <a:cubicBezTo>
                    <a:pt x="15496" y="6752"/>
                    <a:pt x="15210" y="6847"/>
                    <a:pt x="14924" y="6847"/>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楷体"/>
                <a:cs typeface="+mn-cs"/>
              </a:endParaRPr>
            </a:p>
          </p:txBody>
        </p:sp>
        <p:sp>
          <p:nvSpPr>
            <p:cNvPr id="24" name="任意多边形: 形状 23">
              <a:extLst>
                <a:ext uri="{FF2B5EF4-FFF2-40B4-BE49-F238E27FC236}">
                  <a16:creationId xmlns:a16="http://schemas.microsoft.com/office/drawing/2014/main" id="{088C7F44-2CDE-AE60-64FA-6DDD36743719}"/>
                </a:ext>
              </a:extLst>
            </p:cNvPr>
            <p:cNvSpPr/>
            <p:nvPr/>
          </p:nvSpPr>
          <p:spPr>
            <a:xfrm>
              <a:off x="7029140" y="2599571"/>
              <a:ext cx="239618" cy="193516"/>
            </a:xfrm>
            <a:custGeom>
              <a:avLst/>
              <a:gdLst>
                <a:gd name="connsiteX0" fmla="*/ 38767 w 42386"/>
                <a:gd name="connsiteY0" fmla="*/ 34041 h 34231"/>
                <a:gd name="connsiteX1" fmla="*/ 3620 w 42386"/>
                <a:gd name="connsiteY1" fmla="*/ 34041 h 34231"/>
                <a:gd name="connsiteX2" fmla="*/ 0 w 42386"/>
                <a:gd name="connsiteY2" fmla="*/ 30421 h 34231"/>
                <a:gd name="connsiteX3" fmla="*/ 0 w 42386"/>
                <a:gd name="connsiteY3" fmla="*/ 4799 h 34231"/>
                <a:gd name="connsiteX4" fmla="*/ 381 w 42386"/>
                <a:gd name="connsiteY4" fmla="*/ 4037 h 34231"/>
                <a:gd name="connsiteX5" fmla="*/ 4763 w 42386"/>
                <a:gd name="connsiteY5" fmla="*/ 513 h 34231"/>
                <a:gd name="connsiteX6" fmla="*/ 6096 w 42386"/>
                <a:gd name="connsiteY6" fmla="*/ 703 h 34231"/>
                <a:gd name="connsiteX7" fmla="*/ 6001 w 42386"/>
                <a:gd name="connsiteY7" fmla="*/ 2037 h 34231"/>
                <a:gd name="connsiteX8" fmla="*/ 2000 w 42386"/>
                <a:gd name="connsiteY8" fmla="*/ 5275 h 34231"/>
                <a:gd name="connsiteX9" fmla="*/ 2000 w 42386"/>
                <a:gd name="connsiteY9" fmla="*/ 30421 h 34231"/>
                <a:gd name="connsiteX10" fmla="*/ 3620 w 42386"/>
                <a:gd name="connsiteY10" fmla="*/ 32041 h 34231"/>
                <a:gd name="connsiteX11" fmla="*/ 38767 w 42386"/>
                <a:gd name="connsiteY11" fmla="*/ 32041 h 34231"/>
                <a:gd name="connsiteX12" fmla="*/ 40386 w 42386"/>
                <a:gd name="connsiteY12" fmla="*/ 30421 h 34231"/>
                <a:gd name="connsiteX13" fmla="*/ 40386 w 42386"/>
                <a:gd name="connsiteY13" fmla="*/ 5275 h 34231"/>
                <a:gd name="connsiteX14" fmla="*/ 36386 w 42386"/>
                <a:gd name="connsiteY14" fmla="*/ 1656 h 34231"/>
                <a:gd name="connsiteX15" fmla="*/ 36386 w 42386"/>
                <a:gd name="connsiteY15" fmla="*/ 322 h 34231"/>
                <a:gd name="connsiteX16" fmla="*/ 37719 w 42386"/>
                <a:gd name="connsiteY16" fmla="*/ 322 h 34231"/>
                <a:gd name="connsiteX17" fmla="*/ 42101 w 42386"/>
                <a:gd name="connsiteY17" fmla="*/ 4228 h 34231"/>
                <a:gd name="connsiteX18" fmla="*/ 42386 w 42386"/>
                <a:gd name="connsiteY18" fmla="*/ 4990 h 34231"/>
                <a:gd name="connsiteX19" fmla="*/ 42386 w 42386"/>
                <a:gd name="connsiteY19" fmla="*/ 30612 h 34231"/>
                <a:gd name="connsiteX20" fmla="*/ 38767 w 42386"/>
                <a:gd name="connsiteY20" fmla="*/ 34231 h 34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386" h="34231">
                  <a:moveTo>
                    <a:pt x="38767" y="34041"/>
                  </a:moveTo>
                  <a:lnTo>
                    <a:pt x="3620" y="34041"/>
                  </a:lnTo>
                  <a:cubicBezTo>
                    <a:pt x="1619" y="34041"/>
                    <a:pt x="0" y="32422"/>
                    <a:pt x="0" y="30421"/>
                  </a:cubicBezTo>
                  <a:lnTo>
                    <a:pt x="0" y="4799"/>
                  </a:lnTo>
                  <a:cubicBezTo>
                    <a:pt x="0" y="4799"/>
                    <a:pt x="95" y="4228"/>
                    <a:pt x="381" y="4037"/>
                  </a:cubicBezTo>
                  <a:lnTo>
                    <a:pt x="4763" y="513"/>
                  </a:lnTo>
                  <a:cubicBezTo>
                    <a:pt x="4763" y="513"/>
                    <a:pt x="5810" y="227"/>
                    <a:pt x="6096" y="703"/>
                  </a:cubicBezTo>
                  <a:cubicBezTo>
                    <a:pt x="6477" y="1084"/>
                    <a:pt x="6382" y="1751"/>
                    <a:pt x="6001" y="2037"/>
                  </a:cubicBezTo>
                  <a:lnTo>
                    <a:pt x="2000" y="5275"/>
                  </a:lnTo>
                  <a:lnTo>
                    <a:pt x="2000" y="30421"/>
                  </a:lnTo>
                  <a:cubicBezTo>
                    <a:pt x="2000" y="31374"/>
                    <a:pt x="2762" y="32041"/>
                    <a:pt x="3620" y="32041"/>
                  </a:cubicBezTo>
                  <a:lnTo>
                    <a:pt x="38767" y="32041"/>
                  </a:lnTo>
                  <a:cubicBezTo>
                    <a:pt x="39719" y="32041"/>
                    <a:pt x="40386" y="31279"/>
                    <a:pt x="40386" y="30421"/>
                  </a:cubicBezTo>
                  <a:lnTo>
                    <a:pt x="40386" y="5275"/>
                  </a:lnTo>
                  <a:lnTo>
                    <a:pt x="36386" y="1656"/>
                  </a:lnTo>
                  <a:cubicBezTo>
                    <a:pt x="36386" y="1656"/>
                    <a:pt x="35909" y="703"/>
                    <a:pt x="36386" y="322"/>
                  </a:cubicBezTo>
                  <a:cubicBezTo>
                    <a:pt x="36767" y="-59"/>
                    <a:pt x="37338" y="-154"/>
                    <a:pt x="37719" y="322"/>
                  </a:cubicBezTo>
                  <a:lnTo>
                    <a:pt x="42101" y="4228"/>
                  </a:lnTo>
                  <a:cubicBezTo>
                    <a:pt x="42101" y="4228"/>
                    <a:pt x="42386" y="4704"/>
                    <a:pt x="42386" y="4990"/>
                  </a:cubicBezTo>
                  <a:lnTo>
                    <a:pt x="42386" y="30612"/>
                  </a:lnTo>
                  <a:cubicBezTo>
                    <a:pt x="42386" y="32612"/>
                    <a:pt x="40767" y="34231"/>
                    <a:pt x="38767" y="34231"/>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楷体"/>
                <a:cs typeface="+mn-cs"/>
              </a:endParaRPr>
            </a:p>
          </p:txBody>
        </p:sp>
        <p:sp>
          <p:nvSpPr>
            <p:cNvPr id="25" name="任意多边形: 形状 24">
              <a:extLst>
                <a:ext uri="{FF2B5EF4-FFF2-40B4-BE49-F238E27FC236}">
                  <a16:creationId xmlns:a16="http://schemas.microsoft.com/office/drawing/2014/main" id="{C689AEB8-EB55-DEA9-DAA2-F8F210797701}"/>
                </a:ext>
              </a:extLst>
            </p:cNvPr>
            <p:cNvSpPr/>
            <p:nvPr/>
          </p:nvSpPr>
          <p:spPr>
            <a:xfrm>
              <a:off x="7030321" y="2671215"/>
              <a:ext cx="237442" cy="120793"/>
            </a:xfrm>
            <a:custGeom>
              <a:avLst/>
              <a:gdLst>
                <a:gd name="connsiteX0" fmla="*/ 38558 w 42001"/>
                <a:gd name="connsiteY0" fmla="*/ 21368 h 21367"/>
                <a:gd name="connsiteX1" fmla="*/ 3410 w 42001"/>
                <a:gd name="connsiteY1" fmla="*/ 21368 h 21367"/>
                <a:gd name="connsiteX2" fmla="*/ 77 w 42001"/>
                <a:gd name="connsiteY2" fmla="*/ 19082 h 21367"/>
                <a:gd name="connsiteX3" fmla="*/ 362 w 42001"/>
                <a:gd name="connsiteY3" fmla="*/ 18034 h 21367"/>
                <a:gd name="connsiteX4" fmla="*/ 20365 w 42001"/>
                <a:gd name="connsiteY4" fmla="*/ 127 h 21367"/>
                <a:gd name="connsiteX5" fmla="*/ 21699 w 42001"/>
                <a:gd name="connsiteY5" fmla="*/ 127 h 21367"/>
                <a:gd name="connsiteX6" fmla="*/ 41701 w 42001"/>
                <a:gd name="connsiteY6" fmla="*/ 18034 h 21367"/>
                <a:gd name="connsiteX7" fmla="*/ 41987 w 42001"/>
                <a:gd name="connsiteY7" fmla="*/ 19082 h 21367"/>
                <a:gd name="connsiteX8" fmla="*/ 38653 w 42001"/>
                <a:gd name="connsiteY8" fmla="*/ 21368 h 21367"/>
                <a:gd name="connsiteX9" fmla="*/ 2267 w 42001"/>
                <a:gd name="connsiteY9" fmla="*/ 18986 h 21367"/>
                <a:gd name="connsiteX10" fmla="*/ 3506 w 42001"/>
                <a:gd name="connsiteY10" fmla="*/ 19558 h 21367"/>
                <a:gd name="connsiteX11" fmla="*/ 38653 w 42001"/>
                <a:gd name="connsiteY11" fmla="*/ 19558 h 21367"/>
                <a:gd name="connsiteX12" fmla="*/ 39891 w 42001"/>
                <a:gd name="connsiteY12" fmla="*/ 18986 h 21367"/>
                <a:gd name="connsiteX13" fmla="*/ 21127 w 42001"/>
                <a:gd name="connsiteY13" fmla="*/ 2223 h 21367"/>
                <a:gd name="connsiteX14" fmla="*/ 2363 w 42001"/>
                <a:gd name="connsiteY14" fmla="*/ 18986 h 2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001" h="21367">
                  <a:moveTo>
                    <a:pt x="38558" y="21368"/>
                  </a:moveTo>
                  <a:lnTo>
                    <a:pt x="3410" y="21368"/>
                  </a:lnTo>
                  <a:cubicBezTo>
                    <a:pt x="1886" y="21368"/>
                    <a:pt x="553" y="20415"/>
                    <a:pt x="77" y="19082"/>
                  </a:cubicBezTo>
                  <a:cubicBezTo>
                    <a:pt x="-114" y="18701"/>
                    <a:pt x="77" y="18320"/>
                    <a:pt x="362" y="18034"/>
                  </a:cubicBezTo>
                  <a:lnTo>
                    <a:pt x="20365" y="127"/>
                  </a:lnTo>
                  <a:cubicBezTo>
                    <a:pt x="20365" y="127"/>
                    <a:pt x="21317" y="-159"/>
                    <a:pt x="21699" y="127"/>
                  </a:cubicBezTo>
                  <a:lnTo>
                    <a:pt x="41701" y="18034"/>
                  </a:lnTo>
                  <a:cubicBezTo>
                    <a:pt x="41701" y="18034"/>
                    <a:pt x="42082" y="18701"/>
                    <a:pt x="41987" y="19082"/>
                  </a:cubicBezTo>
                  <a:cubicBezTo>
                    <a:pt x="41510" y="20510"/>
                    <a:pt x="40082" y="21368"/>
                    <a:pt x="38653" y="21368"/>
                  </a:cubicBezTo>
                  <a:moveTo>
                    <a:pt x="2267" y="18986"/>
                  </a:moveTo>
                  <a:cubicBezTo>
                    <a:pt x="2267" y="18986"/>
                    <a:pt x="3029" y="19558"/>
                    <a:pt x="3506" y="19558"/>
                  </a:cubicBezTo>
                  <a:lnTo>
                    <a:pt x="38653" y="19558"/>
                  </a:lnTo>
                  <a:cubicBezTo>
                    <a:pt x="38653" y="19558"/>
                    <a:pt x="39510" y="19368"/>
                    <a:pt x="39891" y="18986"/>
                  </a:cubicBezTo>
                  <a:lnTo>
                    <a:pt x="21127" y="2223"/>
                  </a:lnTo>
                  <a:lnTo>
                    <a:pt x="2363" y="18986"/>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楷体"/>
                <a:cs typeface="+mn-cs"/>
              </a:endParaRPr>
            </a:p>
          </p:txBody>
        </p:sp>
        <p:sp>
          <p:nvSpPr>
            <p:cNvPr id="26" name="任意多边形: 形状 25">
              <a:extLst>
                <a:ext uri="{FF2B5EF4-FFF2-40B4-BE49-F238E27FC236}">
                  <a16:creationId xmlns:a16="http://schemas.microsoft.com/office/drawing/2014/main" id="{3ED7613E-9F9C-FDC3-D930-1839F61DF57B}"/>
                </a:ext>
              </a:extLst>
            </p:cNvPr>
            <p:cNvSpPr/>
            <p:nvPr/>
          </p:nvSpPr>
          <p:spPr>
            <a:xfrm>
              <a:off x="7178493" y="2631908"/>
              <a:ext cx="88456" cy="79869"/>
            </a:xfrm>
            <a:custGeom>
              <a:avLst/>
              <a:gdLst>
                <a:gd name="connsiteX0" fmla="*/ 1013 w 15647"/>
                <a:gd name="connsiteY0" fmla="*/ 14129 h 14128"/>
                <a:gd name="connsiteX1" fmla="*/ 251 w 15647"/>
                <a:gd name="connsiteY1" fmla="*/ 13843 h 14128"/>
                <a:gd name="connsiteX2" fmla="*/ 251 w 15647"/>
                <a:gd name="connsiteY2" fmla="*/ 12509 h 14128"/>
                <a:gd name="connsiteX3" fmla="*/ 14062 w 15647"/>
                <a:gd name="connsiteY3" fmla="*/ 127 h 14128"/>
                <a:gd name="connsiteX4" fmla="*/ 15396 w 15647"/>
                <a:gd name="connsiteY4" fmla="*/ 127 h 14128"/>
                <a:gd name="connsiteX5" fmla="*/ 15396 w 15647"/>
                <a:gd name="connsiteY5" fmla="*/ 1460 h 14128"/>
                <a:gd name="connsiteX6" fmla="*/ 1585 w 15647"/>
                <a:gd name="connsiteY6" fmla="*/ 13843 h 14128"/>
                <a:gd name="connsiteX7" fmla="*/ 918 w 15647"/>
                <a:gd name="connsiteY7" fmla="*/ 14129 h 1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47" h="14128">
                  <a:moveTo>
                    <a:pt x="1013" y="14129"/>
                  </a:moveTo>
                  <a:cubicBezTo>
                    <a:pt x="1013" y="14129"/>
                    <a:pt x="442" y="14033"/>
                    <a:pt x="251" y="13843"/>
                  </a:cubicBezTo>
                  <a:cubicBezTo>
                    <a:pt x="-130" y="13462"/>
                    <a:pt x="-34" y="12795"/>
                    <a:pt x="251" y="12509"/>
                  </a:cubicBezTo>
                  <a:lnTo>
                    <a:pt x="14062" y="127"/>
                  </a:lnTo>
                  <a:cubicBezTo>
                    <a:pt x="14062" y="127"/>
                    <a:pt x="15110" y="-159"/>
                    <a:pt x="15396" y="127"/>
                  </a:cubicBezTo>
                  <a:cubicBezTo>
                    <a:pt x="15777" y="508"/>
                    <a:pt x="15682" y="1175"/>
                    <a:pt x="15396" y="1460"/>
                  </a:cubicBezTo>
                  <a:lnTo>
                    <a:pt x="1585" y="13843"/>
                  </a:lnTo>
                  <a:cubicBezTo>
                    <a:pt x="1585" y="13843"/>
                    <a:pt x="1204" y="14129"/>
                    <a:pt x="918" y="14129"/>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楷体"/>
                <a:cs typeface="+mn-cs"/>
              </a:endParaRPr>
            </a:p>
          </p:txBody>
        </p:sp>
        <p:sp>
          <p:nvSpPr>
            <p:cNvPr id="27" name="任意多边形: 形状 26">
              <a:extLst>
                <a:ext uri="{FF2B5EF4-FFF2-40B4-BE49-F238E27FC236}">
                  <a16:creationId xmlns:a16="http://schemas.microsoft.com/office/drawing/2014/main" id="{E271D4B2-8739-E74B-93F8-BF61F17110A1}"/>
                </a:ext>
              </a:extLst>
            </p:cNvPr>
            <p:cNvSpPr/>
            <p:nvPr/>
          </p:nvSpPr>
          <p:spPr>
            <a:xfrm>
              <a:off x="7030875" y="2631546"/>
              <a:ext cx="88603" cy="81305"/>
            </a:xfrm>
            <a:custGeom>
              <a:avLst/>
              <a:gdLst>
                <a:gd name="connsiteX0" fmla="*/ 14838 w 15673"/>
                <a:gd name="connsiteY0" fmla="*/ 14287 h 14382"/>
                <a:gd name="connsiteX1" fmla="*/ 14171 w 15673"/>
                <a:gd name="connsiteY1" fmla="*/ 14097 h 14382"/>
                <a:gd name="connsiteX2" fmla="*/ 169 w 15673"/>
                <a:gd name="connsiteY2" fmla="*/ 1619 h 14382"/>
                <a:gd name="connsiteX3" fmla="*/ 169 w 15673"/>
                <a:gd name="connsiteY3" fmla="*/ 286 h 14382"/>
                <a:gd name="connsiteX4" fmla="*/ 1503 w 15673"/>
                <a:gd name="connsiteY4" fmla="*/ 286 h 14382"/>
                <a:gd name="connsiteX5" fmla="*/ 15504 w 15673"/>
                <a:gd name="connsiteY5" fmla="*/ 12763 h 14382"/>
                <a:gd name="connsiteX6" fmla="*/ 15504 w 15673"/>
                <a:gd name="connsiteY6" fmla="*/ 14097 h 14382"/>
                <a:gd name="connsiteX7" fmla="*/ 14743 w 15673"/>
                <a:gd name="connsiteY7" fmla="*/ 14383 h 1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73" h="14382">
                  <a:moveTo>
                    <a:pt x="14838" y="14287"/>
                  </a:moveTo>
                  <a:cubicBezTo>
                    <a:pt x="14838" y="14287"/>
                    <a:pt x="14362" y="14287"/>
                    <a:pt x="14171" y="14097"/>
                  </a:cubicBezTo>
                  <a:lnTo>
                    <a:pt x="169" y="1619"/>
                  </a:lnTo>
                  <a:cubicBezTo>
                    <a:pt x="169" y="1619"/>
                    <a:pt x="-212" y="667"/>
                    <a:pt x="169" y="286"/>
                  </a:cubicBezTo>
                  <a:cubicBezTo>
                    <a:pt x="550" y="-95"/>
                    <a:pt x="1122" y="-95"/>
                    <a:pt x="1503" y="286"/>
                  </a:cubicBezTo>
                  <a:lnTo>
                    <a:pt x="15504" y="12763"/>
                  </a:lnTo>
                  <a:cubicBezTo>
                    <a:pt x="15504" y="12763"/>
                    <a:pt x="15886" y="13716"/>
                    <a:pt x="15504" y="14097"/>
                  </a:cubicBezTo>
                  <a:cubicBezTo>
                    <a:pt x="15314" y="14287"/>
                    <a:pt x="15028" y="14383"/>
                    <a:pt x="14743" y="14383"/>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楷体"/>
                <a:cs typeface="+mn-cs"/>
              </a:endParaRPr>
            </a:p>
          </p:txBody>
        </p:sp>
        <p:sp>
          <p:nvSpPr>
            <p:cNvPr id="28" name="任意多边形: 形状 27">
              <a:extLst>
                <a:ext uri="{FF2B5EF4-FFF2-40B4-BE49-F238E27FC236}">
                  <a16:creationId xmlns:a16="http://schemas.microsoft.com/office/drawing/2014/main" id="{88239ABD-ED07-0F5A-435A-7A581688C4B2}"/>
                </a:ext>
              </a:extLst>
            </p:cNvPr>
            <p:cNvSpPr/>
            <p:nvPr/>
          </p:nvSpPr>
          <p:spPr>
            <a:xfrm>
              <a:off x="7056061" y="2553469"/>
              <a:ext cx="187388" cy="110922"/>
            </a:xfrm>
            <a:custGeom>
              <a:avLst/>
              <a:gdLst>
                <a:gd name="connsiteX0" fmla="*/ 32099 w 33147"/>
                <a:gd name="connsiteY0" fmla="*/ 19622 h 19621"/>
                <a:gd name="connsiteX1" fmla="*/ 31147 w 33147"/>
                <a:gd name="connsiteY1" fmla="*/ 18669 h 19621"/>
                <a:gd name="connsiteX2" fmla="*/ 31147 w 33147"/>
                <a:gd name="connsiteY2" fmla="*/ 1905 h 19621"/>
                <a:gd name="connsiteX3" fmla="*/ 1905 w 33147"/>
                <a:gd name="connsiteY3" fmla="*/ 1905 h 19621"/>
                <a:gd name="connsiteX4" fmla="*/ 1905 w 33147"/>
                <a:gd name="connsiteY4" fmla="*/ 18669 h 19621"/>
                <a:gd name="connsiteX5" fmla="*/ 953 w 33147"/>
                <a:gd name="connsiteY5" fmla="*/ 19622 h 19621"/>
                <a:gd name="connsiteX6" fmla="*/ 0 w 33147"/>
                <a:gd name="connsiteY6" fmla="*/ 18669 h 19621"/>
                <a:gd name="connsiteX7" fmla="*/ 0 w 33147"/>
                <a:gd name="connsiteY7" fmla="*/ 953 h 19621"/>
                <a:gd name="connsiteX8" fmla="*/ 953 w 33147"/>
                <a:gd name="connsiteY8" fmla="*/ 0 h 19621"/>
                <a:gd name="connsiteX9" fmla="*/ 32195 w 33147"/>
                <a:gd name="connsiteY9" fmla="*/ 0 h 19621"/>
                <a:gd name="connsiteX10" fmla="*/ 33147 w 33147"/>
                <a:gd name="connsiteY10" fmla="*/ 953 h 19621"/>
                <a:gd name="connsiteX11" fmla="*/ 33147 w 33147"/>
                <a:gd name="connsiteY11" fmla="*/ 18669 h 19621"/>
                <a:gd name="connsiteX12" fmla="*/ 32195 w 33147"/>
                <a:gd name="connsiteY12" fmla="*/ 19622 h 1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147" h="19621">
                  <a:moveTo>
                    <a:pt x="32099" y="19622"/>
                  </a:moveTo>
                  <a:cubicBezTo>
                    <a:pt x="31528" y="19622"/>
                    <a:pt x="31147" y="19241"/>
                    <a:pt x="31147" y="18669"/>
                  </a:cubicBezTo>
                  <a:lnTo>
                    <a:pt x="31147" y="1905"/>
                  </a:lnTo>
                  <a:lnTo>
                    <a:pt x="1905" y="1905"/>
                  </a:lnTo>
                  <a:lnTo>
                    <a:pt x="1905" y="18669"/>
                  </a:lnTo>
                  <a:cubicBezTo>
                    <a:pt x="1905" y="19241"/>
                    <a:pt x="1524" y="19622"/>
                    <a:pt x="953" y="19622"/>
                  </a:cubicBezTo>
                  <a:cubicBezTo>
                    <a:pt x="381" y="19622"/>
                    <a:pt x="0" y="19241"/>
                    <a:pt x="0" y="18669"/>
                  </a:cubicBezTo>
                  <a:lnTo>
                    <a:pt x="0" y="953"/>
                  </a:lnTo>
                  <a:cubicBezTo>
                    <a:pt x="0" y="381"/>
                    <a:pt x="476" y="0"/>
                    <a:pt x="953" y="0"/>
                  </a:cubicBezTo>
                  <a:lnTo>
                    <a:pt x="32195" y="0"/>
                  </a:lnTo>
                  <a:cubicBezTo>
                    <a:pt x="32766" y="0"/>
                    <a:pt x="33147" y="381"/>
                    <a:pt x="33147" y="953"/>
                  </a:cubicBezTo>
                  <a:lnTo>
                    <a:pt x="33147" y="18669"/>
                  </a:lnTo>
                  <a:cubicBezTo>
                    <a:pt x="33147" y="19241"/>
                    <a:pt x="32671" y="19622"/>
                    <a:pt x="32195" y="19622"/>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楷体"/>
                <a:cs typeface="+mn-cs"/>
              </a:endParaRPr>
            </a:p>
          </p:txBody>
        </p:sp>
        <p:sp>
          <p:nvSpPr>
            <p:cNvPr id="29" name="任意多边形: 形状 28">
              <a:extLst>
                <a:ext uri="{FF2B5EF4-FFF2-40B4-BE49-F238E27FC236}">
                  <a16:creationId xmlns:a16="http://schemas.microsoft.com/office/drawing/2014/main" id="{36A2FEE6-1292-126C-2CEA-324A15186F05}"/>
                </a:ext>
              </a:extLst>
            </p:cNvPr>
            <p:cNvSpPr/>
            <p:nvPr/>
          </p:nvSpPr>
          <p:spPr>
            <a:xfrm>
              <a:off x="7087832" y="2579853"/>
              <a:ext cx="116847" cy="10769"/>
            </a:xfrm>
            <a:custGeom>
              <a:avLst/>
              <a:gdLst>
                <a:gd name="connsiteX0" fmla="*/ 0 w 20669"/>
                <a:gd name="connsiteY0" fmla="*/ 0 h 1905"/>
                <a:gd name="connsiteX1" fmla="*/ 20669 w 20669"/>
                <a:gd name="connsiteY1" fmla="*/ 0 h 1905"/>
                <a:gd name="connsiteX2" fmla="*/ 20669 w 20669"/>
                <a:gd name="connsiteY2" fmla="*/ 1905 h 1905"/>
                <a:gd name="connsiteX3" fmla="*/ 0 w 20669"/>
                <a:gd name="connsiteY3" fmla="*/ 1905 h 1905"/>
              </a:gdLst>
              <a:ahLst/>
              <a:cxnLst>
                <a:cxn ang="0">
                  <a:pos x="connsiteX0" y="connsiteY0"/>
                </a:cxn>
                <a:cxn ang="0">
                  <a:pos x="connsiteX1" y="connsiteY1"/>
                </a:cxn>
                <a:cxn ang="0">
                  <a:pos x="connsiteX2" y="connsiteY2"/>
                </a:cxn>
                <a:cxn ang="0">
                  <a:pos x="connsiteX3" y="connsiteY3"/>
                </a:cxn>
              </a:cxnLst>
              <a:rect l="l" t="t" r="r" b="b"/>
              <a:pathLst>
                <a:path w="20669" h="1905">
                  <a:moveTo>
                    <a:pt x="0" y="0"/>
                  </a:moveTo>
                  <a:lnTo>
                    <a:pt x="20669" y="0"/>
                  </a:lnTo>
                  <a:lnTo>
                    <a:pt x="20669" y="1905"/>
                  </a:lnTo>
                  <a:lnTo>
                    <a:pt x="0" y="1905"/>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楷体"/>
                <a:cs typeface="+mn-cs"/>
              </a:endParaRPr>
            </a:p>
          </p:txBody>
        </p:sp>
        <p:sp>
          <p:nvSpPr>
            <p:cNvPr id="30" name="任意多边形: 形状 29">
              <a:extLst>
                <a:ext uri="{FF2B5EF4-FFF2-40B4-BE49-F238E27FC236}">
                  <a16:creationId xmlns:a16="http://schemas.microsoft.com/office/drawing/2014/main" id="{B69EB4A9-86A4-D170-58C7-1A2010884C65}"/>
                </a:ext>
              </a:extLst>
            </p:cNvPr>
            <p:cNvSpPr/>
            <p:nvPr/>
          </p:nvSpPr>
          <p:spPr>
            <a:xfrm>
              <a:off x="7087832" y="2599775"/>
              <a:ext cx="116847" cy="10769"/>
            </a:xfrm>
            <a:custGeom>
              <a:avLst/>
              <a:gdLst>
                <a:gd name="connsiteX0" fmla="*/ 0 w 20669"/>
                <a:gd name="connsiteY0" fmla="*/ 0 h 1905"/>
                <a:gd name="connsiteX1" fmla="*/ 20669 w 20669"/>
                <a:gd name="connsiteY1" fmla="*/ 0 h 1905"/>
                <a:gd name="connsiteX2" fmla="*/ 20669 w 20669"/>
                <a:gd name="connsiteY2" fmla="*/ 1905 h 1905"/>
                <a:gd name="connsiteX3" fmla="*/ 0 w 20669"/>
                <a:gd name="connsiteY3" fmla="*/ 1905 h 1905"/>
              </a:gdLst>
              <a:ahLst/>
              <a:cxnLst>
                <a:cxn ang="0">
                  <a:pos x="connsiteX0" y="connsiteY0"/>
                </a:cxn>
                <a:cxn ang="0">
                  <a:pos x="connsiteX1" y="connsiteY1"/>
                </a:cxn>
                <a:cxn ang="0">
                  <a:pos x="connsiteX2" y="connsiteY2"/>
                </a:cxn>
                <a:cxn ang="0">
                  <a:pos x="connsiteX3" y="connsiteY3"/>
                </a:cxn>
              </a:cxnLst>
              <a:rect l="l" t="t" r="r" b="b"/>
              <a:pathLst>
                <a:path w="20669" h="1905">
                  <a:moveTo>
                    <a:pt x="0" y="0"/>
                  </a:moveTo>
                  <a:lnTo>
                    <a:pt x="20669" y="0"/>
                  </a:lnTo>
                  <a:lnTo>
                    <a:pt x="20669" y="1905"/>
                  </a:lnTo>
                  <a:lnTo>
                    <a:pt x="0" y="1905"/>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楷体"/>
                <a:cs typeface="+mn-cs"/>
              </a:endParaRPr>
            </a:p>
          </p:txBody>
        </p:sp>
        <p:sp>
          <p:nvSpPr>
            <p:cNvPr id="31" name="任意多边形: 形状 30">
              <a:extLst>
                <a:ext uri="{FF2B5EF4-FFF2-40B4-BE49-F238E27FC236}">
                  <a16:creationId xmlns:a16="http://schemas.microsoft.com/office/drawing/2014/main" id="{8698B20F-13F5-1E18-A8D0-CDBD1FB81B4D}"/>
                </a:ext>
              </a:extLst>
            </p:cNvPr>
            <p:cNvSpPr/>
            <p:nvPr/>
          </p:nvSpPr>
          <p:spPr>
            <a:xfrm>
              <a:off x="7087832" y="2619702"/>
              <a:ext cx="116847" cy="10769"/>
            </a:xfrm>
            <a:custGeom>
              <a:avLst/>
              <a:gdLst>
                <a:gd name="connsiteX0" fmla="*/ 0 w 20669"/>
                <a:gd name="connsiteY0" fmla="*/ 0 h 1905"/>
                <a:gd name="connsiteX1" fmla="*/ 20669 w 20669"/>
                <a:gd name="connsiteY1" fmla="*/ 0 h 1905"/>
                <a:gd name="connsiteX2" fmla="*/ 20669 w 20669"/>
                <a:gd name="connsiteY2" fmla="*/ 1905 h 1905"/>
                <a:gd name="connsiteX3" fmla="*/ 0 w 20669"/>
                <a:gd name="connsiteY3" fmla="*/ 1905 h 1905"/>
              </a:gdLst>
              <a:ahLst/>
              <a:cxnLst>
                <a:cxn ang="0">
                  <a:pos x="connsiteX0" y="connsiteY0"/>
                </a:cxn>
                <a:cxn ang="0">
                  <a:pos x="connsiteX1" y="connsiteY1"/>
                </a:cxn>
                <a:cxn ang="0">
                  <a:pos x="connsiteX2" y="connsiteY2"/>
                </a:cxn>
                <a:cxn ang="0">
                  <a:pos x="connsiteX3" y="connsiteY3"/>
                </a:cxn>
              </a:cxnLst>
              <a:rect l="l" t="t" r="r" b="b"/>
              <a:pathLst>
                <a:path w="20669" h="1905">
                  <a:moveTo>
                    <a:pt x="0" y="0"/>
                  </a:moveTo>
                  <a:lnTo>
                    <a:pt x="20669" y="0"/>
                  </a:lnTo>
                  <a:lnTo>
                    <a:pt x="20669" y="1905"/>
                  </a:lnTo>
                  <a:lnTo>
                    <a:pt x="0" y="1905"/>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楷体"/>
                <a:cs typeface="+mn-cs"/>
              </a:endParaRPr>
            </a:p>
          </p:txBody>
        </p:sp>
        <p:sp>
          <p:nvSpPr>
            <p:cNvPr id="32" name="任意多边形: 形状 31">
              <a:extLst>
                <a:ext uri="{FF2B5EF4-FFF2-40B4-BE49-F238E27FC236}">
                  <a16:creationId xmlns:a16="http://schemas.microsoft.com/office/drawing/2014/main" id="{021194FF-95B3-A976-9458-EE37D2D4B043}"/>
                </a:ext>
              </a:extLst>
            </p:cNvPr>
            <p:cNvSpPr/>
            <p:nvPr/>
          </p:nvSpPr>
          <p:spPr>
            <a:xfrm>
              <a:off x="7087832" y="2639624"/>
              <a:ext cx="116847" cy="10769"/>
            </a:xfrm>
            <a:custGeom>
              <a:avLst/>
              <a:gdLst>
                <a:gd name="connsiteX0" fmla="*/ 0 w 20669"/>
                <a:gd name="connsiteY0" fmla="*/ 0 h 1905"/>
                <a:gd name="connsiteX1" fmla="*/ 20669 w 20669"/>
                <a:gd name="connsiteY1" fmla="*/ 0 h 1905"/>
                <a:gd name="connsiteX2" fmla="*/ 20669 w 20669"/>
                <a:gd name="connsiteY2" fmla="*/ 1905 h 1905"/>
                <a:gd name="connsiteX3" fmla="*/ 0 w 20669"/>
                <a:gd name="connsiteY3" fmla="*/ 1905 h 1905"/>
              </a:gdLst>
              <a:ahLst/>
              <a:cxnLst>
                <a:cxn ang="0">
                  <a:pos x="connsiteX0" y="connsiteY0"/>
                </a:cxn>
                <a:cxn ang="0">
                  <a:pos x="connsiteX1" y="connsiteY1"/>
                </a:cxn>
                <a:cxn ang="0">
                  <a:pos x="connsiteX2" y="connsiteY2"/>
                </a:cxn>
                <a:cxn ang="0">
                  <a:pos x="connsiteX3" y="connsiteY3"/>
                </a:cxn>
              </a:cxnLst>
              <a:rect l="l" t="t" r="r" b="b"/>
              <a:pathLst>
                <a:path w="20669" h="1905">
                  <a:moveTo>
                    <a:pt x="0" y="0"/>
                  </a:moveTo>
                  <a:lnTo>
                    <a:pt x="20669" y="0"/>
                  </a:lnTo>
                  <a:lnTo>
                    <a:pt x="20669" y="1905"/>
                  </a:lnTo>
                  <a:lnTo>
                    <a:pt x="0" y="1905"/>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楷体"/>
                <a:cs typeface="+mn-cs"/>
              </a:endParaRPr>
            </a:p>
          </p:txBody>
        </p:sp>
        <p:sp>
          <p:nvSpPr>
            <p:cNvPr id="33" name="任意多边形: 形状 32">
              <a:extLst>
                <a:ext uri="{FF2B5EF4-FFF2-40B4-BE49-F238E27FC236}">
                  <a16:creationId xmlns:a16="http://schemas.microsoft.com/office/drawing/2014/main" id="{0DDBFA88-8BD4-1C4E-C46A-EF43B0153938}"/>
                </a:ext>
              </a:extLst>
            </p:cNvPr>
            <p:cNvSpPr/>
            <p:nvPr/>
          </p:nvSpPr>
          <p:spPr>
            <a:xfrm>
              <a:off x="7087832" y="2659546"/>
              <a:ext cx="116847" cy="10769"/>
            </a:xfrm>
            <a:custGeom>
              <a:avLst/>
              <a:gdLst>
                <a:gd name="connsiteX0" fmla="*/ 0 w 20669"/>
                <a:gd name="connsiteY0" fmla="*/ 0 h 1905"/>
                <a:gd name="connsiteX1" fmla="*/ 20669 w 20669"/>
                <a:gd name="connsiteY1" fmla="*/ 0 h 1905"/>
                <a:gd name="connsiteX2" fmla="*/ 20669 w 20669"/>
                <a:gd name="connsiteY2" fmla="*/ 1905 h 1905"/>
                <a:gd name="connsiteX3" fmla="*/ 0 w 20669"/>
                <a:gd name="connsiteY3" fmla="*/ 1905 h 1905"/>
              </a:gdLst>
              <a:ahLst/>
              <a:cxnLst>
                <a:cxn ang="0">
                  <a:pos x="connsiteX0" y="connsiteY0"/>
                </a:cxn>
                <a:cxn ang="0">
                  <a:pos x="connsiteX1" y="connsiteY1"/>
                </a:cxn>
                <a:cxn ang="0">
                  <a:pos x="connsiteX2" y="connsiteY2"/>
                </a:cxn>
                <a:cxn ang="0">
                  <a:pos x="connsiteX3" y="connsiteY3"/>
                </a:cxn>
              </a:cxnLst>
              <a:rect l="l" t="t" r="r" b="b"/>
              <a:pathLst>
                <a:path w="20669" h="1905">
                  <a:moveTo>
                    <a:pt x="0" y="0"/>
                  </a:moveTo>
                  <a:lnTo>
                    <a:pt x="20669" y="0"/>
                  </a:lnTo>
                  <a:lnTo>
                    <a:pt x="20669" y="1905"/>
                  </a:lnTo>
                  <a:lnTo>
                    <a:pt x="0" y="1905"/>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楷体"/>
                <a:cs typeface="+mn-cs"/>
              </a:endParaRPr>
            </a:p>
          </p:txBody>
        </p:sp>
      </p:grpSp>
      <p:grpSp>
        <p:nvGrpSpPr>
          <p:cNvPr id="34" name="组合 33">
            <a:extLst>
              <a:ext uri="{FF2B5EF4-FFF2-40B4-BE49-F238E27FC236}">
                <a16:creationId xmlns:a16="http://schemas.microsoft.com/office/drawing/2014/main" id="{9971EE23-0087-8797-5E04-F1BC541AB5EB}"/>
              </a:ext>
            </a:extLst>
          </p:cNvPr>
          <p:cNvGrpSpPr/>
          <p:nvPr userDrawn="1"/>
        </p:nvGrpSpPr>
        <p:grpSpPr>
          <a:xfrm>
            <a:off x="767897" y="4564555"/>
            <a:ext cx="171960" cy="264159"/>
            <a:chOff x="5722873" y="1920254"/>
            <a:chExt cx="120388" cy="184936"/>
          </a:xfrm>
          <a:solidFill>
            <a:schemeClr val="accent1">
              <a:lumMod val="75000"/>
            </a:schemeClr>
          </a:solidFill>
        </p:grpSpPr>
        <p:sp>
          <p:nvSpPr>
            <p:cNvPr id="35" name="任意多边形: 形状 34">
              <a:extLst>
                <a:ext uri="{FF2B5EF4-FFF2-40B4-BE49-F238E27FC236}">
                  <a16:creationId xmlns:a16="http://schemas.microsoft.com/office/drawing/2014/main" id="{8D2C2089-F7C4-2B44-2F43-43B93C1DBBC1}"/>
                </a:ext>
              </a:extLst>
            </p:cNvPr>
            <p:cNvSpPr/>
            <p:nvPr/>
          </p:nvSpPr>
          <p:spPr>
            <a:xfrm>
              <a:off x="5722873" y="1920254"/>
              <a:ext cx="120388" cy="184936"/>
            </a:xfrm>
            <a:custGeom>
              <a:avLst/>
              <a:gdLst>
                <a:gd name="connsiteX0" fmla="*/ 28004 w 28956"/>
                <a:gd name="connsiteY0" fmla="*/ 44482 h 44481"/>
                <a:gd name="connsiteX1" fmla="*/ 953 w 28956"/>
                <a:gd name="connsiteY1" fmla="*/ 44482 h 44481"/>
                <a:gd name="connsiteX2" fmla="*/ 0 w 28956"/>
                <a:gd name="connsiteY2" fmla="*/ 43529 h 44481"/>
                <a:gd name="connsiteX3" fmla="*/ 0 w 28956"/>
                <a:gd name="connsiteY3" fmla="*/ 953 h 44481"/>
                <a:gd name="connsiteX4" fmla="*/ 953 w 28956"/>
                <a:gd name="connsiteY4" fmla="*/ 0 h 44481"/>
                <a:gd name="connsiteX5" fmla="*/ 28004 w 28956"/>
                <a:gd name="connsiteY5" fmla="*/ 0 h 44481"/>
                <a:gd name="connsiteX6" fmla="*/ 28956 w 28956"/>
                <a:gd name="connsiteY6" fmla="*/ 953 h 44481"/>
                <a:gd name="connsiteX7" fmla="*/ 28956 w 28956"/>
                <a:gd name="connsiteY7" fmla="*/ 43529 h 44481"/>
                <a:gd name="connsiteX8" fmla="*/ 28004 w 28956"/>
                <a:gd name="connsiteY8" fmla="*/ 44482 h 44481"/>
                <a:gd name="connsiteX9" fmla="*/ 1810 w 28956"/>
                <a:gd name="connsiteY9" fmla="*/ 42577 h 44481"/>
                <a:gd name="connsiteX10" fmla="*/ 26956 w 28956"/>
                <a:gd name="connsiteY10" fmla="*/ 42577 h 44481"/>
                <a:gd name="connsiteX11" fmla="*/ 26956 w 28956"/>
                <a:gd name="connsiteY11" fmla="*/ 1905 h 44481"/>
                <a:gd name="connsiteX12" fmla="*/ 1810 w 28956"/>
                <a:gd name="connsiteY12" fmla="*/ 1905 h 44481"/>
                <a:gd name="connsiteX13" fmla="*/ 1810 w 28956"/>
                <a:gd name="connsiteY13" fmla="*/ 42577 h 44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956" h="44481">
                  <a:moveTo>
                    <a:pt x="28004" y="44482"/>
                  </a:moveTo>
                  <a:lnTo>
                    <a:pt x="953" y="44482"/>
                  </a:lnTo>
                  <a:cubicBezTo>
                    <a:pt x="381" y="44482"/>
                    <a:pt x="0" y="44101"/>
                    <a:pt x="0" y="43529"/>
                  </a:cubicBezTo>
                  <a:lnTo>
                    <a:pt x="0" y="953"/>
                  </a:lnTo>
                  <a:cubicBezTo>
                    <a:pt x="0" y="381"/>
                    <a:pt x="381" y="0"/>
                    <a:pt x="953" y="0"/>
                  </a:cubicBezTo>
                  <a:lnTo>
                    <a:pt x="28004" y="0"/>
                  </a:lnTo>
                  <a:cubicBezTo>
                    <a:pt x="28575" y="0"/>
                    <a:pt x="28956" y="476"/>
                    <a:pt x="28956" y="953"/>
                  </a:cubicBezTo>
                  <a:lnTo>
                    <a:pt x="28956" y="43529"/>
                  </a:lnTo>
                  <a:cubicBezTo>
                    <a:pt x="28956" y="44101"/>
                    <a:pt x="28575" y="44482"/>
                    <a:pt x="28004" y="44482"/>
                  </a:cubicBezTo>
                  <a:moveTo>
                    <a:pt x="1810" y="42577"/>
                  </a:moveTo>
                  <a:lnTo>
                    <a:pt x="26956" y="42577"/>
                  </a:lnTo>
                  <a:lnTo>
                    <a:pt x="26956" y="1905"/>
                  </a:lnTo>
                  <a:lnTo>
                    <a:pt x="1810" y="1905"/>
                  </a:lnTo>
                  <a:lnTo>
                    <a:pt x="1810" y="42577"/>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楷体"/>
                <a:cs typeface="+mn-cs"/>
              </a:endParaRPr>
            </a:p>
          </p:txBody>
        </p:sp>
        <p:sp>
          <p:nvSpPr>
            <p:cNvPr id="36" name="任意多边形: 形状 35">
              <a:extLst>
                <a:ext uri="{FF2B5EF4-FFF2-40B4-BE49-F238E27FC236}">
                  <a16:creationId xmlns:a16="http://schemas.microsoft.com/office/drawing/2014/main" id="{91A914EF-FF8D-6F9B-F0D7-6AD5FE48796A}"/>
                </a:ext>
              </a:extLst>
            </p:cNvPr>
            <p:cNvSpPr/>
            <p:nvPr/>
          </p:nvSpPr>
          <p:spPr>
            <a:xfrm>
              <a:off x="5738714" y="1947183"/>
              <a:ext cx="88308" cy="109695"/>
            </a:xfrm>
            <a:custGeom>
              <a:avLst/>
              <a:gdLst>
                <a:gd name="connsiteX0" fmla="*/ 20288 w 21240"/>
                <a:gd name="connsiteY0" fmla="*/ 26384 h 26384"/>
                <a:gd name="connsiteX1" fmla="*/ 953 w 21240"/>
                <a:gd name="connsiteY1" fmla="*/ 26384 h 26384"/>
                <a:gd name="connsiteX2" fmla="*/ 0 w 21240"/>
                <a:gd name="connsiteY2" fmla="*/ 25432 h 26384"/>
                <a:gd name="connsiteX3" fmla="*/ 0 w 21240"/>
                <a:gd name="connsiteY3" fmla="*/ 953 h 26384"/>
                <a:gd name="connsiteX4" fmla="*/ 953 w 21240"/>
                <a:gd name="connsiteY4" fmla="*/ 0 h 26384"/>
                <a:gd name="connsiteX5" fmla="*/ 20288 w 21240"/>
                <a:gd name="connsiteY5" fmla="*/ 0 h 26384"/>
                <a:gd name="connsiteX6" fmla="*/ 21241 w 21240"/>
                <a:gd name="connsiteY6" fmla="*/ 953 h 26384"/>
                <a:gd name="connsiteX7" fmla="*/ 21241 w 21240"/>
                <a:gd name="connsiteY7" fmla="*/ 25432 h 26384"/>
                <a:gd name="connsiteX8" fmla="*/ 20288 w 21240"/>
                <a:gd name="connsiteY8" fmla="*/ 26384 h 26384"/>
                <a:gd name="connsiteX9" fmla="*/ 1905 w 21240"/>
                <a:gd name="connsiteY9" fmla="*/ 24479 h 26384"/>
                <a:gd name="connsiteX10" fmla="*/ 19336 w 21240"/>
                <a:gd name="connsiteY10" fmla="*/ 24479 h 26384"/>
                <a:gd name="connsiteX11" fmla="*/ 19336 w 21240"/>
                <a:gd name="connsiteY11" fmla="*/ 1905 h 26384"/>
                <a:gd name="connsiteX12" fmla="*/ 1905 w 21240"/>
                <a:gd name="connsiteY12" fmla="*/ 1905 h 26384"/>
                <a:gd name="connsiteX13" fmla="*/ 1905 w 21240"/>
                <a:gd name="connsiteY13" fmla="*/ 24479 h 26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0" h="26384">
                  <a:moveTo>
                    <a:pt x="20288" y="26384"/>
                  </a:moveTo>
                  <a:lnTo>
                    <a:pt x="953" y="26384"/>
                  </a:lnTo>
                  <a:cubicBezTo>
                    <a:pt x="381" y="26384"/>
                    <a:pt x="0" y="25908"/>
                    <a:pt x="0" y="25432"/>
                  </a:cubicBezTo>
                  <a:lnTo>
                    <a:pt x="0" y="953"/>
                  </a:lnTo>
                  <a:cubicBezTo>
                    <a:pt x="0" y="381"/>
                    <a:pt x="476" y="0"/>
                    <a:pt x="953" y="0"/>
                  </a:cubicBezTo>
                  <a:lnTo>
                    <a:pt x="20288" y="0"/>
                  </a:lnTo>
                  <a:cubicBezTo>
                    <a:pt x="20860" y="0"/>
                    <a:pt x="21241" y="476"/>
                    <a:pt x="21241" y="953"/>
                  </a:cubicBezTo>
                  <a:lnTo>
                    <a:pt x="21241" y="25432"/>
                  </a:lnTo>
                  <a:cubicBezTo>
                    <a:pt x="21241" y="26003"/>
                    <a:pt x="20860" y="26384"/>
                    <a:pt x="20288" y="26384"/>
                  </a:cubicBezTo>
                  <a:moveTo>
                    <a:pt x="1905" y="24479"/>
                  </a:moveTo>
                  <a:lnTo>
                    <a:pt x="19336" y="24479"/>
                  </a:lnTo>
                  <a:lnTo>
                    <a:pt x="19336" y="1905"/>
                  </a:lnTo>
                  <a:lnTo>
                    <a:pt x="1905" y="1905"/>
                  </a:lnTo>
                  <a:lnTo>
                    <a:pt x="1905" y="24479"/>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楷体"/>
                <a:cs typeface="+mn-cs"/>
              </a:endParaRPr>
            </a:p>
          </p:txBody>
        </p:sp>
        <p:sp>
          <p:nvSpPr>
            <p:cNvPr id="37" name="任意多边形: 形状 36">
              <a:extLst>
                <a:ext uri="{FF2B5EF4-FFF2-40B4-BE49-F238E27FC236}">
                  <a16:creationId xmlns:a16="http://schemas.microsoft.com/office/drawing/2014/main" id="{8A4C67BC-D511-AB4E-7C66-457C9AB84C74}"/>
                </a:ext>
              </a:extLst>
            </p:cNvPr>
            <p:cNvSpPr/>
            <p:nvPr/>
          </p:nvSpPr>
          <p:spPr>
            <a:xfrm>
              <a:off x="5773564" y="2065592"/>
              <a:ext cx="19009" cy="19005"/>
            </a:xfrm>
            <a:custGeom>
              <a:avLst/>
              <a:gdLst>
                <a:gd name="connsiteX0" fmla="*/ 4572 w 4572"/>
                <a:gd name="connsiteY0" fmla="*/ 2286 h 4571"/>
                <a:gd name="connsiteX1" fmla="*/ 2286 w 4572"/>
                <a:gd name="connsiteY1" fmla="*/ 4572 h 4571"/>
                <a:gd name="connsiteX2" fmla="*/ 0 w 4572"/>
                <a:gd name="connsiteY2" fmla="*/ 2286 h 4571"/>
                <a:gd name="connsiteX3" fmla="*/ 2286 w 4572"/>
                <a:gd name="connsiteY3" fmla="*/ 0 h 4571"/>
                <a:gd name="connsiteX4" fmla="*/ 4572 w 4572"/>
                <a:gd name="connsiteY4" fmla="*/ 2286 h 4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 h="4571">
                  <a:moveTo>
                    <a:pt x="4572" y="2286"/>
                  </a:moveTo>
                  <a:cubicBezTo>
                    <a:pt x="4572" y="3524"/>
                    <a:pt x="3524" y="4572"/>
                    <a:pt x="2286" y="4572"/>
                  </a:cubicBezTo>
                  <a:cubicBezTo>
                    <a:pt x="1048" y="4572"/>
                    <a:pt x="0" y="3524"/>
                    <a:pt x="0" y="2286"/>
                  </a:cubicBezTo>
                  <a:cubicBezTo>
                    <a:pt x="0" y="1048"/>
                    <a:pt x="1048" y="0"/>
                    <a:pt x="2286" y="0"/>
                  </a:cubicBezTo>
                  <a:cubicBezTo>
                    <a:pt x="3524" y="0"/>
                    <a:pt x="4572" y="1048"/>
                    <a:pt x="4572" y="22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楷体"/>
                <a:cs typeface="+mn-cs"/>
              </a:endParaRPr>
            </a:p>
          </p:txBody>
        </p:sp>
      </p:grpSp>
      <p:sp>
        <p:nvSpPr>
          <p:cNvPr id="42" name="文本占位符 41">
            <a:extLst>
              <a:ext uri="{FF2B5EF4-FFF2-40B4-BE49-F238E27FC236}">
                <a16:creationId xmlns:a16="http://schemas.microsoft.com/office/drawing/2014/main" id="{F0A4D88B-468F-1B4D-6CD0-201BC8D68507}"/>
              </a:ext>
            </a:extLst>
          </p:cNvPr>
          <p:cNvSpPr>
            <a:spLocks noGrp="1"/>
          </p:cNvSpPr>
          <p:nvPr userDrawn="1">
            <p:ph type="body" sz="quarter" idx="14" hasCustomPrompt="1"/>
          </p:nvPr>
        </p:nvSpPr>
        <p:spPr>
          <a:xfrm>
            <a:off x="793173" y="2268538"/>
            <a:ext cx="1658937" cy="554037"/>
          </a:xfrm>
        </p:spPr>
        <p:txBody>
          <a:bodyPr/>
          <a:lstStyle>
            <a:lvl1pPr>
              <a:defRPr sz="3600" b="1" baseline="0">
                <a:solidFill>
                  <a:schemeClr val="accent1"/>
                </a:solidFill>
                <a:latin typeface="Arial" panose="020B0604020202020204" pitchFamily="34" charset="0"/>
                <a:ea typeface="黑体" panose="02010609060101010101" pitchFamily="49" charset="-122"/>
              </a:defRPr>
            </a:lvl1pPr>
          </a:lstStyle>
          <a:p>
            <a:pPr lvl="0"/>
            <a:r>
              <a:rPr lang="zh-CN" altLang="en-US" dirty="0"/>
              <a:t>名字</a:t>
            </a:r>
          </a:p>
        </p:txBody>
      </p:sp>
      <p:sp>
        <p:nvSpPr>
          <p:cNvPr id="43" name="文本占位符 41">
            <a:extLst>
              <a:ext uri="{FF2B5EF4-FFF2-40B4-BE49-F238E27FC236}">
                <a16:creationId xmlns:a16="http://schemas.microsoft.com/office/drawing/2014/main" id="{09CAA1C2-4565-031B-9525-06F9B1944F5A}"/>
              </a:ext>
            </a:extLst>
          </p:cNvPr>
          <p:cNvSpPr>
            <a:spLocks noGrp="1"/>
          </p:cNvSpPr>
          <p:nvPr userDrawn="1">
            <p:ph type="body" sz="quarter" idx="15" hasCustomPrompt="1"/>
          </p:nvPr>
        </p:nvSpPr>
        <p:spPr>
          <a:xfrm>
            <a:off x="6756329" y="2173041"/>
            <a:ext cx="5005527" cy="3999159"/>
          </a:xfrm>
        </p:spPr>
        <p:txBody>
          <a:bodyPr/>
          <a:lstStyle>
            <a:lvl1pPr>
              <a:defRPr sz="1200" b="0" baseline="0">
                <a:solidFill>
                  <a:srgbClr val="333333"/>
                </a:solidFill>
                <a:latin typeface="Arial" panose="020B0604020202020204" pitchFamily="34" charset="0"/>
                <a:ea typeface="黑体" panose="02010609060101010101" pitchFamily="49" charset="-122"/>
              </a:defRPr>
            </a:lvl1pPr>
          </a:lstStyle>
          <a:p>
            <a:pPr lvl="0"/>
            <a:r>
              <a:rPr lang="zh-CN" altLang="en-US" dirty="0"/>
              <a:t>添加内容</a:t>
            </a:r>
          </a:p>
        </p:txBody>
      </p:sp>
      <p:sp>
        <p:nvSpPr>
          <p:cNvPr id="44" name="文本占位符 41">
            <a:extLst>
              <a:ext uri="{FF2B5EF4-FFF2-40B4-BE49-F238E27FC236}">
                <a16:creationId xmlns:a16="http://schemas.microsoft.com/office/drawing/2014/main" id="{8EF92A32-C38F-E9CC-4D38-8D9F4812D1AB}"/>
              </a:ext>
            </a:extLst>
          </p:cNvPr>
          <p:cNvSpPr>
            <a:spLocks noGrp="1"/>
          </p:cNvSpPr>
          <p:nvPr userDrawn="1">
            <p:ph type="body" sz="quarter" idx="16" hasCustomPrompt="1"/>
          </p:nvPr>
        </p:nvSpPr>
        <p:spPr>
          <a:xfrm>
            <a:off x="1065400" y="3536176"/>
            <a:ext cx="1563500" cy="287249"/>
          </a:xfrm>
        </p:spPr>
        <p:txBody>
          <a:bodyPr anchor="ctr"/>
          <a:lstStyle>
            <a:lvl1pPr>
              <a:defRPr sz="1400" b="0" baseline="0">
                <a:solidFill>
                  <a:srgbClr val="333333"/>
                </a:solidFill>
                <a:latin typeface="Arial" panose="020B0604020202020204" pitchFamily="34" charset="0"/>
                <a:ea typeface="黑体" panose="02010609060101010101" pitchFamily="49" charset="-122"/>
              </a:defRPr>
            </a:lvl1pPr>
          </a:lstStyle>
          <a:p>
            <a:pPr lvl="0"/>
            <a:r>
              <a:rPr lang="zh-CN" altLang="en-US" dirty="0"/>
              <a:t>中国注册会计师</a:t>
            </a:r>
          </a:p>
        </p:txBody>
      </p:sp>
      <p:sp>
        <p:nvSpPr>
          <p:cNvPr id="45" name="文本占位符 41">
            <a:extLst>
              <a:ext uri="{FF2B5EF4-FFF2-40B4-BE49-F238E27FC236}">
                <a16:creationId xmlns:a16="http://schemas.microsoft.com/office/drawing/2014/main" id="{7E6EED54-4D10-5107-CBF8-A6FE0BE5F434}"/>
              </a:ext>
            </a:extLst>
          </p:cNvPr>
          <p:cNvSpPr>
            <a:spLocks noGrp="1"/>
          </p:cNvSpPr>
          <p:nvPr>
            <p:ph type="body" sz="quarter" idx="17" hasCustomPrompt="1"/>
          </p:nvPr>
        </p:nvSpPr>
        <p:spPr>
          <a:xfrm>
            <a:off x="1065400" y="4077196"/>
            <a:ext cx="1820040" cy="287249"/>
          </a:xfrm>
        </p:spPr>
        <p:txBody>
          <a:bodyPr anchor="ctr"/>
          <a:lstStyle>
            <a:lvl1pPr>
              <a:buNone/>
              <a:defRPr sz="1200" b="0" baseline="0">
                <a:solidFill>
                  <a:srgbClr val="333333"/>
                </a:solidFill>
                <a:latin typeface="Arial" panose="020B0604020202020204" pitchFamily="34" charset="0"/>
                <a:ea typeface="黑体" panose="02010609060101010101" pitchFamily="49" charset="-122"/>
              </a:defRPr>
            </a:lvl1pPr>
          </a:lstStyle>
          <a:p>
            <a:pPr lvl="0"/>
            <a:r>
              <a:rPr lang="zh-CN" altLang="en-US" dirty="0"/>
              <a:t>添加邮箱</a:t>
            </a:r>
          </a:p>
        </p:txBody>
      </p:sp>
      <p:sp>
        <p:nvSpPr>
          <p:cNvPr id="46" name="文本占位符 41">
            <a:extLst>
              <a:ext uri="{FF2B5EF4-FFF2-40B4-BE49-F238E27FC236}">
                <a16:creationId xmlns:a16="http://schemas.microsoft.com/office/drawing/2014/main" id="{FDF2A2B5-DD28-3D31-7FFA-D61630C0DD14}"/>
              </a:ext>
            </a:extLst>
          </p:cNvPr>
          <p:cNvSpPr>
            <a:spLocks noGrp="1"/>
          </p:cNvSpPr>
          <p:nvPr>
            <p:ph type="body" sz="quarter" idx="18" hasCustomPrompt="1"/>
          </p:nvPr>
        </p:nvSpPr>
        <p:spPr>
          <a:xfrm>
            <a:off x="1065400" y="4549636"/>
            <a:ext cx="1820040" cy="287249"/>
          </a:xfrm>
        </p:spPr>
        <p:txBody>
          <a:bodyPr anchor="ctr"/>
          <a:lstStyle>
            <a:lvl1pPr>
              <a:buNone/>
              <a:defRPr sz="1200" b="0" baseline="0">
                <a:solidFill>
                  <a:srgbClr val="333333"/>
                </a:solidFill>
                <a:latin typeface="Arial" panose="020B0604020202020204" pitchFamily="34" charset="0"/>
                <a:ea typeface="黑体" panose="02010609060101010101" pitchFamily="49" charset="-122"/>
              </a:defRPr>
            </a:lvl1pPr>
          </a:lstStyle>
          <a:p>
            <a:pPr lvl="0"/>
            <a:r>
              <a:rPr lang="zh-CN" altLang="en-US" dirty="0"/>
              <a:t>添加电话</a:t>
            </a:r>
          </a:p>
        </p:txBody>
      </p:sp>
      <p:sp>
        <p:nvSpPr>
          <p:cNvPr id="47" name="文本占位符 41">
            <a:extLst>
              <a:ext uri="{FF2B5EF4-FFF2-40B4-BE49-F238E27FC236}">
                <a16:creationId xmlns:a16="http://schemas.microsoft.com/office/drawing/2014/main" id="{74FC16DD-471D-40EB-5954-9D7BD6B62B5C}"/>
              </a:ext>
            </a:extLst>
          </p:cNvPr>
          <p:cNvSpPr>
            <a:spLocks noGrp="1"/>
          </p:cNvSpPr>
          <p:nvPr>
            <p:ph type="body" sz="quarter" idx="19" hasCustomPrompt="1"/>
          </p:nvPr>
        </p:nvSpPr>
        <p:spPr>
          <a:xfrm>
            <a:off x="587375" y="2978808"/>
            <a:ext cx="2373731" cy="384151"/>
          </a:xfrm>
          <a:prstGeom prst="roundRect">
            <a:avLst>
              <a:gd name="adj" fmla="val 50000"/>
            </a:avLst>
          </a:prstGeom>
          <a:solidFill>
            <a:schemeClr val="accent1"/>
          </a:solidFill>
        </p:spPr>
        <p:txBody>
          <a:bodyPr anchor="ctr"/>
          <a:lstStyle>
            <a:lvl1pPr algn="ctr">
              <a:defRPr sz="1400" b="0" baseline="0">
                <a:solidFill>
                  <a:schemeClr val="bg1"/>
                </a:solidFill>
                <a:latin typeface="Arial" panose="020B0604020202020204" pitchFamily="34" charset="0"/>
                <a:ea typeface="黑体" panose="02010609060101010101" pitchFamily="49" charset="-122"/>
              </a:defRPr>
            </a:lvl1pPr>
          </a:lstStyle>
          <a:p>
            <a:pPr lvl="0"/>
            <a:r>
              <a:rPr lang="zh-CN" altLang="en-US" dirty="0"/>
              <a:t>合伙人</a:t>
            </a:r>
          </a:p>
        </p:txBody>
      </p:sp>
    </p:spTree>
    <p:extLst>
      <p:ext uri="{BB962C8B-B14F-4D97-AF65-F5344CB8AC3E}">
        <p14:creationId xmlns:p14="http://schemas.microsoft.com/office/powerpoint/2010/main" val="4037815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RSM-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0484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CDF1C-1352-3E3F-D585-C199D35137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501F7F-969F-D45C-4595-6920FFAE4E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384682-F364-D86F-7FC9-DC6F07810963}"/>
              </a:ext>
            </a:extLst>
          </p:cNvPr>
          <p:cNvSpPr>
            <a:spLocks noGrp="1"/>
          </p:cNvSpPr>
          <p:nvPr>
            <p:ph type="dt" sz="half" idx="10"/>
          </p:nvPr>
        </p:nvSpPr>
        <p:spPr/>
        <p:txBody>
          <a:bodyPr/>
          <a:lstStyle/>
          <a:p>
            <a:fld id="{42B25B7B-4460-4D5A-8683-41312A8D5563}" type="datetimeFigureOut">
              <a:rPr lang="en-US" smtClean="0"/>
              <a:t>4/14/2026</a:t>
            </a:fld>
            <a:endParaRPr lang="en-US"/>
          </a:p>
        </p:txBody>
      </p:sp>
      <p:sp>
        <p:nvSpPr>
          <p:cNvPr id="5" name="Footer Placeholder 4">
            <a:extLst>
              <a:ext uri="{FF2B5EF4-FFF2-40B4-BE49-F238E27FC236}">
                <a16:creationId xmlns:a16="http://schemas.microsoft.com/office/drawing/2014/main" id="{88B418A0-2C1E-1AF8-9621-A7DC662D52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1D4C0E-41C9-70AB-90B5-DF97F2F669CC}"/>
              </a:ext>
            </a:extLst>
          </p:cNvPr>
          <p:cNvSpPr>
            <a:spLocks noGrp="1"/>
          </p:cNvSpPr>
          <p:nvPr>
            <p:ph type="sldNum" sz="quarter" idx="12"/>
          </p:nvPr>
        </p:nvSpPr>
        <p:spPr/>
        <p:txBody>
          <a:bodyPr/>
          <a:lstStyle/>
          <a:p>
            <a:fld id="{808A7AC0-A714-4B25-AFED-9823F8D6B8AB}" type="slidenum">
              <a:rPr lang="en-US" smtClean="0"/>
              <a:t>‹#›</a:t>
            </a:fld>
            <a:endParaRPr lang="en-US"/>
          </a:p>
        </p:txBody>
      </p:sp>
    </p:spTree>
    <p:extLst>
      <p:ext uri="{BB962C8B-B14F-4D97-AF65-F5344CB8AC3E}">
        <p14:creationId xmlns:p14="http://schemas.microsoft.com/office/powerpoint/2010/main" val="1999212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1058CA2-B955-6585-F066-590FFE07FA2B}"/>
              </a:ext>
            </a:extLst>
          </p:cNvPr>
          <p:cNvGraphicFramePr>
            <a:graphicFrameLocks noChangeAspect="1"/>
          </p:cNvGraphicFramePr>
          <p:nvPr userDrawn="1">
            <p:custDataLst>
              <p:tags r:id="rId10"/>
            </p:custDataLst>
            <p:extLst>
              <p:ext uri="{D42A27DB-BD31-4B8C-83A1-F6EECF244321}">
                <p14:modId xmlns:p14="http://schemas.microsoft.com/office/powerpoint/2010/main" val="18695359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1" imgW="347" imgH="348" progId="TCLayout.ActiveDocument.1">
                  <p:embed/>
                </p:oleObj>
              </mc:Choice>
              <mc:Fallback>
                <p:oleObj name="think-cell 幻灯片" r:id="rId11" imgW="347" imgH="348" progId="TCLayout.ActiveDocument.1">
                  <p:embed/>
                  <p:pic>
                    <p:nvPicPr>
                      <p:cNvPr id="5" name="think-cell data - do not delete" hidden="1">
                        <a:extLst>
                          <a:ext uri="{FF2B5EF4-FFF2-40B4-BE49-F238E27FC236}">
                            <a16:creationId xmlns:a16="http://schemas.microsoft.com/office/drawing/2014/main" id="{B1058CA2-B955-6585-F066-590FFE07FA2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30A268A3-CC8A-9B2C-6F27-72A58FD81814}"/>
              </a:ext>
            </a:extLst>
          </p:cNvPr>
          <p:cNvSpPr>
            <a:spLocks noGrp="1"/>
          </p:cNvSpPr>
          <p:nvPr>
            <p:ph type="title"/>
          </p:nvPr>
        </p:nvSpPr>
        <p:spPr>
          <a:xfrm>
            <a:off x="666750" y="308408"/>
            <a:ext cx="10858500" cy="369332"/>
          </a:xfrm>
          <a:prstGeom prst="rect">
            <a:avLst/>
          </a:prstGeom>
        </p:spPr>
        <p:txBody>
          <a:bodyPr vert="horz" wrap="square" lIns="0" tIns="0" rIns="0" bIns="0" rtlCol="0" anchor="t" anchorCtr="0">
            <a:spAutoFit/>
          </a:bodyPr>
          <a:lstStyle/>
          <a:p>
            <a:r>
              <a:rPr lang="zh-SG" altLang="en-US"/>
              <a:t>单击此处编辑母版标题样式</a:t>
            </a:r>
          </a:p>
        </p:txBody>
      </p:sp>
      <p:sp>
        <p:nvSpPr>
          <p:cNvPr id="3" name="Body master placeholder">
            <a:extLst>
              <a:ext uri="{FF2B5EF4-FFF2-40B4-BE49-F238E27FC236}">
                <a16:creationId xmlns:a16="http://schemas.microsoft.com/office/drawing/2014/main" id="{25588368-969F-FC81-9ED1-667A57F9E191}"/>
              </a:ext>
            </a:extLst>
          </p:cNvPr>
          <p:cNvSpPr>
            <a:spLocks noGrp="1"/>
          </p:cNvSpPr>
          <p:nvPr>
            <p:ph type="body" idx="1"/>
          </p:nvPr>
        </p:nvSpPr>
        <p:spPr>
          <a:xfrm>
            <a:off x="785813" y="1898650"/>
            <a:ext cx="10620375" cy="4319588"/>
          </a:xfrm>
          <a:prstGeom prst="rect">
            <a:avLst/>
          </a:prstGeom>
        </p:spPr>
        <p:txBody>
          <a:bodyPr vert="horz" lIns="0" tIns="0" rIns="0" bIns="0" spcCol="180000" rtlCol="0">
            <a:noAutofit/>
          </a:bodyPr>
          <a:lstStyle/>
          <a:p>
            <a:pPr lvl="0"/>
            <a:r>
              <a:rPr lang="zh-SG" altLang="en-US"/>
              <a:t>单击此处编辑母版文本样式</a:t>
            </a:r>
          </a:p>
          <a:p>
            <a:pPr lvl="1"/>
            <a:r>
              <a:rPr lang="zh-SG" altLang="en-US"/>
              <a:t>二级</a:t>
            </a:r>
          </a:p>
          <a:p>
            <a:pPr lvl="2"/>
            <a:r>
              <a:rPr lang="zh-SG" altLang="en-US"/>
              <a:t>三级</a:t>
            </a:r>
          </a:p>
          <a:p>
            <a:pPr lvl="3"/>
            <a:r>
              <a:rPr lang="zh-SG" altLang="en-US"/>
              <a:t>四级</a:t>
            </a:r>
          </a:p>
          <a:p>
            <a:pPr lvl="4"/>
            <a:r>
              <a:rPr lang="zh-SG" altLang="en-US"/>
              <a:t>五级</a:t>
            </a:r>
          </a:p>
        </p:txBody>
      </p:sp>
      <p:sp>
        <p:nvSpPr>
          <p:cNvPr id="6" name="Slide Number Placeholder 5">
            <a:extLst>
              <a:ext uri="{FF2B5EF4-FFF2-40B4-BE49-F238E27FC236}">
                <a16:creationId xmlns:a16="http://schemas.microsoft.com/office/drawing/2014/main" id="{F85A688D-FC1B-4577-FB88-F22E0FD91AE2}"/>
              </a:ext>
            </a:extLst>
          </p:cNvPr>
          <p:cNvSpPr>
            <a:spLocks noGrp="1"/>
          </p:cNvSpPr>
          <p:nvPr>
            <p:ph type="sldNum" sz="quarter" idx="4"/>
          </p:nvPr>
        </p:nvSpPr>
        <p:spPr>
          <a:xfrm>
            <a:off x="11456963" y="6325200"/>
            <a:ext cx="278147" cy="162000"/>
          </a:xfrm>
          <a:prstGeom prst="rect">
            <a:avLst/>
          </a:prstGeom>
        </p:spPr>
        <p:txBody>
          <a:bodyPr vert="horz" wrap="none" lIns="90000" tIns="0" rIns="0" bIns="0" rtlCol="0" anchor="ctr">
            <a:noAutofit/>
          </a:bodyPr>
          <a:lstStyle>
            <a:lvl1pPr algn="l">
              <a:defRPr sz="1000">
                <a:solidFill>
                  <a:schemeClr val="tx1"/>
                </a:solidFill>
              </a:defRPr>
            </a:lvl1pPr>
          </a:lstStyle>
          <a:p>
            <a:fld id="{6686A102-957E-47D3-A22D-E8508A8052D6}" type="slidenum">
              <a:rPr lang="en-US" altLang="zh-SG" smtClean="0"/>
              <a:pPr/>
              <a:t>‹#›</a:t>
            </a:fld>
            <a:endParaRPr lang="zh-SG" altLang="en-US"/>
          </a:p>
        </p:txBody>
      </p:sp>
      <p:sp>
        <p:nvSpPr>
          <p:cNvPr id="9" name="Draft" hidden="1">
            <a:extLst>
              <a:ext uri="{FF2B5EF4-FFF2-40B4-BE49-F238E27FC236}">
                <a16:creationId xmlns:a16="http://schemas.microsoft.com/office/drawing/2014/main" id="{F12CD414-50E2-6BE2-8024-E4DC3B05C7A5}"/>
              </a:ext>
            </a:extLst>
          </p:cNvPr>
          <p:cNvSpPr txBox="1"/>
          <p:nvPr/>
        </p:nvSpPr>
        <p:spPr>
          <a:xfrm>
            <a:off x="10372457" y="72000"/>
            <a:ext cx="1401750" cy="166670"/>
          </a:xfrm>
          <a:prstGeom prst="rect">
            <a:avLst/>
          </a:prstGeom>
          <a:noFill/>
        </p:spPr>
        <p:txBody>
          <a:bodyPr wrap="square" lIns="0" tIns="0" rIns="0" bIns="0" rtlCol="0">
            <a:noAutofit/>
          </a:bodyPr>
          <a:lstStyle/>
          <a:p>
            <a:pPr algn="r"/>
            <a:r>
              <a:rPr lang="en-US" altLang="zh-SG" sz="1100">
                <a:solidFill>
                  <a:schemeClr val="tx1"/>
                </a:solidFill>
                <a:latin typeface="+mn-lt"/>
                <a:cs typeface="Arial" pitchFamily="34" charset="0"/>
              </a:rPr>
              <a:t>DRAFT</a:t>
            </a:r>
            <a:endParaRPr lang="zh-SG" altLang="en-US" sz="1100">
              <a:solidFill>
                <a:schemeClr val="tx1"/>
              </a:solidFill>
              <a:latin typeface="+mn-lt"/>
              <a:cs typeface="Arial" pitchFamily="34" charset="0"/>
            </a:endParaRPr>
          </a:p>
        </p:txBody>
      </p:sp>
      <p:sp>
        <p:nvSpPr>
          <p:cNvPr id="7" name="Filename" hidden="1">
            <a:extLst>
              <a:ext uri="{FF2B5EF4-FFF2-40B4-BE49-F238E27FC236}">
                <a16:creationId xmlns:a16="http://schemas.microsoft.com/office/drawing/2014/main" id="{286EB5A6-9A43-91B8-ECE9-5A017B5296E7}"/>
              </a:ext>
            </a:extLst>
          </p:cNvPr>
          <p:cNvSpPr txBox="1"/>
          <p:nvPr/>
        </p:nvSpPr>
        <p:spPr>
          <a:xfrm>
            <a:off x="786537" y="6669036"/>
            <a:ext cx="3239439" cy="61555"/>
          </a:xfrm>
          <a:prstGeom prst="rect">
            <a:avLst/>
          </a:prstGeom>
          <a:noFill/>
        </p:spPr>
        <p:txBody>
          <a:bodyPr wrap="square" lIns="0" tIns="0" rIns="0" bIns="0" rtlCol="0" anchor="b" anchorCtr="0">
            <a:spAutoFit/>
          </a:bodyPr>
          <a:lstStyle/>
          <a:p>
            <a:r>
              <a:rPr lang="fr-FR" altLang="zh-SG" sz="400" noProof="1">
                <a:solidFill>
                  <a:schemeClr val="tx1"/>
                </a:solidFill>
                <a:latin typeface="+mn-lt"/>
                <a:cs typeface="Arial" pitchFamily="34" charset="0"/>
              </a:rPr>
              <a:t>C:\Users\Admin\Desktop\PPT_</a:t>
            </a:r>
            <a:r>
              <a:rPr lang="zh-CN" altLang="en-US" sz="400" noProof="1">
                <a:solidFill>
                  <a:schemeClr val="tx1"/>
                </a:solidFill>
                <a:latin typeface="+mn-lt"/>
                <a:cs typeface="Arial" pitchFamily="34" charset="0"/>
              </a:rPr>
              <a:t>美国走访</a:t>
            </a:r>
            <a:r>
              <a:rPr lang="en-US" altLang="zh-CN" sz="400" noProof="1">
                <a:solidFill>
                  <a:schemeClr val="tx1"/>
                </a:solidFill>
                <a:latin typeface="+mn-lt"/>
                <a:cs typeface="Arial" pitchFamily="34" charset="0"/>
              </a:rPr>
              <a:t>\</a:t>
            </a:r>
            <a:r>
              <a:rPr lang="fr-FR" altLang="zh-SG" sz="400" noProof="1">
                <a:solidFill>
                  <a:schemeClr val="tx1"/>
                </a:solidFill>
                <a:latin typeface="+mn-lt"/>
                <a:cs typeface="Arial" pitchFamily="34" charset="0"/>
              </a:rPr>
              <a:t>PPT\RSM China-0804 V1.pptx</a:t>
            </a:r>
            <a:endParaRPr lang="zh-SG" altLang="en-US" sz="400" noProof="1">
              <a:solidFill>
                <a:schemeClr val="tx1"/>
              </a:solidFill>
              <a:latin typeface="+mn-lt"/>
              <a:cs typeface="Arial" pitchFamily="34" charset="0"/>
            </a:endParaRPr>
          </a:p>
        </p:txBody>
      </p:sp>
    </p:spTree>
    <p:extLst>
      <p:ext uri="{BB962C8B-B14F-4D97-AF65-F5344CB8AC3E}">
        <p14:creationId xmlns:p14="http://schemas.microsoft.com/office/powerpoint/2010/main" val="4083383181"/>
      </p:ext>
    </p:extLst>
  </p:cSld>
  <p:clrMap bg1="lt1" tx1="dk1" bg2="lt2" tx2="dk2" accent1="accent1" accent2="accent2" accent3="accent3" accent4="accent4" accent5="accent5" accent6="accent6" hlink="hlink" folHlink="folHlink"/>
  <p:sldLayoutIdLst>
    <p:sldLayoutId id="2147483703" r:id="rId1"/>
    <p:sldLayoutId id="2147483701" r:id="rId2"/>
    <p:sldLayoutId id="2147483720" r:id="rId3"/>
    <p:sldLayoutId id="2147483722" r:id="rId4"/>
    <p:sldLayoutId id="2147483721" r:id="rId5"/>
    <p:sldLayoutId id="2147483723" r:id="rId6"/>
    <p:sldLayoutId id="2147483724" r:id="rId7"/>
    <p:sldLayoutId id="2147483725" r:id="rId8"/>
  </p:sldLayoutIdLst>
  <p:hf hdr="0" dt="0"/>
  <p:txStyles>
    <p:titleStyle>
      <a:lvl1pPr algn="l" defTabSz="914400" rtl="0" eaLnBrk="1" latinLnBrk="0" hangingPunct="1">
        <a:lnSpc>
          <a:spcPct val="100000"/>
        </a:lnSpc>
        <a:spcBef>
          <a:spcPct val="0"/>
        </a:spcBef>
        <a:buNone/>
        <a:defRPr sz="2400" kern="1200">
          <a:solidFill>
            <a:srgbClr val="333333"/>
          </a:solidFill>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1pPr>
      <a:lvl2pPr marL="180000" indent="-180000"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540000" indent="-1800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00000"/>
        </a:lnSpc>
        <a:spcBef>
          <a:spcPts val="600"/>
        </a:spcBef>
        <a:buFontTx/>
        <a:buNone/>
        <a:defRPr sz="3600" kern="1200">
          <a:solidFill>
            <a:schemeClr val="accent1"/>
          </a:solidFill>
          <a:latin typeface="+mn-lt"/>
          <a:ea typeface="+mn-ea"/>
          <a:cs typeface="+mn-cs"/>
        </a:defRPr>
      </a:lvl6pPr>
      <a:lvl7pPr marL="0" indent="0" algn="l" defTabSz="914400" rtl="0" eaLnBrk="1" latinLnBrk="0" hangingPunct="1">
        <a:lnSpc>
          <a:spcPct val="100000"/>
        </a:lnSpc>
        <a:spcBef>
          <a:spcPts val="600"/>
        </a:spcBef>
        <a:buFontTx/>
        <a:buNone/>
        <a:defRPr sz="2000" kern="1200">
          <a:solidFill>
            <a:schemeClr val="tx1"/>
          </a:solidFill>
          <a:latin typeface="+mn-lt"/>
          <a:ea typeface="+mn-ea"/>
          <a:cs typeface="+mn-cs"/>
        </a:defRPr>
      </a:lvl7pPr>
      <a:lvl8pPr marL="0" indent="0" algn="l" defTabSz="914400" rtl="0" eaLnBrk="1" latinLnBrk="0" hangingPunct="1">
        <a:lnSpc>
          <a:spcPct val="100000"/>
        </a:lnSpc>
        <a:spcBef>
          <a:spcPts val="600"/>
        </a:spcBef>
        <a:buFontTx/>
        <a:buNone/>
        <a:defRPr sz="2000" b="1" kern="1200">
          <a:solidFill>
            <a:schemeClr val="accent2"/>
          </a:solidFill>
          <a:latin typeface="+mn-lt"/>
          <a:ea typeface="+mn-ea"/>
          <a:cs typeface="+mn-cs"/>
        </a:defRPr>
      </a:lvl8pPr>
      <a:lvl9pPr marL="0" indent="0" algn="l" defTabSz="914400" rtl="0" eaLnBrk="1" latinLnBrk="0" hangingPunct="1">
        <a:lnSpc>
          <a:spcPct val="100000"/>
        </a:lnSpc>
        <a:spcBef>
          <a:spcPts val="600"/>
        </a:spcBef>
        <a:buFontTx/>
        <a:buNone/>
        <a:defRPr sz="2000" kern="1200">
          <a:solidFill>
            <a:schemeClr val="accent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88">
          <p15:clr>
            <a:srgbClr val="F26B43"/>
          </p15:clr>
        </p15:guide>
        <p15:guide id="2" pos="3840">
          <p15:clr>
            <a:srgbClr val="F26B43"/>
          </p15:clr>
        </p15:guide>
        <p15:guide id="3" pos="416">
          <p15:clr>
            <a:srgbClr val="F26B43"/>
          </p15:clr>
        </p15:guide>
        <p15:guide id="4" pos="7256">
          <p15:clr>
            <a:srgbClr val="F26B43"/>
          </p15:clr>
        </p15:guide>
        <p15:guide id="5" orient="horz" pos="640">
          <p15:clr>
            <a:srgbClr val="F26B43"/>
          </p15:clr>
        </p15:guide>
        <p15:guide id="6" orient="horz" pos="1026">
          <p15:clr>
            <a:srgbClr val="F26B43"/>
          </p15:clr>
        </p15:guide>
        <p15:guide id="7" orient="horz" pos="3929">
          <p15:clr>
            <a:srgbClr val="F26B43"/>
          </p15:clr>
        </p15:guide>
        <p15:guide id="8" orient="horz" pos="3294">
          <p15:clr>
            <a:srgbClr val="F26B43"/>
          </p15:clr>
        </p15:guide>
        <p15:guide id="9" pos="3160">
          <p15:clr>
            <a:srgbClr val="F26B43"/>
          </p15:clr>
        </p15:guide>
        <p15:guide id="10" pos="4520">
          <p15:clr>
            <a:srgbClr val="F26B43"/>
          </p15:clr>
        </p15:guide>
        <p15:guide id="11" orient="horz" pos="187">
          <p15:clr>
            <a:srgbClr val="F26B43"/>
          </p15:clr>
        </p15:guide>
        <p15:guide id="12" pos="3500">
          <p15:clr>
            <a:srgbClr val="F26B43"/>
          </p15:clr>
        </p15:guide>
        <p15:guide id="13" pos="41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6.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3AB62D3D-FCDD-E039-5C8E-2D8782FCD486}"/>
              </a:ext>
            </a:extLst>
          </p:cNvPr>
          <p:cNvSpPr/>
          <p:nvPr/>
        </p:nvSpPr>
        <p:spPr>
          <a:xfrm>
            <a:off x="568326" y="5660374"/>
            <a:ext cx="1694518" cy="588842"/>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Arial" panose="020B0604020202020204" pitchFamily="34" charset="0"/>
              <a:ea typeface="楷体" panose="02010609060101010101" pitchFamily="49" charset="-122"/>
            </a:endParaRPr>
          </a:p>
        </p:txBody>
      </p:sp>
      <p:sp>
        <p:nvSpPr>
          <p:cNvPr id="4" name="文本框 3">
            <a:extLst>
              <a:ext uri="{FF2B5EF4-FFF2-40B4-BE49-F238E27FC236}">
                <a16:creationId xmlns:a16="http://schemas.microsoft.com/office/drawing/2014/main" id="{2DE30E07-6619-16C4-0DFF-6CBBBF2B204F}"/>
              </a:ext>
            </a:extLst>
          </p:cNvPr>
          <p:cNvSpPr txBox="1"/>
          <p:nvPr/>
        </p:nvSpPr>
        <p:spPr>
          <a:xfrm>
            <a:off x="1060707" y="5847073"/>
            <a:ext cx="709756" cy="215444"/>
          </a:xfrm>
          <a:prstGeom prst="rect">
            <a:avLst/>
          </a:prstGeom>
          <a:noFill/>
        </p:spPr>
        <p:txBody>
          <a:bodyPr wrap="square" lIns="0" tIns="0" rIns="0" bIns="0">
            <a:spAutoFit/>
          </a:bodyPr>
          <a:lstStyle/>
          <a:p>
            <a:pPr algn="ctr">
              <a:spcAft>
                <a:spcPts val="600"/>
              </a:spcAft>
            </a:pPr>
            <a:r>
              <a:rPr lang="en-US" altLang="zh-CN" sz="1400" b="1" dirty="0">
                <a:solidFill>
                  <a:schemeClr val="bg1"/>
                </a:solidFill>
                <a:latin typeface="Arial" panose="020B0604020202020204" pitchFamily="34" charset="0"/>
                <a:ea typeface="楷体" panose="02010609060101010101" pitchFamily="49" charset="-122"/>
              </a:rPr>
              <a:t>logo</a:t>
            </a:r>
            <a:endParaRPr lang="zh-CN" altLang="en-US" sz="1400" dirty="0">
              <a:solidFill>
                <a:schemeClr val="bg1"/>
              </a:solidFill>
              <a:latin typeface="Arial" panose="020B0604020202020204" pitchFamily="34" charset="0"/>
              <a:ea typeface="楷体" panose="02010609060101010101" pitchFamily="49" charset="-122"/>
            </a:endParaRPr>
          </a:p>
        </p:txBody>
      </p:sp>
      <p:sp>
        <p:nvSpPr>
          <p:cNvPr id="12" name="文本占位符 11">
            <a:extLst>
              <a:ext uri="{FF2B5EF4-FFF2-40B4-BE49-F238E27FC236}">
                <a16:creationId xmlns:a16="http://schemas.microsoft.com/office/drawing/2014/main" id="{F3AC4330-6BFB-456A-E8D7-075EB5D07086}"/>
              </a:ext>
            </a:extLst>
          </p:cNvPr>
          <p:cNvSpPr>
            <a:spLocks noGrp="1"/>
          </p:cNvSpPr>
          <p:nvPr>
            <p:ph type="body" sz="quarter" idx="10"/>
          </p:nvPr>
        </p:nvSpPr>
        <p:spPr>
          <a:xfrm>
            <a:off x="660400" y="1732415"/>
            <a:ext cx="5278438" cy="598560"/>
          </a:xfrm>
        </p:spPr>
        <p:txBody>
          <a:bodyPr/>
          <a:lstStyle/>
          <a:p>
            <a:r>
              <a:rPr lang="zh-CN" altLang="en-US" sz="4800" dirty="0">
                <a:ea typeface="楷体" panose="02010609060101010101" pitchFamily="49" charset="-122"/>
              </a:rPr>
              <a:t>中证估值交流</a:t>
            </a:r>
          </a:p>
        </p:txBody>
      </p:sp>
      <p:sp>
        <p:nvSpPr>
          <p:cNvPr id="16" name="文本占位符 15">
            <a:extLst>
              <a:ext uri="{FF2B5EF4-FFF2-40B4-BE49-F238E27FC236}">
                <a16:creationId xmlns:a16="http://schemas.microsoft.com/office/drawing/2014/main" id="{9C1AD6D6-4815-BFC1-1430-E5740DB2A729}"/>
              </a:ext>
            </a:extLst>
          </p:cNvPr>
          <p:cNvSpPr>
            <a:spLocks noGrp="1"/>
          </p:cNvSpPr>
          <p:nvPr>
            <p:ph type="body" sz="quarter" idx="14"/>
          </p:nvPr>
        </p:nvSpPr>
        <p:spPr>
          <a:xfrm>
            <a:off x="660400" y="3343143"/>
            <a:ext cx="4779963" cy="461936"/>
          </a:xfrm>
        </p:spPr>
        <p:txBody>
          <a:bodyPr/>
          <a:lstStyle/>
          <a:p>
            <a:r>
              <a:rPr lang="en-US" altLang="zh-CN" sz="1800" dirty="0">
                <a:ea typeface="楷体" panose="02010609060101010101" pitchFamily="49" charset="-122"/>
              </a:rPr>
              <a:t>2026/4</a:t>
            </a:r>
          </a:p>
          <a:p>
            <a:pPr>
              <a:buNone/>
            </a:pPr>
            <a:endParaRPr lang="zh-CN" altLang="en-US" sz="1800" dirty="0">
              <a:ea typeface="楷体" panose="02010609060101010101" pitchFamily="49" charset="-122"/>
            </a:endParaRPr>
          </a:p>
        </p:txBody>
      </p:sp>
      <p:sp>
        <p:nvSpPr>
          <p:cNvPr id="2" name="文本占位符 15">
            <a:extLst>
              <a:ext uri="{FF2B5EF4-FFF2-40B4-BE49-F238E27FC236}">
                <a16:creationId xmlns:a16="http://schemas.microsoft.com/office/drawing/2014/main" id="{044ED964-8C97-24C1-09B5-EE3EB5921D11}"/>
              </a:ext>
            </a:extLst>
          </p:cNvPr>
          <p:cNvSpPr txBox="1">
            <a:spLocks/>
          </p:cNvSpPr>
          <p:nvPr/>
        </p:nvSpPr>
        <p:spPr>
          <a:xfrm>
            <a:off x="660400" y="2821954"/>
            <a:ext cx="4779963" cy="461936"/>
          </a:xfrm>
          <a:prstGeom prst="rect">
            <a:avLst/>
          </a:prstGeom>
        </p:spPr>
        <p:txBody>
          <a:bodyPr vert="horz" lIns="0" tIns="0" rIns="0" bIns="0" spcCol="180000" rtlCol="0">
            <a:noAutofit/>
          </a:bodyPr>
          <a:lstStyle>
            <a:lvl1pPr marL="0" indent="0" algn="l" defTabSz="914400" rtl="0" eaLnBrk="1" latinLnBrk="0" hangingPunct="1">
              <a:lnSpc>
                <a:spcPct val="100000"/>
              </a:lnSpc>
              <a:spcBef>
                <a:spcPts val="0"/>
              </a:spcBef>
              <a:buFont typeface="Arial" panose="020B0604020202020204" pitchFamily="34" charset="0"/>
              <a:buChar char="​"/>
              <a:defRPr sz="1400" b="0" kern="1200" baseline="0">
                <a:solidFill>
                  <a:schemeClr val="tx1"/>
                </a:solidFill>
                <a:latin typeface="Arial" panose="020B0604020202020204" pitchFamily="34" charset="0"/>
                <a:ea typeface="黑体" panose="02010609060101010101" pitchFamily="49" charset="-122"/>
                <a:cs typeface="+mn-cs"/>
              </a:defRPr>
            </a:lvl1pPr>
            <a:lvl2pPr marL="180000" indent="-180000"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540000" indent="-1800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00000"/>
              </a:lnSpc>
              <a:spcBef>
                <a:spcPts val="600"/>
              </a:spcBef>
              <a:buFontTx/>
              <a:buNone/>
              <a:defRPr sz="3600" kern="1200">
                <a:solidFill>
                  <a:schemeClr val="accent1"/>
                </a:solidFill>
                <a:latin typeface="+mn-lt"/>
                <a:ea typeface="+mn-ea"/>
                <a:cs typeface="+mn-cs"/>
              </a:defRPr>
            </a:lvl6pPr>
            <a:lvl7pPr marL="0" indent="0" algn="l" defTabSz="914400" rtl="0" eaLnBrk="1" latinLnBrk="0" hangingPunct="1">
              <a:lnSpc>
                <a:spcPct val="100000"/>
              </a:lnSpc>
              <a:spcBef>
                <a:spcPts val="600"/>
              </a:spcBef>
              <a:buFontTx/>
              <a:buNone/>
              <a:defRPr sz="2000" kern="1200">
                <a:solidFill>
                  <a:schemeClr val="tx1"/>
                </a:solidFill>
                <a:latin typeface="+mn-lt"/>
                <a:ea typeface="+mn-ea"/>
                <a:cs typeface="+mn-cs"/>
              </a:defRPr>
            </a:lvl7pPr>
            <a:lvl8pPr marL="0" indent="0" algn="l" defTabSz="914400" rtl="0" eaLnBrk="1" latinLnBrk="0" hangingPunct="1">
              <a:lnSpc>
                <a:spcPct val="100000"/>
              </a:lnSpc>
              <a:spcBef>
                <a:spcPts val="600"/>
              </a:spcBef>
              <a:buFontTx/>
              <a:buNone/>
              <a:defRPr sz="2000" b="1" kern="1200">
                <a:solidFill>
                  <a:schemeClr val="accent2"/>
                </a:solidFill>
                <a:latin typeface="+mn-lt"/>
                <a:ea typeface="+mn-ea"/>
                <a:cs typeface="+mn-cs"/>
              </a:defRPr>
            </a:lvl8pPr>
            <a:lvl9pPr marL="0" indent="0" algn="l" defTabSz="914400" rtl="0" eaLnBrk="1" latinLnBrk="0" hangingPunct="1">
              <a:lnSpc>
                <a:spcPct val="100000"/>
              </a:lnSpc>
              <a:spcBef>
                <a:spcPts val="600"/>
              </a:spcBef>
              <a:buFontTx/>
              <a:buNone/>
              <a:defRPr sz="2000" kern="1200">
                <a:solidFill>
                  <a:schemeClr val="accent2"/>
                </a:solidFill>
                <a:latin typeface="+mn-lt"/>
                <a:ea typeface="+mn-ea"/>
                <a:cs typeface="+mn-cs"/>
              </a:defRPr>
            </a:lvl9pPr>
          </a:lstStyle>
          <a:p>
            <a:r>
              <a:rPr lang="zh-CN" altLang="en-US" sz="1800" b="1" dirty="0">
                <a:ea typeface="楷体" panose="02010609060101010101" pitchFamily="49" charset="-122"/>
              </a:rPr>
              <a:t>容诚会计师事务所（特殊普通合伙）</a:t>
            </a:r>
          </a:p>
        </p:txBody>
      </p:sp>
    </p:spTree>
    <p:extLst>
      <p:ext uri="{BB962C8B-B14F-4D97-AF65-F5344CB8AC3E}">
        <p14:creationId xmlns:p14="http://schemas.microsoft.com/office/powerpoint/2010/main" val="36834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48396-88AC-1E2D-CA55-8D97E6845EFD}"/>
            </a:ext>
          </a:extLst>
        </p:cNvPr>
        <p:cNvGrpSpPr/>
        <p:nvPr/>
      </p:nvGrpSpPr>
      <p:grpSpPr>
        <a:xfrm>
          <a:off x="0" y="0"/>
          <a:ext cx="0" cy="0"/>
          <a:chOff x="0" y="0"/>
          <a:chExt cx="0" cy="0"/>
        </a:xfrm>
      </p:grpSpPr>
      <p:sp>
        <p:nvSpPr>
          <p:cNvPr id="9" name="内容占位符 2">
            <a:extLst>
              <a:ext uri="{FF2B5EF4-FFF2-40B4-BE49-F238E27FC236}">
                <a16:creationId xmlns:a16="http://schemas.microsoft.com/office/drawing/2014/main" id="{4AD8DDB4-1BF4-3237-2836-63A949E45723}"/>
              </a:ext>
            </a:extLst>
          </p:cNvPr>
          <p:cNvSpPr txBox="1"/>
          <p:nvPr/>
        </p:nvSpPr>
        <p:spPr>
          <a:xfrm>
            <a:off x="1415304" y="1809406"/>
            <a:ext cx="1596296" cy="347911"/>
          </a:xfrm>
        </p:spPr>
        <p:txBody>
          <a:bodyPr lIns="0" tIns="0" rIns="0" bIns="0"/>
          <a:lstStyle>
            <a:lvl1pPr marL="0" indent="0" algn="just" defTabSz="914400" rtl="0" eaLnBrk="1" latinLnBrk="0" hangingPunct="1">
              <a:lnSpc>
                <a:spcPct val="11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1pPr>
            <a:lvl2pPr marL="0" indent="0" algn="just" defTabSz="914400" rtl="0" eaLnBrk="1" latinLnBrk="0" hangingPunct="1">
              <a:lnSpc>
                <a:spcPct val="10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2pPr>
            <a:lvl3pPr marL="180975"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3pPr>
            <a:lvl4pPr marL="36195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4pPr>
            <a:lvl5pPr marL="54864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5pPr>
            <a:lvl6pPr marL="73152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6pPr>
            <a:lvl7pPr marL="91440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7pPr>
            <a:lvl8pPr marL="109728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8pPr>
            <a:lvl9pPr marL="128016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9pPr>
          </a:lstStyle>
          <a:p>
            <a:pPr algn="ctr"/>
            <a:endParaRPr lang="zh-CN" altLang="en-US" sz="2000" b="1" dirty="0">
              <a:solidFill>
                <a:schemeClr val="bg1"/>
              </a:solidFill>
              <a:latin typeface="+mj-ea"/>
              <a:ea typeface="+mj-ea"/>
            </a:endParaRPr>
          </a:p>
        </p:txBody>
      </p:sp>
      <p:sp>
        <p:nvSpPr>
          <p:cNvPr id="4" name="灯片编号占位符 3">
            <a:extLst>
              <a:ext uri="{FF2B5EF4-FFF2-40B4-BE49-F238E27FC236}">
                <a16:creationId xmlns:a16="http://schemas.microsoft.com/office/drawing/2014/main" id="{62D5BABD-A7C2-6D0D-ED02-A29659874C8F}"/>
              </a:ext>
            </a:extLst>
          </p:cNvPr>
          <p:cNvSpPr>
            <a:spLocks noGrp="1"/>
          </p:cNvSpPr>
          <p:nvPr>
            <p:ph type="sldNum" sz="quarter" idx="10"/>
          </p:nvPr>
        </p:nvSpPr>
        <p:spPr/>
        <p:txBody>
          <a:bodyPr/>
          <a:lstStyle/>
          <a:p>
            <a:fld id="{7870704B-CE94-48CC-AF30-84932A1262A7}" type="slidenum">
              <a:rPr lang="en-GB" smtClean="0"/>
              <a:pPr/>
              <a:t>2</a:t>
            </a:fld>
            <a:endParaRPr lang="en-GB"/>
          </a:p>
        </p:txBody>
      </p:sp>
      <p:sp>
        <p:nvSpPr>
          <p:cNvPr id="5" name="页脚占位符 4">
            <a:extLst>
              <a:ext uri="{FF2B5EF4-FFF2-40B4-BE49-F238E27FC236}">
                <a16:creationId xmlns:a16="http://schemas.microsoft.com/office/drawing/2014/main" id="{0B16EA8C-759A-5503-2B7E-D2BE63AEB38C}"/>
              </a:ext>
            </a:extLst>
          </p:cNvPr>
          <p:cNvSpPr>
            <a:spLocks noGrp="1"/>
          </p:cNvSpPr>
          <p:nvPr>
            <p:ph type="ftr" sz="quarter" idx="13"/>
          </p:nvPr>
        </p:nvSpPr>
        <p:spPr/>
        <p:txBody>
          <a:bodyPr/>
          <a:lstStyle/>
          <a:p>
            <a:r>
              <a:rPr lang="en-US" altLang="zh-CN"/>
              <a:t>© </a:t>
            </a:r>
            <a:r>
              <a:rPr lang="zh-CN" altLang="en-US"/>
              <a:t>容诚会计师事务所（特殊普通合伙），</a:t>
            </a:r>
            <a:r>
              <a:rPr lang="en-US" altLang="zh-CN"/>
              <a:t>2026</a:t>
            </a:r>
            <a:endParaRPr lang="zh-CN" altLang="en-US"/>
          </a:p>
        </p:txBody>
      </p:sp>
      <p:graphicFrame>
        <p:nvGraphicFramePr>
          <p:cNvPr id="15" name="Content Placeholder 2">
            <a:extLst>
              <a:ext uri="{FF2B5EF4-FFF2-40B4-BE49-F238E27FC236}">
                <a16:creationId xmlns:a16="http://schemas.microsoft.com/office/drawing/2014/main" id="{9BAC9BEC-7656-C5B0-702F-E738A81AC26E}"/>
              </a:ext>
            </a:extLst>
          </p:cNvPr>
          <p:cNvGraphicFramePr>
            <a:graphicFrameLocks/>
          </p:cNvGraphicFramePr>
          <p:nvPr>
            <p:extLst>
              <p:ext uri="{D42A27DB-BD31-4B8C-83A1-F6EECF244321}">
                <p14:modId xmlns:p14="http://schemas.microsoft.com/office/powerpoint/2010/main" val="2132711540"/>
              </p:ext>
            </p:extLst>
          </p:nvPr>
        </p:nvGraphicFramePr>
        <p:xfrm>
          <a:off x="521418" y="963424"/>
          <a:ext cx="11149163" cy="5385144"/>
        </p:xfrm>
        <a:graphic>
          <a:graphicData uri="http://schemas.openxmlformats.org/drawingml/2006/table">
            <a:tbl>
              <a:tblPr firstRow="1" bandRow="1">
                <a:tableStyleId>{5C22544A-7EE6-4342-B048-85BDC9FD1C3A}</a:tableStyleId>
              </a:tblPr>
              <a:tblGrid>
                <a:gridCol w="858808">
                  <a:extLst>
                    <a:ext uri="{9D8B030D-6E8A-4147-A177-3AD203B41FA5}">
                      <a16:colId xmlns:a16="http://schemas.microsoft.com/office/drawing/2014/main" val="845226252"/>
                    </a:ext>
                  </a:extLst>
                </a:gridCol>
                <a:gridCol w="1328468">
                  <a:extLst>
                    <a:ext uri="{9D8B030D-6E8A-4147-A177-3AD203B41FA5}">
                      <a16:colId xmlns:a16="http://schemas.microsoft.com/office/drawing/2014/main" val="2477794889"/>
                    </a:ext>
                  </a:extLst>
                </a:gridCol>
                <a:gridCol w="1354348">
                  <a:extLst>
                    <a:ext uri="{9D8B030D-6E8A-4147-A177-3AD203B41FA5}">
                      <a16:colId xmlns:a16="http://schemas.microsoft.com/office/drawing/2014/main" val="1022958863"/>
                    </a:ext>
                  </a:extLst>
                </a:gridCol>
                <a:gridCol w="7607539">
                  <a:extLst>
                    <a:ext uri="{9D8B030D-6E8A-4147-A177-3AD203B41FA5}">
                      <a16:colId xmlns:a16="http://schemas.microsoft.com/office/drawing/2014/main" val="3993875064"/>
                    </a:ext>
                  </a:extLst>
                </a:gridCol>
              </a:tblGrid>
              <a:tr h="558623">
                <a:tc>
                  <a:txBody>
                    <a:bodyPr/>
                    <a:lstStyle/>
                    <a:p>
                      <a:endParaRPr lang="en-US" sz="1100" dirty="0"/>
                    </a:p>
                  </a:txBody>
                  <a:tcPr/>
                </a:tc>
                <a:tc>
                  <a:txBody>
                    <a:bodyPr/>
                    <a:lstStyle/>
                    <a:p>
                      <a:r>
                        <a:rPr lang="zh-CN" altLang="en-US" sz="1100" dirty="0"/>
                        <a:t>银行间债券估值</a:t>
                      </a:r>
                      <a:endParaRPr lang="en-US" altLang="zh-CN" sz="1100" dirty="0"/>
                    </a:p>
                    <a:p>
                      <a:r>
                        <a:rPr lang="zh-CN" altLang="en-US" sz="1100" dirty="0"/>
                        <a:t>业务管理办法</a:t>
                      </a:r>
                      <a:endParaRPr lang="en-US" altLang="zh-CN" sz="1100" dirty="0"/>
                    </a:p>
                    <a:p>
                      <a:r>
                        <a:rPr lang="zh-CN" altLang="en-US" sz="1100" dirty="0"/>
                        <a:t>（人民银行）</a:t>
                      </a:r>
                      <a:endParaRPr lang="en-US" altLang="zh-CN" sz="1100" dirty="0"/>
                    </a:p>
                  </a:txBody>
                  <a:tcPr/>
                </a:tc>
                <a:tc>
                  <a:txBody>
                    <a:bodyPr/>
                    <a:lstStyle/>
                    <a:p>
                      <a:r>
                        <a:rPr lang="zh-CN" altLang="en-US" sz="1100" dirty="0"/>
                        <a:t>银行间债券估值</a:t>
                      </a:r>
                      <a:endParaRPr lang="en-US" altLang="zh-CN" sz="1100" dirty="0"/>
                    </a:p>
                    <a:p>
                      <a:r>
                        <a:rPr lang="zh-CN" altLang="en-US" sz="1100" dirty="0"/>
                        <a:t>业务自律指引</a:t>
                      </a:r>
                      <a:endParaRPr lang="en-US" altLang="zh-CN" sz="1100" dirty="0"/>
                    </a:p>
                    <a:p>
                      <a:r>
                        <a:rPr lang="zh-CN" altLang="en-US" sz="1100" dirty="0"/>
                        <a:t>（</a:t>
                      </a:r>
                      <a:r>
                        <a:rPr lang="en-US" altLang="zh-CN" sz="1100" dirty="0"/>
                        <a:t>NAFMII</a:t>
                      </a:r>
                      <a:r>
                        <a:rPr lang="zh-CN" altLang="en-US" sz="1100" dirty="0"/>
                        <a:t>）</a:t>
                      </a:r>
                      <a:endParaRPr lang="en-US" sz="1100" dirty="0"/>
                    </a:p>
                  </a:txBody>
                  <a:tcPr/>
                </a:tc>
                <a:tc>
                  <a:txBody>
                    <a:bodyPr/>
                    <a:lstStyle/>
                    <a:p>
                      <a:r>
                        <a:rPr lang="zh-CN" altLang="en-US" sz="1100" dirty="0"/>
                        <a:t>重点说明</a:t>
                      </a:r>
                      <a:endParaRPr lang="en-US" sz="1100" dirty="0"/>
                    </a:p>
                  </a:txBody>
                  <a:tcPr/>
                </a:tc>
                <a:extLst>
                  <a:ext uri="{0D108BD9-81ED-4DB2-BD59-A6C34878D82A}">
                    <a16:rowId xmlns:a16="http://schemas.microsoft.com/office/drawing/2014/main" val="3112302316"/>
                  </a:ext>
                </a:extLst>
              </a:tr>
              <a:tr h="873743">
                <a:tc>
                  <a:txBody>
                    <a:bodyPr/>
                    <a:lstStyle/>
                    <a:p>
                      <a:r>
                        <a:rPr lang="zh-CN" altLang="en-US" sz="1100" dirty="0"/>
                        <a:t>数据层级</a:t>
                      </a:r>
                      <a:endParaRPr lang="en-US" sz="1100" dirty="0"/>
                    </a:p>
                  </a:txBody>
                  <a:tcPr/>
                </a:tc>
                <a:tc>
                  <a:txBody>
                    <a:bodyPr/>
                    <a:lstStyle/>
                    <a:p>
                      <a:r>
                        <a:rPr lang="zh-CN" altLang="en-US" sz="1100" dirty="0"/>
                        <a:t>第五条</a:t>
                      </a:r>
                      <a:endParaRPr lang="en-US" sz="1100" dirty="0"/>
                    </a:p>
                  </a:txBody>
                  <a:tcPr/>
                </a:tc>
                <a:tc>
                  <a:txBody>
                    <a:bodyPr/>
                    <a:lstStyle/>
                    <a:p>
                      <a:r>
                        <a:rPr lang="zh-CN" altLang="en-US" sz="1100" dirty="0"/>
                        <a:t>第五到第七条</a:t>
                      </a:r>
                      <a:endParaRPr lang="en-US" sz="1100" dirty="0"/>
                    </a:p>
                  </a:txBody>
                  <a:tcPr/>
                </a:tc>
                <a:tc>
                  <a:txBody>
                    <a:bodyPr/>
                    <a:lstStyle/>
                    <a:p>
                      <a:r>
                        <a:rPr lang="zh-CN" altLang="en-US" sz="1100" dirty="0"/>
                        <a:t>区分成交活跃度，明确筛选规则</a:t>
                      </a:r>
                      <a:endParaRPr lang="en-US" altLang="zh-CN" sz="1100" dirty="0"/>
                    </a:p>
                    <a:p>
                      <a:r>
                        <a:rPr lang="en-US" sz="1100" dirty="0"/>
                        <a:t>NAFMII</a:t>
                      </a:r>
                      <a:r>
                        <a:rPr lang="zh-CN" altLang="en-US" sz="1100" dirty="0"/>
                        <a:t>：</a:t>
                      </a:r>
                      <a:endParaRPr lang="en-US" altLang="zh-CN" sz="11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100" dirty="0"/>
                        <a:t>重点</a:t>
                      </a:r>
                      <a:r>
                        <a:rPr lang="en-US" altLang="zh-CN" sz="1100" dirty="0"/>
                        <a:t>1</a:t>
                      </a:r>
                      <a:r>
                        <a:rPr lang="zh-CN" altLang="en-US" sz="1100" dirty="0"/>
                        <a:t>：反复调研了彭博 </a:t>
                      </a:r>
                      <a:r>
                        <a:rPr lang="en-US" altLang="zh-CN" sz="1100" dirty="0"/>
                        <a:t>BVAL_SCORE</a:t>
                      </a:r>
                      <a:r>
                        <a:rPr lang="zh-CN" altLang="en-US" sz="1100" dirty="0"/>
                        <a:t>（“比如先分</a:t>
                      </a:r>
                      <a:r>
                        <a:rPr lang="en-US" altLang="zh-CN" sz="1100" dirty="0"/>
                        <a:t>3</a:t>
                      </a:r>
                      <a:r>
                        <a:rPr lang="zh-CN" altLang="en-US" sz="1100" dirty="0"/>
                        <a:t>档、</a:t>
                      </a:r>
                      <a:r>
                        <a:rPr lang="en-US" altLang="zh-CN" sz="1100" dirty="0"/>
                        <a:t>5</a:t>
                      </a:r>
                      <a:r>
                        <a:rPr lang="zh-CN" altLang="en-US" sz="1100" dirty="0"/>
                        <a:t>档”），结合第九条第四款、第十七条</a:t>
                      </a:r>
                      <a:endParaRPr lang="en-US" altLang="zh-CN" sz="1100" dirty="0"/>
                    </a:p>
                    <a:p>
                      <a:pPr marL="171450" indent="-171450">
                        <a:buFont typeface="Arial" panose="020B0604020202020204" pitchFamily="34" charset="0"/>
                        <a:buChar char="•"/>
                      </a:pPr>
                      <a:r>
                        <a:rPr lang="zh-CN" altLang="en-US" sz="1100" dirty="0"/>
                        <a:t>重点</a:t>
                      </a:r>
                      <a:r>
                        <a:rPr lang="en-US" altLang="zh-CN" sz="1100" dirty="0"/>
                        <a:t>2</a:t>
                      </a:r>
                      <a:r>
                        <a:rPr lang="zh-CN" altLang="en-US" sz="1100" dirty="0"/>
                        <a:t>：避免偶发或极端价格的干扰（第五条第四款）；兼顾曲线的平滑性余稳定性（第七条）</a:t>
                      </a:r>
                      <a:endParaRPr lang="en-US" altLang="zh-CN" sz="1100" dirty="0"/>
                    </a:p>
                    <a:p>
                      <a:pPr marL="171450" indent="-171450">
                        <a:buFont typeface="Arial" panose="020B0604020202020204" pitchFamily="34" charset="0"/>
                        <a:buChar char="•"/>
                      </a:pPr>
                      <a:r>
                        <a:rPr lang="zh-CN" altLang="en-US" sz="1100" dirty="0"/>
                        <a:t>不是指平滑估值，而是指极端场景下防止踩踏（编制讨论时用“负反馈机制”一词）</a:t>
                      </a:r>
                      <a:endParaRPr lang="en-US" altLang="zh-CN" sz="1100" dirty="0"/>
                    </a:p>
                  </a:txBody>
                  <a:tcPr/>
                </a:tc>
                <a:extLst>
                  <a:ext uri="{0D108BD9-81ED-4DB2-BD59-A6C34878D82A}">
                    <a16:rowId xmlns:a16="http://schemas.microsoft.com/office/drawing/2014/main" val="3904215110"/>
                  </a:ext>
                </a:extLst>
              </a:tr>
              <a:tr h="558623">
                <a:tc>
                  <a:txBody>
                    <a:bodyPr/>
                    <a:lstStyle/>
                    <a:p>
                      <a:r>
                        <a:rPr lang="zh-CN" altLang="en-US" sz="1100" dirty="0"/>
                        <a:t>编制方法</a:t>
                      </a:r>
                      <a:endParaRPr lang="en-US" sz="1100" dirty="0"/>
                    </a:p>
                  </a:txBody>
                  <a:tcPr/>
                </a:tc>
                <a:tc>
                  <a:txBody>
                    <a:bodyPr/>
                    <a:lstStyle/>
                    <a:p>
                      <a:r>
                        <a:rPr lang="zh-CN" altLang="en-US" sz="1100" dirty="0"/>
                        <a:t>第六条</a:t>
                      </a:r>
                      <a:endParaRPr lang="en-US" sz="1100" dirty="0"/>
                    </a:p>
                  </a:txBody>
                  <a:tcPr/>
                </a:tc>
                <a:tc>
                  <a:txBody>
                    <a:bodyPr/>
                    <a:lstStyle/>
                    <a:p>
                      <a:r>
                        <a:rPr lang="zh-CN" altLang="en-US" sz="1100" dirty="0"/>
                        <a:t>第八条</a:t>
                      </a:r>
                      <a:endParaRPr lang="en-US" sz="1100" dirty="0"/>
                    </a:p>
                  </a:txBody>
                  <a:tcPr/>
                </a:tc>
                <a:tc>
                  <a:txBody>
                    <a:bodyPr/>
                    <a:lstStyle/>
                    <a:p>
                      <a:pPr marL="171450" indent="-171450">
                        <a:buFont typeface="Arial" panose="020B0604020202020204" pitchFamily="34" charset="0"/>
                        <a:buChar char="•"/>
                      </a:pPr>
                      <a:r>
                        <a:rPr lang="en-US" sz="1100" dirty="0"/>
                        <a:t>NAFMII </a:t>
                      </a:r>
                      <a:r>
                        <a:rPr lang="zh-CN" altLang="en-US" sz="1100" dirty="0"/>
                        <a:t>分资产类型提了一些关注重点，总体来说是当前已经考虑的因素</a:t>
                      </a:r>
                      <a:endParaRPr lang="en-US" altLang="zh-CN" sz="1100" dirty="0"/>
                    </a:p>
                    <a:p>
                      <a:pPr marL="628650" lvl="1" indent="-171450">
                        <a:buFont typeface="Arial" panose="020B0604020202020204" pitchFamily="34" charset="0"/>
                        <a:buChar char="•"/>
                      </a:pPr>
                      <a:r>
                        <a:rPr lang="zh-CN" altLang="en-US" sz="1100" dirty="0"/>
                        <a:t>行业跟进：含权债长代偿期估值，中债从到期估值调整为下一行权日估值</a:t>
                      </a:r>
                      <a:endParaRPr lang="en-US" altLang="zh-CN" sz="1100" dirty="0"/>
                    </a:p>
                    <a:p>
                      <a:pPr marL="171450" indent="-171450">
                        <a:buFont typeface="Arial" panose="020B0604020202020204" pitchFamily="34" charset="0"/>
                        <a:buChar char="•"/>
                      </a:pPr>
                      <a:r>
                        <a:rPr lang="zh-CN" altLang="en-US" sz="1100" dirty="0"/>
                        <a:t>违约债方面，调研了解到用户痛点是违约场景的说明不够清晰</a:t>
                      </a:r>
                      <a:endParaRPr lang="en-US" sz="1100" dirty="0"/>
                    </a:p>
                  </a:txBody>
                  <a:tcPr/>
                </a:tc>
                <a:extLst>
                  <a:ext uri="{0D108BD9-81ED-4DB2-BD59-A6C34878D82A}">
                    <a16:rowId xmlns:a16="http://schemas.microsoft.com/office/drawing/2014/main" val="602576180"/>
                  </a:ext>
                </a:extLst>
              </a:tr>
              <a:tr h="873743">
                <a:tc>
                  <a:txBody>
                    <a:bodyPr/>
                    <a:lstStyle/>
                    <a:p>
                      <a:r>
                        <a:rPr lang="zh-CN" altLang="en-US" sz="1100" dirty="0"/>
                        <a:t>信息披露</a:t>
                      </a:r>
                      <a:endParaRPr lang="en-US" sz="1100" dirty="0"/>
                    </a:p>
                  </a:txBody>
                  <a:tcPr/>
                </a:tc>
                <a:tc>
                  <a:txBody>
                    <a:bodyPr/>
                    <a:lstStyle/>
                    <a:p>
                      <a:r>
                        <a:rPr lang="zh-CN" altLang="en-US" sz="1100" dirty="0"/>
                        <a:t>第七条</a:t>
                      </a:r>
                      <a:endParaRPr lang="en-US" sz="1100" dirty="0"/>
                    </a:p>
                  </a:txBody>
                  <a:tcPr/>
                </a:tc>
                <a:tc>
                  <a:txBody>
                    <a:bodyPr/>
                    <a:lstStyle/>
                    <a:p>
                      <a:r>
                        <a:rPr lang="zh-CN" altLang="en-US" sz="1100" dirty="0"/>
                        <a:t>第九条</a:t>
                      </a:r>
                      <a:endParaRPr lang="en-US" sz="1100" dirty="0"/>
                    </a:p>
                  </a:txBody>
                  <a:tcPr/>
                </a:tc>
                <a:tc>
                  <a:txBody>
                    <a:bodyPr/>
                    <a:lstStyle/>
                    <a:p>
                      <a:r>
                        <a:rPr lang="en-US" sz="1100" dirty="0"/>
                        <a:t>PBOC</a:t>
                      </a:r>
                      <a:r>
                        <a:rPr lang="zh-CN" altLang="en-US" sz="1100" dirty="0"/>
                        <a:t>：估值产品质量年度检验报告</a:t>
                      </a:r>
                      <a:endParaRPr lang="en-US" sz="1100" dirty="0"/>
                    </a:p>
                    <a:p>
                      <a:r>
                        <a:rPr lang="en-US" sz="1100" dirty="0"/>
                        <a:t>NAFMII</a:t>
                      </a:r>
                      <a:r>
                        <a:rPr lang="zh-CN" altLang="en-US" sz="1100" dirty="0"/>
                        <a:t>：披露公允价值层次</a:t>
                      </a:r>
                      <a:endParaRPr lang="en-US" altLang="zh-CN" sz="1100" dirty="0"/>
                    </a:p>
                    <a:p>
                      <a:pPr marL="171450" indent="-171450">
                        <a:buFont typeface="Arial" panose="020B0604020202020204" pitchFamily="34" charset="0"/>
                        <a:buChar char="•"/>
                      </a:pPr>
                      <a:r>
                        <a:rPr lang="zh-CN" altLang="en-US" sz="1100" dirty="0"/>
                        <a:t>讨论时参考了</a:t>
                      </a:r>
                      <a:r>
                        <a:rPr lang="en-US" altLang="zh-CN" sz="1100" dirty="0"/>
                        <a:t>BVAL</a:t>
                      </a:r>
                      <a:r>
                        <a:rPr lang="zh-CN" altLang="en-US" sz="1100" dirty="0"/>
                        <a:t>的披露页面（区分列示成交、报价、模型估值）</a:t>
                      </a:r>
                      <a:r>
                        <a:rPr lang="en-US" altLang="zh-CN" sz="1100" dirty="0"/>
                        <a:t>-</a:t>
                      </a:r>
                      <a:r>
                        <a:rPr lang="zh-CN" altLang="en-US" sz="1100" dirty="0"/>
                        <a:t>第九条第四款</a:t>
                      </a:r>
                      <a:endParaRPr lang="en-US" altLang="zh-CN" sz="1100" dirty="0"/>
                    </a:p>
                    <a:p>
                      <a:pPr marL="171450" indent="-171450">
                        <a:buFont typeface="Arial" panose="020B0604020202020204" pitchFamily="34" charset="0"/>
                        <a:buChar char="•"/>
                      </a:pPr>
                      <a:r>
                        <a:rPr lang="zh-CN" altLang="en-US" sz="1100" dirty="0"/>
                        <a:t>可参考彭博做法：</a:t>
                      </a:r>
                      <a:r>
                        <a:rPr lang="en-US" altLang="zh-CN" sz="1100" dirty="0"/>
                        <a:t>BVAL SCORE</a:t>
                      </a:r>
                      <a:r>
                        <a:rPr lang="zh-CN" altLang="en-US" sz="1100" dirty="0"/>
                        <a:t>不是公允价值层次，用户形成分数与层次的对应关系</a:t>
                      </a:r>
                      <a:endParaRPr lang="en-US" altLang="zh-CN" sz="1100" dirty="0"/>
                    </a:p>
                    <a:p>
                      <a:pPr marL="171450" indent="-171450">
                        <a:buFont typeface="Arial" panose="020B0604020202020204" pitchFamily="34" charset="0"/>
                        <a:buChar char="•"/>
                      </a:pPr>
                      <a:r>
                        <a:rPr lang="zh-CN" altLang="en-US" sz="1100" dirty="0"/>
                        <a:t>其实另有模块专门提供公允价值层次，但海外并不常用</a:t>
                      </a:r>
                      <a:endParaRPr lang="en-US" altLang="zh-CN" sz="1100" dirty="0"/>
                    </a:p>
                  </a:txBody>
                  <a:tcPr/>
                </a:tc>
                <a:extLst>
                  <a:ext uri="{0D108BD9-81ED-4DB2-BD59-A6C34878D82A}">
                    <a16:rowId xmlns:a16="http://schemas.microsoft.com/office/drawing/2014/main" val="2450481804"/>
                  </a:ext>
                </a:extLst>
              </a:tr>
              <a:tr h="243502">
                <a:tc>
                  <a:txBody>
                    <a:bodyPr/>
                    <a:lstStyle/>
                    <a:p>
                      <a:r>
                        <a:rPr lang="zh-CN" altLang="en-US" sz="1100" dirty="0"/>
                        <a:t>内控监测</a:t>
                      </a:r>
                      <a:endParaRPr lang="en-US" sz="1100" dirty="0"/>
                    </a:p>
                  </a:txBody>
                  <a:tcPr/>
                </a:tc>
                <a:tc>
                  <a:txBody>
                    <a:bodyPr/>
                    <a:lstStyle/>
                    <a:p>
                      <a:r>
                        <a:rPr lang="zh-CN" altLang="en-US" sz="1100" dirty="0"/>
                        <a:t>第八条</a:t>
                      </a:r>
                      <a:endParaRPr lang="en-US" sz="1100" dirty="0"/>
                    </a:p>
                  </a:txBody>
                  <a:tcPr/>
                </a:tc>
                <a:tc>
                  <a:txBody>
                    <a:bodyPr/>
                    <a:lstStyle/>
                    <a:p>
                      <a:r>
                        <a:rPr lang="zh-CN" altLang="en-US" sz="1100" dirty="0"/>
                        <a:t>第十一条</a:t>
                      </a:r>
                      <a:endParaRPr lang="en-US" sz="1100" dirty="0"/>
                    </a:p>
                  </a:txBody>
                  <a:tcPr/>
                </a:tc>
                <a:tc>
                  <a:txBody>
                    <a:bodyPr/>
                    <a:lstStyle/>
                    <a:p>
                      <a:r>
                        <a:rPr lang="zh-CN" altLang="en-US" sz="1100" dirty="0"/>
                        <a:t>独立团队，分事前事中事后，相对标准的内控要求</a:t>
                      </a:r>
                      <a:endParaRPr lang="en-US" sz="1100" dirty="0"/>
                    </a:p>
                  </a:txBody>
                  <a:tcPr/>
                </a:tc>
                <a:extLst>
                  <a:ext uri="{0D108BD9-81ED-4DB2-BD59-A6C34878D82A}">
                    <a16:rowId xmlns:a16="http://schemas.microsoft.com/office/drawing/2014/main" val="1557498327"/>
                  </a:ext>
                </a:extLst>
              </a:tr>
              <a:tr h="294984">
                <a:tc>
                  <a:txBody>
                    <a:bodyPr/>
                    <a:lstStyle/>
                    <a:p>
                      <a:r>
                        <a:rPr lang="zh-CN" altLang="en-US" sz="1100" dirty="0"/>
                        <a:t>利冲管理</a:t>
                      </a:r>
                      <a:endParaRPr lang="en-US" sz="1100" dirty="0"/>
                    </a:p>
                  </a:txBody>
                  <a:tcPr/>
                </a:tc>
                <a:tc>
                  <a:txBody>
                    <a:bodyPr/>
                    <a:lstStyle/>
                    <a:p>
                      <a:r>
                        <a:rPr lang="zh-CN" altLang="en-US" sz="1100" dirty="0"/>
                        <a:t>第九条</a:t>
                      </a:r>
                      <a:endParaRPr lang="en-US" sz="1100" dirty="0"/>
                    </a:p>
                  </a:txBody>
                  <a:tcPr/>
                </a:tc>
                <a:tc>
                  <a:txBody>
                    <a:bodyPr/>
                    <a:lstStyle/>
                    <a:p>
                      <a:r>
                        <a:rPr lang="zh-CN" altLang="en-US" sz="1100" dirty="0"/>
                        <a:t>第十条、第十二条</a:t>
                      </a:r>
                      <a:endParaRPr lang="en-US" sz="1100" dirty="0"/>
                    </a:p>
                  </a:txBody>
                  <a:tcPr/>
                </a:tc>
                <a:tc>
                  <a:txBody>
                    <a:bodyPr/>
                    <a:lstStyle/>
                    <a:p>
                      <a:r>
                        <a:rPr lang="en-US" sz="1100" dirty="0"/>
                        <a:t>PBOC</a:t>
                      </a:r>
                      <a:r>
                        <a:rPr lang="zh-CN" altLang="en-US" sz="1100" dirty="0"/>
                        <a:t>：及时识别新增利益冲突情形，记录备查</a:t>
                      </a:r>
                    </a:p>
                  </a:txBody>
                  <a:tcPr/>
                </a:tc>
                <a:extLst>
                  <a:ext uri="{0D108BD9-81ED-4DB2-BD59-A6C34878D82A}">
                    <a16:rowId xmlns:a16="http://schemas.microsoft.com/office/drawing/2014/main" val="827686663"/>
                  </a:ext>
                </a:extLst>
              </a:tr>
              <a:tr h="401063">
                <a:tc>
                  <a:txBody>
                    <a:bodyPr/>
                    <a:lstStyle/>
                    <a:p>
                      <a:r>
                        <a:rPr lang="zh-CN" altLang="en-US" sz="1100" dirty="0"/>
                        <a:t>客诉管理</a:t>
                      </a:r>
                      <a:endParaRPr lang="en-US" sz="1100" dirty="0"/>
                    </a:p>
                  </a:txBody>
                  <a:tcPr/>
                </a:tc>
                <a:tc>
                  <a:txBody>
                    <a:bodyPr/>
                    <a:lstStyle/>
                    <a:p>
                      <a:r>
                        <a:rPr lang="zh-CN" altLang="en-US" sz="1100" dirty="0"/>
                        <a:t>第十条</a:t>
                      </a:r>
                      <a:endParaRPr lang="en-US" sz="1100" dirty="0"/>
                    </a:p>
                  </a:txBody>
                  <a:tcPr/>
                </a:tc>
                <a:tc>
                  <a:txBody>
                    <a:bodyPr/>
                    <a:lstStyle/>
                    <a:p>
                      <a:r>
                        <a:rPr lang="zh-CN" altLang="en-US" sz="1100" dirty="0"/>
                        <a:t>第十三条</a:t>
                      </a:r>
                      <a:endParaRPr lang="en-US" sz="1100" dirty="0"/>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100" dirty="0"/>
                        <a:t>妥善处理行业压力</a:t>
                      </a:r>
                      <a:endParaRPr lang="en-US" altLang="zh-CN" sz="11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100" dirty="0"/>
                        <a:t>留档要求</a:t>
                      </a:r>
                      <a:endParaRPr lang="en-US" sz="1100" dirty="0"/>
                    </a:p>
                  </a:txBody>
                  <a:tcPr/>
                </a:tc>
                <a:extLst>
                  <a:ext uri="{0D108BD9-81ED-4DB2-BD59-A6C34878D82A}">
                    <a16:rowId xmlns:a16="http://schemas.microsoft.com/office/drawing/2014/main" val="2500522805"/>
                  </a:ext>
                </a:extLst>
              </a:tr>
              <a:tr h="401063">
                <a:tc>
                  <a:txBody>
                    <a:bodyPr/>
                    <a:lstStyle/>
                    <a:p>
                      <a:r>
                        <a:rPr lang="zh-CN" altLang="en-US" sz="1100" dirty="0"/>
                        <a:t>应急预案</a:t>
                      </a:r>
                      <a:endParaRPr lang="en-US" sz="1100" dirty="0"/>
                    </a:p>
                  </a:txBody>
                  <a:tcPr/>
                </a:tc>
                <a:tc>
                  <a:txBody>
                    <a:bodyPr/>
                    <a:lstStyle/>
                    <a:p>
                      <a:r>
                        <a:rPr lang="zh-CN" altLang="en-US" sz="1100" dirty="0"/>
                        <a:t>第十一条</a:t>
                      </a:r>
                      <a:endParaRPr lang="en-US" sz="1100" dirty="0"/>
                    </a:p>
                  </a:txBody>
                  <a:tcPr/>
                </a:tc>
                <a:tc>
                  <a:txBody>
                    <a:bodyPr/>
                    <a:lstStyle/>
                    <a:p>
                      <a:r>
                        <a:rPr lang="en-US" altLang="zh-CN" sz="1100" dirty="0"/>
                        <a:t>*</a:t>
                      </a:r>
                      <a:r>
                        <a:rPr lang="zh-CN" altLang="en-US" sz="1100" dirty="0"/>
                        <a:t>第五条第四款</a:t>
                      </a:r>
                      <a:endParaRPr lang="en-US" sz="1100" dirty="0"/>
                    </a:p>
                  </a:txBody>
                  <a:tcPr/>
                </a:tc>
                <a:tc>
                  <a:txBody>
                    <a:bodyPr/>
                    <a:lstStyle/>
                    <a:p>
                      <a:pPr marL="171450" indent="-171450" algn="l" defTabSz="914400" rtl="0" eaLnBrk="1" latinLnBrk="0" hangingPunct="1">
                        <a:buFont typeface="Arial" panose="020B0604020202020204" pitchFamily="34" charset="0"/>
                        <a:buChar char="•"/>
                      </a:pPr>
                      <a:r>
                        <a:rPr lang="zh-CN" altLang="en-US" sz="1100" kern="1200" dirty="0">
                          <a:solidFill>
                            <a:schemeClr val="dk1"/>
                          </a:solidFill>
                          <a:latin typeface="+mn-lt"/>
                          <a:ea typeface="+mn-ea"/>
                          <a:cs typeface="+mn-cs"/>
                        </a:rPr>
                        <a:t>管理办法侧重业务连续性</a:t>
                      </a:r>
                      <a:endParaRPr lang="en-US" altLang="zh-CN" sz="1100" kern="1200" dirty="0">
                        <a:solidFill>
                          <a:schemeClr val="dk1"/>
                        </a:solidFill>
                        <a:latin typeface="+mn-lt"/>
                        <a:ea typeface="+mn-ea"/>
                        <a:cs typeface="+mn-cs"/>
                      </a:endParaRPr>
                    </a:p>
                    <a:p>
                      <a:pPr marL="171450" indent="-171450" algn="l" defTabSz="914400" rtl="0" eaLnBrk="1" latinLnBrk="0" hangingPunct="1">
                        <a:buFont typeface="Arial" panose="020B0604020202020204" pitchFamily="34" charset="0"/>
                        <a:buChar char="•"/>
                      </a:pPr>
                      <a:r>
                        <a:rPr lang="zh-CN" altLang="en-US" sz="1100" kern="1200" dirty="0">
                          <a:solidFill>
                            <a:schemeClr val="dk1"/>
                          </a:solidFill>
                          <a:latin typeface="+mn-lt"/>
                          <a:ea typeface="+mn-ea"/>
                          <a:cs typeface="+mn-cs"/>
                        </a:rPr>
                        <a:t>自律指引侧重极端市场环境 </a:t>
                      </a:r>
                      <a:r>
                        <a:rPr lang="en-US" altLang="zh-CN" sz="1100" kern="1200" dirty="0">
                          <a:solidFill>
                            <a:schemeClr val="dk1"/>
                          </a:solidFill>
                          <a:latin typeface="+mn-lt"/>
                          <a:ea typeface="+mn-ea"/>
                          <a:cs typeface="+mn-cs"/>
                        </a:rPr>
                        <a:t>– </a:t>
                      </a:r>
                      <a:r>
                        <a:rPr lang="zh-CN" altLang="en-US" sz="1100" kern="1200" dirty="0">
                          <a:solidFill>
                            <a:schemeClr val="dk1"/>
                          </a:solidFill>
                          <a:latin typeface="+mn-lt"/>
                          <a:ea typeface="+mn-ea"/>
                          <a:cs typeface="+mn-cs"/>
                        </a:rPr>
                        <a:t>见数据层级部分讨论</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603971424"/>
                  </a:ext>
                </a:extLst>
              </a:tr>
              <a:tr h="873743">
                <a:tc>
                  <a:txBody>
                    <a:bodyPr/>
                    <a:lstStyle/>
                    <a:p>
                      <a:r>
                        <a:rPr lang="zh-CN" altLang="en-US" sz="1100" dirty="0"/>
                        <a:t>备注</a:t>
                      </a:r>
                      <a:endParaRPr lang="en-US" sz="1100" dirty="0"/>
                    </a:p>
                  </a:txBody>
                  <a:tcPr/>
                </a:tc>
                <a:tc>
                  <a:txBody>
                    <a:bodyPr/>
                    <a:lstStyle/>
                    <a:p>
                      <a:endParaRPr lang="en-US" sz="1100" dirty="0"/>
                    </a:p>
                  </a:txBody>
                  <a:tcPr/>
                </a:tc>
                <a:tc>
                  <a:txBody>
                    <a:bodyPr/>
                    <a:lstStyle/>
                    <a:p>
                      <a:r>
                        <a:rPr lang="zh-CN" altLang="en-US" sz="1100" dirty="0"/>
                        <a:t>除对估值服务机构提出要求，也注重形成估值服务生态，对用户有要求</a:t>
                      </a:r>
                      <a:endParaRPr lang="en-US" sz="1100" dirty="0"/>
                    </a:p>
                  </a:txBody>
                  <a:tcPr/>
                </a:tc>
                <a:tc>
                  <a:txBody>
                    <a:bodyPr/>
                    <a:lstStyle/>
                    <a:p>
                      <a:pPr marL="171450" indent="-171450" algn="l" defTabSz="914400" rtl="0" eaLnBrk="1" latinLnBrk="0" hangingPunct="1">
                        <a:buFont typeface="Arial" panose="020B0604020202020204" pitchFamily="34" charset="0"/>
                        <a:buChar char="•"/>
                      </a:pPr>
                      <a:r>
                        <a:rPr lang="zh-CN" altLang="en-US" sz="1100" kern="1200" dirty="0">
                          <a:solidFill>
                            <a:schemeClr val="dk1"/>
                          </a:solidFill>
                          <a:latin typeface="+mn-lt"/>
                          <a:ea typeface="+mn-ea"/>
                          <a:cs typeface="+mn-cs"/>
                        </a:rPr>
                        <a:t>第十七条：对参考度不高、评分较低、处于第三层次公允价值的债券，用户应启动必要审议流程、审慎确定公允价值。</a:t>
                      </a:r>
                      <a:endParaRPr lang="en-US" altLang="zh-CN" sz="1100" kern="1200" dirty="0">
                        <a:solidFill>
                          <a:schemeClr val="dk1"/>
                        </a:solidFill>
                        <a:latin typeface="+mn-lt"/>
                        <a:ea typeface="+mn-ea"/>
                        <a:cs typeface="+mn-cs"/>
                      </a:endParaRPr>
                    </a:p>
                    <a:p>
                      <a:pPr marL="171450" indent="-171450" algn="l" defTabSz="914400" rtl="0" eaLnBrk="1" latinLnBrk="0" hangingPunct="1">
                        <a:buFont typeface="Arial" panose="020B0604020202020204" pitchFamily="34" charset="0"/>
                        <a:buChar char="•"/>
                      </a:pPr>
                      <a:r>
                        <a:rPr lang="zh-CN" altLang="en-US" sz="1100" kern="1200" dirty="0">
                          <a:solidFill>
                            <a:schemeClr val="dk1"/>
                          </a:solidFill>
                          <a:latin typeface="+mn-lt"/>
                          <a:ea typeface="+mn-ea"/>
                          <a:cs typeface="+mn-cs"/>
                        </a:rPr>
                        <a:t>充分披露的情况下可以降低估值服务压力</a:t>
                      </a:r>
                      <a:endParaRPr lang="en-US" altLang="zh-CN" sz="1100" kern="1200" dirty="0">
                        <a:solidFill>
                          <a:schemeClr val="dk1"/>
                        </a:solidFill>
                        <a:latin typeface="+mn-lt"/>
                        <a:ea typeface="+mn-ea"/>
                        <a:cs typeface="+mn-cs"/>
                      </a:endParaRPr>
                    </a:p>
                    <a:p>
                      <a:pPr marL="171450" indent="-171450" algn="l" defTabSz="914400" rtl="0" eaLnBrk="1" latinLnBrk="0" hangingPunct="1">
                        <a:buFont typeface="Arial" panose="020B0604020202020204" pitchFamily="34" charset="0"/>
                        <a:buChar char="•"/>
                      </a:pPr>
                      <a:r>
                        <a:rPr lang="zh-CN" altLang="en-US" sz="1100" kern="1200" dirty="0">
                          <a:solidFill>
                            <a:schemeClr val="dk1"/>
                          </a:solidFill>
                          <a:latin typeface="+mn-lt"/>
                          <a:ea typeface="+mn-ea"/>
                          <a:cs typeface="+mn-cs"/>
                        </a:rPr>
                        <a:t>第十九条：鼓励选择多个估值产品</a:t>
                      </a:r>
                      <a:endParaRPr lang="en-US" altLang="zh-CN" sz="1100" kern="1200" dirty="0">
                        <a:solidFill>
                          <a:schemeClr val="dk1"/>
                        </a:solidFill>
                        <a:latin typeface="+mn-lt"/>
                        <a:ea typeface="+mn-ea"/>
                        <a:cs typeface="+mn-cs"/>
                      </a:endParaRPr>
                    </a:p>
                    <a:p>
                      <a:pPr marL="171450" indent="-171450" algn="l" defTabSz="914400" rtl="0" eaLnBrk="1" latinLnBrk="0" hangingPunct="1">
                        <a:buFont typeface="Arial" panose="020B0604020202020204" pitchFamily="34" charset="0"/>
                        <a:buChar char="•"/>
                      </a:pPr>
                      <a:r>
                        <a:rPr lang="zh-CN" altLang="en-US" sz="1100" kern="1200" dirty="0">
                          <a:solidFill>
                            <a:schemeClr val="dk1"/>
                          </a:solidFill>
                          <a:latin typeface="+mn-lt"/>
                          <a:ea typeface="+mn-ea"/>
                          <a:cs typeface="+mn-cs"/>
                        </a:rPr>
                        <a:t>第二十条：做市商增强独立定价能力</a:t>
                      </a:r>
                      <a:endParaRPr lang="en-US" altLang="zh-CN" sz="1100" kern="1200" dirty="0">
                        <a:solidFill>
                          <a:schemeClr val="dk1"/>
                        </a:solidFill>
                        <a:latin typeface="+mn-lt"/>
                        <a:ea typeface="+mn-ea"/>
                        <a:cs typeface="+mn-cs"/>
                      </a:endParaRPr>
                    </a:p>
                    <a:p>
                      <a:pPr marL="171450" indent="-171450" algn="l" defTabSz="914400" rtl="0" eaLnBrk="1" latinLnBrk="0" hangingPunct="1">
                        <a:buFont typeface="Arial" panose="020B0604020202020204" pitchFamily="34" charset="0"/>
                        <a:buChar char="•"/>
                      </a:pPr>
                      <a:r>
                        <a:rPr lang="zh-CN" altLang="en-US" sz="1100" kern="1200" dirty="0">
                          <a:solidFill>
                            <a:schemeClr val="dk1"/>
                          </a:solidFill>
                          <a:latin typeface="+mn-lt"/>
                          <a:ea typeface="+mn-ea"/>
                          <a:cs typeface="+mn-cs"/>
                        </a:rPr>
                        <a:t>均为分散债券估值同质性的举措</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1458947603"/>
                  </a:ext>
                </a:extLst>
              </a:tr>
            </a:tbl>
          </a:graphicData>
        </a:graphic>
      </p:graphicFrame>
      <p:sp>
        <p:nvSpPr>
          <p:cNvPr id="2" name="标题 1">
            <a:extLst>
              <a:ext uri="{FF2B5EF4-FFF2-40B4-BE49-F238E27FC236}">
                <a16:creationId xmlns:a16="http://schemas.microsoft.com/office/drawing/2014/main" id="{EA07C23F-C044-C322-8F79-BA071675ED56}"/>
              </a:ext>
            </a:extLst>
          </p:cNvPr>
          <p:cNvSpPr>
            <a:spLocks noGrp="1"/>
          </p:cNvSpPr>
          <p:nvPr>
            <p:ph type="title"/>
          </p:nvPr>
        </p:nvSpPr>
        <p:spPr>
          <a:xfrm>
            <a:off x="660400" y="330400"/>
            <a:ext cx="10858500" cy="596911"/>
          </a:xfrm>
        </p:spPr>
        <p:txBody>
          <a:bodyPr/>
          <a:lstStyle/>
          <a:p>
            <a:r>
              <a:rPr lang="zh-CN" altLang="en-US" dirty="0"/>
              <a:t>估值交流</a:t>
            </a:r>
          </a:p>
        </p:txBody>
      </p:sp>
    </p:spTree>
    <p:extLst>
      <p:ext uri="{BB962C8B-B14F-4D97-AF65-F5344CB8AC3E}">
        <p14:creationId xmlns:p14="http://schemas.microsoft.com/office/powerpoint/2010/main" val="3885893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81BAC-B8A6-B813-F5DB-ADEC21432BFF}"/>
            </a:ext>
          </a:extLst>
        </p:cNvPr>
        <p:cNvGrpSpPr/>
        <p:nvPr/>
      </p:nvGrpSpPr>
      <p:grpSpPr>
        <a:xfrm>
          <a:off x="0" y="0"/>
          <a:ext cx="0" cy="0"/>
          <a:chOff x="0" y="0"/>
          <a:chExt cx="0" cy="0"/>
        </a:xfrm>
      </p:grpSpPr>
      <p:sp>
        <p:nvSpPr>
          <p:cNvPr id="9" name="内容占位符 2">
            <a:extLst>
              <a:ext uri="{FF2B5EF4-FFF2-40B4-BE49-F238E27FC236}">
                <a16:creationId xmlns:a16="http://schemas.microsoft.com/office/drawing/2014/main" id="{CAE4B435-43CC-1CFE-A93D-344FB126F7C7}"/>
              </a:ext>
            </a:extLst>
          </p:cNvPr>
          <p:cNvSpPr txBox="1"/>
          <p:nvPr/>
        </p:nvSpPr>
        <p:spPr>
          <a:xfrm>
            <a:off x="1415304" y="1809406"/>
            <a:ext cx="1596296" cy="347911"/>
          </a:xfrm>
        </p:spPr>
        <p:txBody>
          <a:bodyPr lIns="0" tIns="0" rIns="0" bIns="0"/>
          <a:lstStyle>
            <a:lvl1pPr marL="0" indent="0" algn="just" defTabSz="914400" rtl="0" eaLnBrk="1" latinLnBrk="0" hangingPunct="1">
              <a:lnSpc>
                <a:spcPct val="11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1pPr>
            <a:lvl2pPr marL="0" indent="0" algn="just" defTabSz="914400" rtl="0" eaLnBrk="1" latinLnBrk="0" hangingPunct="1">
              <a:lnSpc>
                <a:spcPct val="10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2pPr>
            <a:lvl3pPr marL="180975"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3pPr>
            <a:lvl4pPr marL="36195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4pPr>
            <a:lvl5pPr marL="54864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5pPr>
            <a:lvl6pPr marL="73152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6pPr>
            <a:lvl7pPr marL="91440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7pPr>
            <a:lvl8pPr marL="109728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8pPr>
            <a:lvl9pPr marL="128016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9pPr>
          </a:lstStyle>
          <a:p>
            <a:pPr algn="ctr"/>
            <a:endParaRPr lang="zh-CN" altLang="en-US" sz="2000" b="1" dirty="0">
              <a:solidFill>
                <a:schemeClr val="bg1"/>
              </a:solidFill>
              <a:latin typeface="+mj-ea"/>
              <a:ea typeface="+mj-ea"/>
            </a:endParaRPr>
          </a:p>
        </p:txBody>
      </p:sp>
      <p:sp>
        <p:nvSpPr>
          <p:cNvPr id="4" name="灯片编号占位符 3">
            <a:extLst>
              <a:ext uri="{FF2B5EF4-FFF2-40B4-BE49-F238E27FC236}">
                <a16:creationId xmlns:a16="http://schemas.microsoft.com/office/drawing/2014/main" id="{319CF877-0DF0-2095-51BD-4CFDC100BBF3}"/>
              </a:ext>
            </a:extLst>
          </p:cNvPr>
          <p:cNvSpPr>
            <a:spLocks noGrp="1"/>
          </p:cNvSpPr>
          <p:nvPr>
            <p:ph type="sldNum" sz="quarter" idx="10"/>
          </p:nvPr>
        </p:nvSpPr>
        <p:spPr/>
        <p:txBody>
          <a:bodyPr/>
          <a:lstStyle/>
          <a:p>
            <a:fld id="{7870704B-CE94-48CC-AF30-84932A1262A7}" type="slidenum">
              <a:rPr lang="en-GB" smtClean="0"/>
              <a:pPr/>
              <a:t>3</a:t>
            </a:fld>
            <a:endParaRPr lang="en-GB"/>
          </a:p>
        </p:txBody>
      </p:sp>
      <p:sp>
        <p:nvSpPr>
          <p:cNvPr id="5" name="页脚占位符 4">
            <a:extLst>
              <a:ext uri="{FF2B5EF4-FFF2-40B4-BE49-F238E27FC236}">
                <a16:creationId xmlns:a16="http://schemas.microsoft.com/office/drawing/2014/main" id="{1B71E3C2-383E-80AB-D814-E0886C0778BB}"/>
              </a:ext>
            </a:extLst>
          </p:cNvPr>
          <p:cNvSpPr>
            <a:spLocks noGrp="1"/>
          </p:cNvSpPr>
          <p:nvPr>
            <p:ph type="ftr" sz="quarter" idx="13"/>
          </p:nvPr>
        </p:nvSpPr>
        <p:spPr/>
        <p:txBody>
          <a:bodyPr/>
          <a:lstStyle/>
          <a:p>
            <a:r>
              <a:rPr lang="en-US" altLang="zh-CN"/>
              <a:t>© </a:t>
            </a:r>
            <a:r>
              <a:rPr lang="zh-CN" altLang="en-US"/>
              <a:t>容诚会计师事务所（特殊普通合伙），</a:t>
            </a:r>
            <a:r>
              <a:rPr lang="en-US" altLang="zh-CN"/>
              <a:t>2026</a:t>
            </a:r>
            <a:endParaRPr lang="zh-CN" altLang="en-US"/>
          </a:p>
        </p:txBody>
      </p:sp>
      <p:sp>
        <p:nvSpPr>
          <p:cNvPr id="2" name="标题 1">
            <a:extLst>
              <a:ext uri="{FF2B5EF4-FFF2-40B4-BE49-F238E27FC236}">
                <a16:creationId xmlns:a16="http://schemas.microsoft.com/office/drawing/2014/main" id="{1D46D0BC-7AD0-0DCE-C7D9-19E1AC343547}"/>
              </a:ext>
            </a:extLst>
          </p:cNvPr>
          <p:cNvSpPr>
            <a:spLocks noGrp="1"/>
          </p:cNvSpPr>
          <p:nvPr>
            <p:ph type="title"/>
          </p:nvPr>
        </p:nvSpPr>
        <p:spPr>
          <a:xfrm>
            <a:off x="660400" y="330400"/>
            <a:ext cx="10858500" cy="596911"/>
          </a:xfrm>
        </p:spPr>
        <p:txBody>
          <a:bodyPr/>
          <a:lstStyle/>
          <a:p>
            <a:r>
              <a:rPr lang="en-US" altLang="zh-CN" dirty="0"/>
              <a:t>Bloomberg -</a:t>
            </a:r>
            <a:r>
              <a:rPr lang="zh-CN" altLang="en-US" dirty="0"/>
              <a:t>定价数据类型</a:t>
            </a:r>
          </a:p>
        </p:txBody>
      </p:sp>
      <p:graphicFrame>
        <p:nvGraphicFramePr>
          <p:cNvPr id="20" name="Table 3">
            <a:extLst>
              <a:ext uri="{FF2B5EF4-FFF2-40B4-BE49-F238E27FC236}">
                <a16:creationId xmlns:a16="http://schemas.microsoft.com/office/drawing/2014/main" id="{89FC6DA4-8439-41C0-81F3-61F4E73C886A}"/>
              </a:ext>
            </a:extLst>
          </p:cNvPr>
          <p:cNvGraphicFramePr>
            <a:graphicFrameLocks noGrp="1"/>
          </p:cNvGraphicFramePr>
          <p:nvPr/>
        </p:nvGraphicFramePr>
        <p:xfrm>
          <a:off x="660401" y="1211580"/>
          <a:ext cx="10858498" cy="3210560"/>
        </p:xfrm>
        <a:graphic>
          <a:graphicData uri="http://schemas.openxmlformats.org/drawingml/2006/table">
            <a:tbl>
              <a:tblPr firstRow="1" bandRow="1">
                <a:tableStyleId>{6E25E649-3F16-4E02-A733-19D2CDBF48F0}</a:tableStyleId>
              </a:tblPr>
              <a:tblGrid>
                <a:gridCol w="1149146">
                  <a:extLst>
                    <a:ext uri="{9D8B030D-6E8A-4147-A177-3AD203B41FA5}">
                      <a16:colId xmlns:a16="http://schemas.microsoft.com/office/drawing/2014/main" val="1593873405"/>
                    </a:ext>
                  </a:extLst>
                </a:gridCol>
                <a:gridCol w="2427338">
                  <a:extLst>
                    <a:ext uri="{9D8B030D-6E8A-4147-A177-3AD203B41FA5}">
                      <a16:colId xmlns:a16="http://schemas.microsoft.com/office/drawing/2014/main" val="2335361936"/>
                    </a:ext>
                  </a:extLst>
                </a:gridCol>
                <a:gridCol w="2427338">
                  <a:extLst>
                    <a:ext uri="{9D8B030D-6E8A-4147-A177-3AD203B41FA5}">
                      <a16:colId xmlns:a16="http://schemas.microsoft.com/office/drawing/2014/main" val="3576647039"/>
                    </a:ext>
                  </a:extLst>
                </a:gridCol>
                <a:gridCol w="2427338">
                  <a:extLst>
                    <a:ext uri="{9D8B030D-6E8A-4147-A177-3AD203B41FA5}">
                      <a16:colId xmlns:a16="http://schemas.microsoft.com/office/drawing/2014/main" val="3873027988"/>
                    </a:ext>
                  </a:extLst>
                </a:gridCol>
                <a:gridCol w="2427338">
                  <a:extLst>
                    <a:ext uri="{9D8B030D-6E8A-4147-A177-3AD203B41FA5}">
                      <a16:colId xmlns:a16="http://schemas.microsoft.com/office/drawing/2014/main" val="2586463208"/>
                    </a:ext>
                  </a:extLst>
                </a:gridCol>
              </a:tblGrid>
              <a:tr h="370840">
                <a:tc>
                  <a:txBody>
                    <a:bodyPr/>
                    <a:lstStyle/>
                    <a:p>
                      <a:endParaRPr lang="en-GB" sz="1400" dirty="0"/>
                    </a:p>
                  </a:txBody>
                  <a:tcPr/>
                </a:tc>
                <a:tc>
                  <a:txBody>
                    <a:bodyPr/>
                    <a:lstStyle/>
                    <a:p>
                      <a:pPr algn="ctr"/>
                      <a:r>
                        <a:rPr lang="en-GB" sz="1400" dirty="0" err="1">
                          <a:solidFill>
                            <a:schemeClr val="tx1"/>
                          </a:solidFill>
                        </a:rPr>
                        <a:t>BMRK</a:t>
                      </a:r>
                      <a:endParaRPr lang="en-GB" sz="1400" dirty="0">
                        <a:solidFill>
                          <a:schemeClr val="tx1"/>
                        </a:solidFill>
                      </a:endParaRPr>
                    </a:p>
                  </a:txBody>
                  <a:tcPr/>
                </a:tc>
                <a:tc>
                  <a:txBody>
                    <a:bodyPr/>
                    <a:lstStyle/>
                    <a:p>
                      <a:pPr algn="ctr"/>
                      <a:r>
                        <a:rPr lang="en-GB" sz="1400" dirty="0" err="1">
                          <a:solidFill>
                            <a:schemeClr val="tx1"/>
                          </a:solidFill>
                        </a:rPr>
                        <a:t>CBBT</a:t>
                      </a:r>
                      <a:endParaRPr lang="en-GB" sz="1400" dirty="0">
                        <a:solidFill>
                          <a:schemeClr val="tx1"/>
                        </a:solidFill>
                      </a:endParaRPr>
                    </a:p>
                  </a:txBody>
                  <a:tcPr/>
                </a:tc>
                <a:tc>
                  <a:txBody>
                    <a:bodyPr/>
                    <a:lstStyle/>
                    <a:p>
                      <a:pPr algn="ctr"/>
                      <a:r>
                        <a:rPr lang="en-GB" sz="1400" dirty="0">
                          <a:solidFill>
                            <a:schemeClr val="tx1"/>
                          </a:solidFill>
                        </a:rPr>
                        <a:t>BGN</a:t>
                      </a:r>
                    </a:p>
                  </a:txBody>
                  <a:tcPr/>
                </a:tc>
                <a:tc>
                  <a:txBody>
                    <a:bodyPr/>
                    <a:lstStyle/>
                    <a:p>
                      <a:pPr algn="ctr"/>
                      <a:r>
                        <a:rPr lang="en-GB" sz="1400" dirty="0" err="1">
                          <a:solidFill>
                            <a:schemeClr val="tx1"/>
                          </a:solidFill>
                        </a:rPr>
                        <a:t>BVAL</a:t>
                      </a:r>
                      <a:endParaRPr lang="en-GB" sz="1400" dirty="0">
                        <a:solidFill>
                          <a:schemeClr val="tx1"/>
                        </a:solidFill>
                      </a:endParaRPr>
                    </a:p>
                  </a:txBody>
                  <a:tcPr/>
                </a:tc>
                <a:extLst>
                  <a:ext uri="{0D108BD9-81ED-4DB2-BD59-A6C34878D82A}">
                    <a16:rowId xmlns:a16="http://schemas.microsoft.com/office/drawing/2014/main" val="4175230459"/>
                  </a:ext>
                </a:extLst>
              </a:tr>
              <a:tr h="370840">
                <a:tc>
                  <a:txBody>
                    <a:bodyPr/>
                    <a:lstStyle/>
                    <a:p>
                      <a:r>
                        <a:rPr lang="zh-CN" altLang="en-US" sz="1400" dirty="0"/>
                        <a:t>简介</a:t>
                      </a:r>
                      <a:endParaRPr lang="en-GB" sz="1400" dirty="0">
                        <a:latin typeface="等线 Light" panose="02010600030101010101" pitchFamily="2" charset="-122"/>
                        <a:ea typeface="等线 Light" panose="02010600030101010101" pitchFamily="2" charset="-122"/>
                      </a:endParaRPr>
                    </a:p>
                  </a:txBody>
                  <a:tcPr/>
                </a:tc>
                <a:tc>
                  <a:txBody>
                    <a:bodyPr/>
                    <a:lstStyle/>
                    <a:p>
                      <a:pPr algn="ctr"/>
                      <a:r>
                        <a:rPr lang="zh-CN" altLang="en-US" sz="1200" dirty="0"/>
                        <a:t>实时成交价和报价</a:t>
                      </a:r>
                      <a:endParaRPr lang="en-GB" altLang="zh-CN" sz="1200" dirty="0"/>
                    </a:p>
                    <a:p>
                      <a:pPr algn="ctr"/>
                      <a:r>
                        <a:rPr lang="en-GB" altLang="zh-CN" sz="1200" kern="1200" dirty="0">
                          <a:solidFill>
                            <a:schemeClr val="dk1"/>
                          </a:solidFill>
                          <a:latin typeface="+mn-lt"/>
                          <a:ea typeface="+mn-ea"/>
                          <a:cs typeface="+mn-cs"/>
                        </a:rPr>
                        <a:t>(Direct Observation)</a:t>
                      </a:r>
                    </a:p>
                  </a:txBody>
                  <a:tcPr/>
                </a:tc>
                <a:tc>
                  <a:txBody>
                    <a:bodyPr/>
                    <a:lstStyle/>
                    <a:p>
                      <a:pPr algn="ctr"/>
                      <a:r>
                        <a:rPr lang="zh-CN" altLang="en-US" sz="1200" dirty="0"/>
                        <a:t>实时可成交综合价格</a:t>
                      </a:r>
                      <a:endParaRPr lang="en-GB" altLang="zh-CN" sz="1200" dirty="0"/>
                    </a:p>
                    <a:p>
                      <a:pPr marL="0" algn="ctr" defTabSz="914332" rtl="0" eaLnBrk="1" latinLnBrk="0" hangingPunct="1"/>
                      <a:r>
                        <a:rPr lang="en-GB" altLang="zh-CN" sz="1200" kern="1200" dirty="0">
                          <a:solidFill>
                            <a:schemeClr val="dk1"/>
                          </a:solidFill>
                          <a:latin typeface="+mn-lt"/>
                          <a:ea typeface="+mn-ea"/>
                          <a:cs typeface="+mn-cs"/>
                        </a:rPr>
                        <a:t>(E</a:t>
                      </a:r>
                      <a:r>
                        <a:rPr lang="en-US" altLang="zh-CN" sz="1200" kern="1200" dirty="0" err="1">
                          <a:solidFill>
                            <a:schemeClr val="dk1"/>
                          </a:solidFill>
                          <a:latin typeface="+mn-lt"/>
                          <a:ea typeface="+mn-ea"/>
                          <a:cs typeface="+mn-cs"/>
                        </a:rPr>
                        <a:t>xecutable</a:t>
                      </a:r>
                      <a:r>
                        <a:rPr lang="en-GB" altLang="zh-CN" sz="1200" kern="1200" dirty="0">
                          <a:solidFill>
                            <a:schemeClr val="dk1"/>
                          </a:solidFill>
                          <a:latin typeface="+mn-lt"/>
                          <a:ea typeface="+mn-ea"/>
                          <a:cs typeface="+mn-cs"/>
                        </a:rPr>
                        <a:t>)</a:t>
                      </a:r>
                      <a:endParaRPr lang="en-GB" sz="1200" kern="1200" dirty="0">
                        <a:solidFill>
                          <a:schemeClr val="dk1"/>
                        </a:solidFill>
                        <a:latin typeface="+mn-lt"/>
                        <a:ea typeface="+mn-ea"/>
                        <a:cs typeface="+mn-cs"/>
                      </a:endParaRPr>
                    </a:p>
                  </a:txBody>
                  <a:tcPr/>
                </a:tc>
                <a:tc>
                  <a:txBody>
                    <a:bodyPr/>
                    <a:lstStyle/>
                    <a:p>
                      <a:pPr algn="ctr"/>
                      <a:r>
                        <a:rPr lang="zh-CN" altLang="en-US" sz="1200" dirty="0"/>
                        <a:t>实时行情综合价</a:t>
                      </a:r>
                      <a:endParaRPr lang="en-GB" altLang="zh-CN" sz="1200" dirty="0"/>
                    </a:p>
                    <a:p>
                      <a:pPr algn="ctr"/>
                      <a:r>
                        <a:rPr lang="en-GB" altLang="zh-CN" sz="1200" dirty="0"/>
                        <a:t>(Executable and Indicative)</a:t>
                      </a:r>
                    </a:p>
                    <a:p>
                      <a:pPr algn="ctr"/>
                      <a:endParaRPr lang="en-GB" altLang="zh-CN" sz="1200" dirty="0"/>
                    </a:p>
                    <a:p>
                      <a:pPr algn="ctr"/>
                      <a:r>
                        <a:rPr lang="zh-CN" altLang="en-US" sz="1200" dirty="0"/>
                        <a:t>参考成交价，可成交价格和具有参考意义的报价</a:t>
                      </a:r>
                      <a:endParaRPr lang="en-GB" sz="1200" dirty="0">
                        <a:latin typeface="等线 Light" panose="02010600030101010101" pitchFamily="2" charset="-122"/>
                        <a:ea typeface="等线 Light" panose="02010600030101010101" pitchFamily="2" charset="-122"/>
                      </a:endParaRPr>
                    </a:p>
                  </a:txBody>
                  <a:tcPr/>
                </a:tc>
                <a:tc>
                  <a:txBody>
                    <a:bodyPr/>
                    <a:lstStyle/>
                    <a:p>
                      <a:pPr algn="ctr"/>
                      <a:r>
                        <a:rPr lang="zh-CN" altLang="en-US" sz="1200" dirty="0"/>
                        <a:t>日末评估价格</a:t>
                      </a:r>
                      <a:endParaRPr lang="en-GB" altLang="zh-CN" sz="1200" dirty="0"/>
                    </a:p>
                    <a:p>
                      <a:pPr algn="ctr"/>
                      <a:r>
                        <a:rPr lang="en-GB" altLang="zh-CN" sz="1200" dirty="0"/>
                        <a:t>(Model Derived)</a:t>
                      </a:r>
                    </a:p>
                    <a:p>
                      <a:pPr algn="ctr"/>
                      <a:endParaRPr lang="en-GB" altLang="zh-CN" sz="1200" dirty="0"/>
                    </a:p>
                    <a:p>
                      <a:pPr algn="ctr"/>
                      <a:r>
                        <a:rPr lang="zh-CN" altLang="en-US" sz="1200" dirty="0"/>
                        <a:t>主要由独立</a:t>
                      </a:r>
                      <a:r>
                        <a:rPr lang="zh-CN" altLang="en-US" sz="1200" b="1" dirty="0"/>
                        <a:t>模型</a:t>
                      </a:r>
                      <a:r>
                        <a:rPr lang="zh-CN" altLang="en-US" sz="1200" dirty="0"/>
                        <a:t>结果构成，输入值参考成交价、报价</a:t>
                      </a:r>
                      <a:endParaRPr lang="en-GB" altLang="zh-CN" sz="1200" dirty="0">
                        <a:latin typeface="等线 Light" panose="02010600030101010101" pitchFamily="2" charset="-122"/>
                        <a:ea typeface="等线 Light" panose="02010600030101010101" pitchFamily="2" charset="-122"/>
                      </a:endParaRPr>
                    </a:p>
                  </a:txBody>
                  <a:tcPr/>
                </a:tc>
                <a:extLst>
                  <a:ext uri="{0D108BD9-81ED-4DB2-BD59-A6C34878D82A}">
                    <a16:rowId xmlns:a16="http://schemas.microsoft.com/office/drawing/2014/main" val="364936702"/>
                  </a:ext>
                </a:extLst>
              </a:tr>
              <a:tr h="370840">
                <a:tc>
                  <a:txBody>
                    <a:bodyPr/>
                    <a:lstStyle/>
                    <a:p>
                      <a:r>
                        <a:rPr lang="zh-CN" altLang="en-US" sz="1400" dirty="0"/>
                        <a:t>主要用途</a:t>
                      </a:r>
                      <a:endParaRPr lang="en-GB" sz="1400" dirty="0">
                        <a:latin typeface="等线 Light" panose="02010600030101010101" pitchFamily="2" charset="-122"/>
                        <a:ea typeface="等线 Light" panose="02010600030101010101" pitchFamily="2" charset="-122"/>
                      </a:endParaRPr>
                    </a:p>
                  </a:txBody>
                  <a:tcPr/>
                </a:tc>
                <a:tc>
                  <a:txBody>
                    <a:bodyPr/>
                    <a:lstStyle/>
                    <a:p>
                      <a:pPr algn="ctr"/>
                      <a:r>
                        <a:rPr lang="zh-CN" altLang="en-US" sz="1200" dirty="0"/>
                        <a:t>交易级别报价数据信息</a:t>
                      </a:r>
                      <a:endParaRPr lang="en-GB" altLang="zh-CN" sz="1200" dirty="0">
                        <a:latin typeface="等线 Light" panose="02010600030101010101" pitchFamily="2" charset="-122"/>
                        <a:ea typeface="等线 Light" panose="02010600030101010101" pitchFamily="2" charset="-122"/>
                      </a:endParaRPr>
                    </a:p>
                  </a:txBody>
                  <a:tcPr/>
                </a:tc>
                <a:tc>
                  <a:txBody>
                    <a:bodyPr/>
                    <a:lstStyle/>
                    <a:p>
                      <a:pPr algn="ctr"/>
                      <a:r>
                        <a:rPr lang="zh-CN" altLang="en-US" sz="1200" dirty="0"/>
                        <a:t>体现实时可成交价格水平</a:t>
                      </a:r>
                      <a:endParaRPr lang="en-GB" sz="1200" dirty="0">
                        <a:latin typeface="等线 Light" panose="02010600030101010101" pitchFamily="2" charset="-122"/>
                        <a:ea typeface="等线 Light" panose="02010600030101010101" pitchFamily="2" charset="-122"/>
                      </a:endParaRPr>
                    </a:p>
                  </a:txBody>
                  <a:tcPr/>
                </a:tc>
                <a:tc>
                  <a:txBody>
                    <a:bodyPr/>
                    <a:lstStyle/>
                    <a:p>
                      <a:pPr algn="ctr"/>
                      <a:r>
                        <a:rPr lang="zh-CN" altLang="en-US" sz="1200" dirty="0"/>
                        <a:t>体现市场普遍共识价格水平</a:t>
                      </a:r>
                      <a:endParaRPr lang="en-GB" sz="1200" dirty="0">
                        <a:latin typeface="等线 Light" panose="02010600030101010101" pitchFamily="2" charset="-122"/>
                        <a:ea typeface="等线 Light" panose="02010600030101010101" pitchFamily="2" charset="-122"/>
                      </a:endParaRPr>
                    </a:p>
                  </a:txBody>
                  <a:tcPr/>
                </a:tc>
                <a:tc>
                  <a:txBody>
                    <a:bodyPr/>
                    <a:lstStyle/>
                    <a:p>
                      <a:pPr algn="ctr"/>
                      <a:r>
                        <a:rPr lang="zh-CN" altLang="en-US" sz="1200" dirty="0"/>
                        <a:t>估值</a:t>
                      </a:r>
                      <a:endParaRPr lang="en-GB" altLang="zh-CN" sz="1200" dirty="0">
                        <a:latin typeface="等线 Light" panose="02010600030101010101" pitchFamily="2" charset="-122"/>
                        <a:ea typeface="等线 Light" panose="02010600030101010101" pitchFamily="2" charset="-122"/>
                      </a:endParaRPr>
                    </a:p>
                  </a:txBody>
                  <a:tcPr/>
                </a:tc>
                <a:extLst>
                  <a:ext uri="{0D108BD9-81ED-4DB2-BD59-A6C34878D82A}">
                    <a16:rowId xmlns:a16="http://schemas.microsoft.com/office/drawing/2014/main" val="3544096837"/>
                  </a:ext>
                </a:extLst>
              </a:tr>
              <a:tr h="370840">
                <a:tc>
                  <a:txBody>
                    <a:bodyPr/>
                    <a:lstStyle/>
                    <a:p>
                      <a:r>
                        <a:rPr lang="zh-CN" altLang="en-US" sz="1400" dirty="0"/>
                        <a:t>发布频率</a:t>
                      </a:r>
                      <a:endParaRPr lang="en-GB" sz="1400" dirty="0">
                        <a:latin typeface="等线 Light" panose="02010600030101010101" pitchFamily="2" charset="-122"/>
                        <a:ea typeface="等线 Light" panose="02010600030101010101" pitchFamily="2" charset="-122"/>
                      </a:endParaRPr>
                    </a:p>
                  </a:txBody>
                  <a:tcPr/>
                </a:tc>
                <a:tc>
                  <a:txBody>
                    <a:bodyPr/>
                    <a:lstStyle/>
                    <a:p>
                      <a:pPr algn="ctr"/>
                      <a:r>
                        <a:rPr lang="zh-CN" altLang="en-US" sz="1200" dirty="0"/>
                        <a:t>每</a:t>
                      </a:r>
                      <a:r>
                        <a:rPr lang="en-GB" altLang="zh-CN" sz="1200" dirty="0"/>
                        <a:t>30</a:t>
                      </a:r>
                      <a:r>
                        <a:rPr lang="zh-CN" altLang="en-US" sz="1200" dirty="0"/>
                        <a:t>秒</a:t>
                      </a:r>
                      <a:endParaRPr lang="en-GB" sz="1200" dirty="0">
                        <a:latin typeface="等线 Light" panose="02010600030101010101" pitchFamily="2" charset="-122"/>
                        <a:ea typeface="等线 Light" panose="02010600030101010101" pitchFamily="2" charset="-122"/>
                      </a:endParaRPr>
                    </a:p>
                  </a:txBody>
                  <a:tcPr/>
                </a:tc>
                <a:tc>
                  <a:txBody>
                    <a:bodyPr/>
                    <a:lstStyle/>
                    <a:p>
                      <a:pPr algn="ctr"/>
                      <a:r>
                        <a:rPr lang="zh-CN" altLang="en-US" sz="1200" dirty="0"/>
                        <a:t>实时</a:t>
                      </a:r>
                      <a:endParaRPr lang="en-GB" sz="1200" dirty="0">
                        <a:latin typeface="等线 Light" panose="02010600030101010101" pitchFamily="2" charset="-122"/>
                        <a:ea typeface="等线 Light" panose="02010600030101010101" pitchFamily="2" charset="-122"/>
                      </a:endParaRPr>
                    </a:p>
                  </a:txBody>
                  <a:tcPr/>
                </a:tc>
                <a:tc>
                  <a:txBody>
                    <a:bodyPr/>
                    <a:lstStyle/>
                    <a:p>
                      <a:pPr algn="ctr"/>
                      <a:r>
                        <a:rPr lang="zh-CN" altLang="en-US" sz="1200" dirty="0"/>
                        <a:t>实时</a:t>
                      </a:r>
                      <a:endParaRPr lang="en-GB" sz="1200" dirty="0">
                        <a:latin typeface="等线 Light" panose="02010600030101010101" pitchFamily="2" charset="-122"/>
                        <a:ea typeface="等线 Light" panose="02010600030101010101" pitchFamily="2" charset="-122"/>
                      </a:endParaRPr>
                    </a:p>
                  </a:txBody>
                  <a:tcPr/>
                </a:tc>
                <a:tc>
                  <a:txBody>
                    <a:bodyPr/>
                    <a:lstStyle/>
                    <a:p>
                      <a:pPr algn="ctr"/>
                      <a:r>
                        <a:rPr lang="zh-CN" altLang="en-US" sz="1200" dirty="0"/>
                        <a:t>政府、超国家、机构、企业债：每日</a:t>
                      </a:r>
                      <a:r>
                        <a:rPr lang="en-GB" altLang="zh-CN" sz="1200" dirty="0"/>
                        <a:t>7</a:t>
                      </a:r>
                      <a:r>
                        <a:rPr lang="zh-CN" altLang="en-US" sz="1200" dirty="0"/>
                        <a:t>次</a:t>
                      </a:r>
                      <a:endParaRPr lang="en-GB" altLang="zh-CN" sz="1200" dirty="0"/>
                    </a:p>
                    <a:p>
                      <a:pPr algn="ctr"/>
                      <a:r>
                        <a:rPr lang="zh-CN" altLang="en-US" sz="1200" dirty="0"/>
                        <a:t>抵押贷款：</a:t>
                      </a:r>
                      <a:r>
                        <a:rPr lang="en-GB" altLang="zh-CN" sz="1200" dirty="0" err="1"/>
                        <a:t>NY,LN</a:t>
                      </a:r>
                      <a:r>
                        <a:rPr lang="en-GB" altLang="zh-CN" sz="1200" dirty="0"/>
                        <a:t> 3PM</a:t>
                      </a:r>
                      <a:r>
                        <a:rPr lang="zh-CN" altLang="en-US" sz="1200" dirty="0"/>
                        <a:t> </a:t>
                      </a:r>
                      <a:r>
                        <a:rPr lang="en-GB" altLang="zh-CN" sz="1200" dirty="0"/>
                        <a:t>4PM</a:t>
                      </a:r>
                    </a:p>
                    <a:p>
                      <a:pPr algn="ctr"/>
                      <a:r>
                        <a:rPr lang="zh-CN" altLang="en-US" sz="1200" dirty="0"/>
                        <a:t>市政债：</a:t>
                      </a:r>
                      <a:r>
                        <a:rPr lang="en-US" altLang="zh-CN" sz="1200" dirty="0"/>
                        <a:t>NY 3PM 4PM</a:t>
                      </a:r>
                      <a:endParaRPr lang="en-GB" sz="1200" dirty="0">
                        <a:latin typeface="等线 Light" panose="02010600030101010101" pitchFamily="2" charset="-122"/>
                        <a:ea typeface="等线 Light" panose="02010600030101010101" pitchFamily="2" charset="-122"/>
                      </a:endParaRPr>
                    </a:p>
                  </a:txBody>
                  <a:tcPr/>
                </a:tc>
                <a:extLst>
                  <a:ext uri="{0D108BD9-81ED-4DB2-BD59-A6C34878D82A}">
                    <a16:rowId xmlns:a16="http://schemas.microsoft.com/office/drawing/2014/main" val="4215425061"/>
                  </a:ext>
                </a:extLst>
              </a:tr>
              <a:tr h="370840">
                <a:tc>
                  <a:txBody>
                    <a:bodyPr/>
                    <a:lstStyle/>
                    <a:p>
                      <a:r>
                        <a:rPr lang="zh-CN" altLang="en-US" sz="1400" dirty="0"/>
                        <a:t>资产覆盖</a:t>
                      </a:r>
                      <a:endParaRPr lang="en-GB" sz="1400" dirty="0">
                        <a:latin typeface="等线 Light" panose="02010600030101010101" pitchFamily="2" charset="-122"/>
                        <a:ea typeface="等线 Light" panose="02010600030101010101" pitchFamily="2" charset="-122"/>
                      </a:endParaRPr>
                    </a:p>
                  </a:txBody>
                  <a:tcPr/>
                </a:tc>
                <a:tc>
                  <a:txBody>
                    <a:bodyPr/>
                    <a:lstStyle/>
                    <a:p>
                      <a:pPr algn="ctr"/>
                      <a:r>
                        <a:rPr lang="zh-CN" altLang="en-US" sz="1200" dirty="0"/>
                        <a:t>企业债</a:t>
                      </a:r>
                      <a:endParaRPr lang="en-GB" altLang="zh-CN" sz="1200" dirty="0"/>
                    </a:p>
                    <a:p>
                      <a:pPr algn="ctr"/>
                      <a:r>
                        <a:rPr lang="zh-CN" altLang="en-US" sz="1200" dirty="0"/>
                        <a:t>约</a:t>
                      </a:r>
                      <a:r>
                        <a:rPr lang="en-GB" altLang="zh-CN" sz="1200" dirty="0"/>
                        <a:t>15000</a:t>
                      </a:r>
                      <a:r>
                        <a:rPr lang="zh-CN" altLang="en-US" sz="1200" dirty="0"/>
                        <a:t>支</a:t>
                      </a:r>
                      <a:endParaRPr lang="en-GB" sz="1200" dirty="0">
                        <a:latin typeface="等线 Light" panose="02010600030101010101" pitchFamily="2" charset="-122"/>
                        <a:ea typeface="等线 Light" panose="02010600030101010101" pitchFamily="2" charset="-122"/>
                      </a:endParaRPr>
                    </a:p>
                  </a:txBody>
                  <a:tcPr/>
                </a:tc>
                <a:tc>
                  <a:txBody>
                    <a:bodyPr/>
                    <a:lstStyle/>
                    <a:p>
                      <a:pPr algn="ctr"/>
                      <a:r>
                        <a:rPr lang="zh-CN" altLang="en-US" sz="1200" dirty="0"/>
                        <a:t>政府债、企业债、市政债</a:t>
                      </a:r>
                      <a:endParaRPr lang="en-GB" altLang="zh-CN" sz="1200" dirty="0"/>
                    </a:p>
                    <a:p>
                      <a:pPr algn="ctr"/>
                      <a:r>
                        <a:rPr lang="zh-CN" altLang="en-US" sz="1200" dirty="0"/>
                        <a:t>约</a:t>
                      </a:r>
                      <a:r>
                        <a:rPr lang="en-GB" altLang="zh-CN" sz="1200" dirty="0"/>
                        <a:t>8000</a:t>
                      </a:r>
                      <a:r>
                        <a:rPr lang="zh-CN" altLang="en-US" sz="1200" dirty="0"/>
                        <a:t>支</a:t>
                      </a:r>
                      <a:endParaRPr lang="en-GB" sz="1200" dirty="0">
                        <a:latin typeface="等线 Light" panose="02010600030101010101" pitchFamily="2" charset="-122"/>
                        <a:ea typeface="等线 Light" panose="02010600030101010101" pitchFamily="2" charset="-122"/>
                      </a:endParaRPr>
                    </a:p>
                  </a:txBody>
                  <a:tcPr/>
                </a:tc>
                <a:tc>
                  <a:txBody>
                    <a:bodyPr/>
                    <a:lstStyle/>
                    <a:p>
                      <a:pPr marL="0" marR="0" lvl="0" indent="0" algn="ctr" defTabSz="914332" rtl="0" eaLnBrk="1" fontAlgn="auto" latinLnBrk="0" hangingPunct="1">
                        <a:lnSpc>
                          <a:spcPct val="100000"/>
                        </a:lnSpc>
                        <a:spcBef>
                          <a:spcPts val="0"/>
                        </a:spcBef>
                        <a:spcAft>
                          <a:spcPts val="0"/>
                        </a:spcAft>
                        <a:buClrTx/>
                        <a:buSzTx/>
                        <a:buFontTx/>
                        <a:buNone/>
                        <a:tabLst/>
                        <a:defRPr/>
                      </a:pPr>
                      <a:r>
                        <a:rPr lang="zh-CN" altLang="en-US" sz="1200" dirty="0"/>
                        <a:t>政府债、企业债、市政债</a:t>
                      </a:r>
                      <a:endParaRPr lang="en-GB" altLang="zh-CN" sz="1200" dirty="0"/>
                    </a:p>
                    <a:p>
                      <a:pPr algn="ctr"/>
                      <a:r>
                        <a:rPr lang="zh-CN" altLang="en-US" sz="1200" dirty="0"/>
                        <a:t>约</a:t>
                      </a:r>
                      <a:r>
                        <a:rPr lang="en-GB" altLang="zh-CN" sz="1200" dirty="0"/>
                        <a:t>45000</a:t>
                      </a:r>
                      <a:r>
                        <a:rPr lang="zh-CN" altLang="en-US" sz="1200" dirty="0"/>
                        <a:t>支</a:t>
                      </a:r>
                      <a:endParaRPr lang="en-GB" sz="1200" dirty="0">
                        <a:latin typeface="等线 Light" panose="02010600030101010101" pitchFamily="2" charset="-122"/>
                        <a:ea typeface="等线 Light" panose="02010600030101010101" pitchFamily="2" charset="-122"/>
                      </a:endParaRPr>
                    </a:p>
                  </a:txBody>
                  <a:tcPr/>
                </a:tc>
                <a:tc>
                  <a:txBody>
                    <a:bodyPr/>
                    <a:lstStyle/>
                    <a:p>
                      <a:pPr algn="ctr"/>
                      <a:r>
                        <a:rPr lang="zh-CN" altLang="en-US" sz="1200" dirty="0"/>
                        <a:t>政府债、企业债、贷款、市政债、抵押贷款等</a:t>
                      </a:r>
                      <a:endParaRPr lang="en-GB" altLang="zh-CN" sz="1200" dirty="0"/>
                    </a:p>
                    <a:p>
                      <a:pPr algn="ctr"/>
                      <a:r>
                        <a:rPr lang="zh-CN" altLang="en-US" sz="1200" dirty="0"/>
                        <a:t>约</a:t>
                      </a:r>
                      <a:r>
                        <a:rPr lang="en-GB" sz="1200" dirty="0"/>
                        <a:t>250</a:t>
                      </a:r>
                      <a:r>
                        <a:rPr lang="zh-CN" altLang="en-US" sz="1200" dirty="0"/>
                        <a:t>万支</a:t>
                      </a:r>
                      <a:endParaRPr lang="en-GB" sz="1200" dirty="0">
                        <a:latin typeface="等线 Light" panose="02010600030101010101" pitchFamily="2" charset="-122"/>
                        <a:ea typeface="等线 Light" panose="02010600030101010101" pitchFamily="2" charset="-122"/>
                      </a:endParaRPr>
                    </a:p>
                  </a:txBody>
                  <a:tcPr/>
                </a:tc>
                <a:extLst>
                  <a:ext uri="{0D108BD9-81ED-4DB2-BD59-A6C34878D82A}">
                    <a16:rowId xmlns:a16="http://schemas.microsoft.com/office/drawing/2014/main" val="912993331"/>
                  </a:ext>
                </a:extLst>
              </a:tr>
            </a:tbl>
          </a:graphicData>
        </a:graphic>
      </p:graphicFrame>
      <p:sp>
        <p:nvSpPr>
          <p:cNvPr id="21" name="iṡlïḍe">
            <a:extLst>
              <a:ext uri="{FF2B5EF4-FFF2-40B4-BE49-F238E27FC236}">
                <a16:creationId xmlns:a16="http://schemas.microsoft.com/office/drawing/2014/main" id="{9500F754-FFC0-4BC9-AEBA-C3A0FBBCE299}"/>
              </a:ext>
            </a:extLst>
          </p:cNvPr>
          <p:cNvSpPr/>
          <p:nvPr/>
        </p:nvSpPr>
        <p:spPr>
          <a:xfrm>
            <a:off x="660401" y="4649909"/>
            <a:ext cx="1688163" cy="454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20000"/>
              </a:lnSpc>
            </a:pPr>
            <a:r>
              <a:rPr lang="zh-CN" altLang="en-US" sz="1400" b="1" dirty="0">
                <a:solidFill>
                  <a:schemeClr val="tx1">
                    <a:alpha val="60000"/>
                  </a:schemeClr>
                </a:solidFill>
                <a:effectLst/>
              </a:rPr>
              <a:t>数据客观参考性</a:t>
            </a:r>
            <a:endParaRPr lang="en-US" altLang="zh-CN" sz="1400" b="1" dirty="0">
              <a:solidFill>
                <a:schemeClr val="tx1">
                  <a:alpha val="60000"/>
                </a:schemeClr>
              </a:solidFill>
              <a:effectLst/>
            </a:endParaRPr>
          </a:p>
        </p:txBody>
      </p:sp>
      <p:sp>
        <p:nvSpPr>
          <p:cNvPr id="22" name="iṡlïḍe">
            <a:extLst>
              <a:ext uri="{FF2B5EF4-FFF2-40B4-BE49-F238E27FC236}">
                <a16:creationId xmlns:a16="http://schemas.microsoft.com/office/drawing/2014/main" id="{296EA0C1-E5B8-45E9-8154-9365B84C549A}"/>
              </a:ext>
            </a:extLst>
          </p:cNvPr>
          <p:cNvSpPr/>
          <p:nvPr/>
        </p:nvSpPr>
        <p:spPr>
          <a:xfrm>
            <a:off x="660401" y="5543186"/>
            <a:ext cx="3302000" cy="4528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20000"/>
              </a:lnSpc>
            </a:pPr>
            <a:r>
              <a:rPr lang="zh-CN" altLang="en-US" sz="1400" b="1" dirty="0">
                <a:solidFill>
                  <a:schemeClr val="tx1">
                    <a:alpha val="60000"/>
                  </a:schemeClr>
                </a:solidFill>
              </a:rPr>
              <a:t>会计视角</a:t>
            </a:r>
            <a:r>
              <a:rPr lang="zh-CN" altLang="en-US" sz="1400" b="1" dirty="0">
                <a:solidFill>
                  <a:schemeClr val="tx1">
                    <a:alpha val="60000"/>
                  </a:schemeClr>
                </a:solidFill>
                <a:effectLst/>
              </a:rPr>
              <a:t>估值层级</a:t>
            </a:r>
            <a:endParaRPr lang="en-US" altLang="zh-CN" sz="1400" b="1" dirty="0">
              <a:solidFill>
                <a:schemeClr val="tx1">
                  <a:alpha val="60000"/>
                </a:schemeClr>
              </a:solidFill>
              <a:effectLst/>
            </a:endParaRPr>
          </a:p>
        </p:txBody>
      </p:sp>
      <p:sp>
        <p:nvSpPr>
          <p:cNvPr id="23" name="Arrow: Right 22">
            <a:extLst>
              <a:ext uri="{FF2B5EF4-FFF2-40B4-BE49-F238E27FC236}">
                <a16:creationId xmlns:a16="http://schemas.microsoft.com/office/drawing/2014/main" id="{91717465-3727-49DB-BFD5-8C68151BA792}"/>
              </a:ext>
            </a:extLst>
          </p:cNvPr>
          <p:cNvSpPr/>
          <p:nvPr/>
        </p:nvSpPr>
        <p:spPr>
          <a:xfrm>
            <a:off x="731521" y="5102763"/>
            <a:ext cx="10616665" cy="1961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iṡlïḍe">
            <a:extLst>
              <a:ext uri="{FF2B5EF4-FFF2-40B4-BE49-F238E27FC236}">
                <a16:creationId xmlns:a16="http://schemas.microsoft.com/office/drawing/2014/main" id="{29D87C83-0573-45A9-8B9D-7AB5AC66F023}"/>
              </a:ext>
            </a:extLst>
          </p:cNvPr>
          <p:cNvSpPr/>
          <p:nvPr/>
        </p:nvSpPr>
        <p:spPr>
          <a:xfrm>
            <a:off x="2614864" y="4654422"/>
            <a:ext cx="1033111" cy="454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20000"/>
              </a:lnSpc>
            </a:pPr>
            <a:r>
              <a:rPr lang="zh-CN" altLang="en-US" sz="1400" b="1" dirty="0">
                <a:solidFill>
                  <a:schemeClr val="accent2">
                    <a:alpha val="60000"/>
                  </a:schemeClr>
                </a:solidFill>
                <a:effectLst/>
              </a:rPr>
              <a:t>纯客观</a:t>
            </a:r>
            <a:endParaRPr lang="en-US" altLang="zh-CN" sz="1400" b="1" dirty="0">
              <a:solidFill>
                <a:schemeClr val="accent2">
                  <a:alpha val="60000"/>
                </a:schemeClr>
              </a:solidFill>
              <a:effectLst/>
            </a:endParaRPr>
          </a:p>
        </p:txBody>
      </p:sp>
      <p:sp>
        <p:nvSpPr>
          <p:cNvPr id="25" name="iṡlïḍe">
            <a:extLst>
              <a:ext uri="{FF2B5EF4-FFF2-40B4-BE49-F238E27FC236}">
                <a16:creationId xmlns:a16="http://schemas.microsoft.com/office/drawing/2014/main" id="{FBE7511C-2DDC-4589-B4A6-43DE9C84B51F}"/>
              </a:ext>
            </a:extLst>
          </p:cNvPr>
          <p:cNvSpPr/>
          <p:nvPr/>
        </p:nvSpPr>
        <p:spPr>
          <a:xfrm>
            <a:off x="4583230" y="4649909"/>
            <a:ext cx="1819175" cy="454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20000"/>
              </a:lnSpc>
            </a:pPr>
            <a:r>
              <a:rPr lang="zh-CN" altLang="en-US" sz="1400" b="1" dirty="0">
                <a:solidFill>
                  <a:schemeClr val="accent2">
                    <a:alpha val="60000"/>
                  </a:schemeClr>
                </a:solidFill>
              </a:rPr>
              <a:t>基于客观数据的汇总</a:t>
            </a:r>
            <a:endParaRPr lang="en-US" altLang="zh-CN" sz="1400" b="1" dirty="0">
              <a:solidFill>
                <a:schemeClr val="accent2">
                  <a:alpha val="60000"/>
                </a:schemeClr>
              </a:solidFill>
              <a:effectLst/>
            </a:endParaRPr>
          </a:p>
        </p:txBody>
      </p:sp>
      <p:sp>
        <p:nvSpPr>
          <p:cNvPr id="26" name="iṡlïḍe">
            <a:extLst>
              <a:ext uri="{FF2B5EF4-FFF2-40B4-BE49-F238E27FC236}">
                <a16:creationId xmlns:a16="http://schemas.microsoft.com/office/drawing/2014/main" id="{47D5E689-3FE9-4D04-9818-C7BD7DB7ACB2}"/>
              </a:ext>
            </a:extLst>
          </p:cNvPr>
          <p:cNvSpPr/>
          <p:nvPr/>
        </p:nvSpPr>
        <p:spPr>
          <a:xfrm>
            <a:off x="7007192" y="4648435"/>
            <a:ext cx="1819175" cy="454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20000"/>
              </a:lnSpc>
            </a:pPr>
            <a:r>
              <a:rPr lang="zh-CN" altLang="en-US" sz="1400" b="1" dirty="0">
                <a:solidFill>
                  <a:schemeClr val="accent2">
                    <a:alpha val="60000"/>
                  </a:schemeClr>
                </a:solidFill>
              </a:rPr>
              <a:t>基于客观数据的汇总</a:t>
            </a:r>
            <a:endParaRPr lang="en-US" altLang="zh-CN" sz="1400" b="1" dirty="0">
              <a:solidFill>
                <a:schemeClr val="accent2">
                  <a:alpha val="60000"/>
                </a:schemeClr>
              </a:solidFill>
              <a:effectLst/>
            </a:endParaRPr>
          </a:p>
        </p:txBody>
      </p:sp>
      <p:sp>
        <p:nvSpPr>
          <p:cNvPr id="27" name="iṡlïḍe">
            <a:extLst>
              <a:ext uri="{FF2B5EF4-FFF2-40B4-BE49-F238E27FC236}">
                <a16:creationId xmlns:a16="http://schemas.microsoft.com/office/drawing/2014/main" id="{23BD9C66-18EE-4557-9EE3-E0981296BB39}"/>
              </a:ext>
            </a:extLst>
          </p:cNvPr>
          <p:cNvSpPr/>
          <p:nvPr/>
        </p:nvSpPr>
        <p:spPr>
          <a:xfrm>
            <a:off x="9192129" y="4648435"/>
            <a:ext cx="2229850" cy="454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20000"/>
              </a:lnSpc>
            </a:pPr>
            <a:r>
              <a:rPr lang="zh-CN" altLang="en-US" sz="1400" b="1" dirty="0">
                <a:solidFill>
                  <a:schemeClr val="accent2">
                    <a:alpha val="60000"/>
                  </a:schemeClr>
                </a:solidFill>
              </a:rPr>
              <a:t>基于客观数据和估值模型</a:t>
            </a:r>
            <a:endParaRPr lang="en-US" altLang="zh-CN" sz="1400" b="1" dirty="0">
              <a:solidFill>
                <a:schemeClr val="accent2">
                  <a:alpha val="60000"/>
                </a:schemeClr>
              </a:solidFill>
              <a:effectLst/>
            </a:endParaRPr>
          </a:p>
        </p:txBody>
      </p:sp>
      <p:sp>
        <p:nvSpPr>
          <p:cNvPr id="28" name="Arrow: Right 27">
            <a:extLst>
              <a:ext uri="{FF2B5EF4-FFF2-40B4-BE49-F238E27FC236}">
                <a16:creationId xmlns:a16="http://schemas.microsoft.com/office/drawing/2014/main" id="{C67C6C65-B19A-4489-93F5-123979C56F42}"/>
              </a:ext>
            </a:extLst>
          </p:cNvPr>
          <p:cNvSpPr/>
          <p:nvPr/>
        </p:nvSpPr>
        <p:spPr>
          <a:xfrm>
            <a:off x="731520" y="5992489"/>
            <a:ext cx="10616665" cy="1961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iṡlïḍe">
            <a:extLst>
              <a:ext uri="{FF2B5EF4-FFF2-40B4-BE49-F238E27FC236}">
                <a16:creationId xmlns:a16="http://schemas.microsoft.com/office/drawing/2014/main" id="{98CF208D-C266-43BE-882F-EDD0E265EA9E}"/>
              </a:ext>
            </a:extLst>
          </p:cNvPr>
          <p:cNvSpPr/>
          <p:nvPr/>
        </p:nvSpPr>
        <p:spPr>
          <a:xfrm>
            <a:off x="2536258" y="5538161"/>
            <a:ext cx="1033111" cy="454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20000"/>
              </a:lnSpc>
            </a:pPr>
            <a:r>
              <a:rPr lang="zh-CN" altLang="en-US" sz="1400" b="1" dirty="0">
                <a:solidFill>
                  <a:schemeClr val="accent2">
                    <a:alpha val="60000"/>
                  </a:schemeClr>
                </a:solidFill>
                <a:effectLst/>
              </a:rPr>
              <a:t>第一层次</a:t>
            </a:r>
            <a:endParaRPr lang="en-US" altLang="zh-CN" sz="1400" b="1" dirty="0">
              <a:solidFill>
                <a:schemeClr val="accent2">
                  <a:alpha val="60000"/>
                </a:schemeClr>
              </a:solidFill>
              <a:effectLst/>
            </a:endParaRPr>
          </a:p>
        </p:txBody>
      </p:sp>
      <p:sp>
        <p:nvSpPr>
          <p:cNvPr id="30" name="iṡlïḍe">
            <a:extLst>
              <a:ext uri="{FF2B5EF4-FFF2-40B4-BE49-F238E27FC236}">
                <a16:creationId xmlns:a16="http://schemas.microsoft.com/office/drawing/2014/main" id="{9DC567D7-F4F2-4933-ADE6-9BF64B1D9DDE}"/>
              </a:ext>
            </a:extLst>
          </p:cNvPr>
          <p:cNvSpPr/>
          <p:nvPr/>
        </p:nvSpPr>
        <p:spPr>
          <a:xfrm>
            <a:off x="4785361" y="5538161"/>
            <a:ext cx="1819175" cy="454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20000"/>
              </a:lnSpc>
            </a:pPr>
            <a:r>
              <a:rPr lang="zh-CN" altLang="en-US" sz="1400" b="1" dirty="0">
                <a:solidFill>
                  <a:schemeClr val="accent2">
                    <a:alpha val="60000"/>
                  </a:schemeClr>
                </a:solidFill>
                <a:effectLst/>
              </a:rPr>
              <a:t>第一、二层次</a:t>
            </a:r>
            <a:endParaRPr lang="en-US" altLang="zh-CN" sz="1400" b="1" dirty="0">
              <a:solidFill>
                <a:schemeClr val="accent2">
                  <a:alpha val="60000"/>
                </a:schemeClr>
              </a:solidFill>
              <a:effectLst/>
            </a:endParaRPr>
          </a:p>
        </p:txBody>
      </p:sp>
      <p:sp>
        <p:nvSpPr>
          <p:cNvPr id="31" name="iṡlïḍe">
            <a:extLst>
              <a:ext uri="{FF2B5EF4-FFF2-40B4-BE49-F238E27FC236}">
                <a16:creationId xmlns:a16="http://schemas.microsoft.com/office/drawing/2014/main" id="{B9EC4AF9-DFA9-4DA6-A55A-0F78BFCCF31D}"/>
              </a:ext>
            </a:extLst>
          </p:cNvPr>
          <p:cNvSpPr/>
          <p:nvPr/>
        </p:nvSpPr>
        <p:spPr>
          <a:xfrm>
            <a:off x="7238198" y="5538161"/>
            <a:ext cx="1819175" cy="454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20000"/>
              </a:lnSpc>
            </a:pPr>
            <a:r>
              <a:rPr lang="zh-CN" altLang="en-US" sz="1400" b="1" dirty="0">
                <a:solidFill>
                  <a:schemeClr val="accent2">
                    <a:alpha val="60000"/>
                  </a:schemeClr>
                </a:solidFill>
                <a:effectLst/>
              </a:rPr>
              <a:t>第一、二层次</a:t>
            </a:r>
            <a:endParaRPr lang="en-US" altLang="zh-CN" sz="1400" b="1" dirty="0">
              <a:solidFill>
                <a:schemeClr val="accent2">
                  <a:alpha val="60000"/>
                </a:schemeClr>
              </a:solidFill>
              <a:effectLst/>
            </a:endParaRPr>
          </a:p>
        </p:txBody>
      </p:sp>
      <p:sp>
        <p:nvSpPr>
          <p:cNvPr id="32" name="iṡlïḍe">
            <a:extLst>
              <a:ext uri="{FF2B5EF4-FFF2-40B4-BE49-F238E27FC236}">
                <a16:creationId xmlns:a16="http://schemas.microsoft.com/office/drawing/2014/main" id="{848598EF-4A6B-4884-977D-D89D4FAEE936}"/>
              </a:ext>
            </a:extLst>
          </p:cNvPr>
          <p:cNvSpPr/>
          <p:nvPr/>
        </p:nvSpPr>
        <p:spPr>
          <a:xfrm>
            <a:off x="9397466" y="5538161"/>
            <a:ext cx="1819175" cy="454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20000"/>
              </a:lnSpc>
            </a:pPr>
            <a:r>
              <a:rPr lang="zh-CN" altLang="en-US" sz="1400" b="1" dirty="0">
                <a:solidFill>
                  <a:schemeClr val="accent2">
                    <a:alpha val="60000"/>
                  </a:schemeClr>
                </a:solidFill>
                <a:effectLst/>
              </a:rPr>
              <a:t>第一、二、三层次</a:t>
            </a:r>
            <a:endParaRPr lang="en-US" altLang="zh-CN" sz="1400" b="1" dirty="0">
              <a:solidFill>
                <a:schemeClr val="accent2">
                  <a:alpha val="60000"/>
                </a:schemeClr>
              </a:solidFill>
              <a:effectLst/>
            </a:endParaRPr>
          </a:p>
        </p:txBody>
      </p:sp>
    </p:spTree>
    <p:extLst>
      <p:ext uri="{BB962C8B-B14F-4D97-AF65-F5344CB8AC3E}">
        <p14:creationId xmlns:p14="http://schemas.microsoft.com/office/powerpoint/2010/main" val="2588942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45B80-F073-8AD6-3B0A-B846E6D4E773}"/>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23E447D-889B-C60F-7A18-D7BA654097B2}"/>
              </a:ext>
            </a:extLst>
          </p:cNvPr>
          <p:cNvSpPr>
            <a:spLocks noGrp="1"/>
          </p:cNvSpPr>
          <p:nvPr>
            <p:ph type="sldNum" sz="quarter" idx="10"/>
          </p:nvPr>
        </p:nvSpPr>
        <p:spPr/>
        <p:txBody>
          <a:bodyPr/>
          <a:lstStyle/>
          <a:p>
            <a:fld id="{7870704B-CE94-48CC-AF30-84932A1262A7}" type="slidenum">
              <a:rPr lang="en-GB" smtClean="0"/>
              <a:pPr/>
              <a:t>4</a:t>
            </a:fld>
            <a:endParaRPr lang="en-GB"/>
          </a:p>
        </p:txBody>
      </p:sp>
      <p:sp>
        <p:nvSpPr>
          <p:cNvPr id="5" name="页脚占位符 4">
            <a:extLst>
              <a:ext uri="{FF2B5EF4-FFF2-40B4-BE49-F238E27FC236}">
                <a16:creationId xmlns:a16="http://schemas.microsoft.com/office/drawing/2014/main" id="{E19C4CE1-1EF9-1DE6-5CB0-1E7FC0AD8D0F}"/>
              </a:ext>
            </a:extLst>
          </p:cNvPr>
          <p:cNvSpPr>
            <a:spLocks noGrp="1"/>
          </p:cNvSpPr>
          <p:nvPr>
            <p:ph type="ftr" sz="quarter" idx="13"/>
          </p:nvPr>
        </p:nvSpPr>
        <p:spPr/>
        <p:txBody>
          <a:bodyPr/>
          <a:lstStyle/>
          <a:p>
            <a:r>
              <a:rPr lang="en-US" altLang="zh-CN"/>
              <a:t>© </a:t>
            </a:r>
            <a:r>
              <a:rPr lang="zh-CN" altLang="en-US"/>
              <a:t>容诚会计师事务所（特殊普通合伙），</a:t>
            </a:r>
            <a:r>
              <a:rPr lang="en-US" altLang="zh-CN"/>
              <a:t>2026</a:t>
            </a:r>
            <a:endParaRPr lang="zh-CN" altLang="en-US"/>
          </a:p>
        </p:txBody>
      </p:sp>
      <p:sp>
        <p:nvSpPr>
          <p:cNvPr id="2" name="标题 1">
            <a:extLst>
              <a:ext uri="{FF2B5EF4-FFF2-40B4-BE49-F238E27FC236}">
                <a16:creationId xmlns:a16="http://schemas.microsoft.com/office/drawing/2014/main" id="{590FF754-4A80-9547-08E4-191E4741B579}"/>
              </a:ext>
            </a:extLst>
          </p:cNvPr>
          <p:cNvSpPr>
            <a:spLocks noGrp="1"/>
          </p:cNvSpPr>
          <p:nvPr>
            <p:ph type="title"/>
          </p:nvPr>
        </p:nvSpPr>
        <p:spPr>
          <a:xfrm>
            <a:off x="660400" y="330400"/>
            <a:ext cx="10858500" cy="596911"/>
          </a:xfrm>
        </p:spPr>
        <p:txBody>
          <a:bodyPr/>
          <a:lstStyle/>
          <a:p>
            <a:r>
              <a:rPr lang="en-US" altLang="zh-CN" dirty="0"/>
              <a:t>Bloomberg – BVAL</a:t>
            </a:r>
            <a:r>
              <a:rPr lang="zh-CN" altLang="en-US" dirty="0"/>
              <a:t>评分体系</a:t>
            </a:r>
          </a:p>
        </p:txBody>
      </p:sp>
      <p:grpSp>
        <p:nvGrpSpPr>
          <p:cNvPr id="3" name="组合 2">
            <a:extLst>
              <a:ext uri="{FF2B5EF4-FFF2-40B4-BE49-F238E27FC236}">
                <a16:creationId xmlns:a16="http://schemas.microsoft.com/office/drawing/2014/main" id="{4FD8C5AA-4C9B-6D26-AE07-034A318A7EBF}"/>
              </a:ext>
            </a:extLst>
          </p:cNvPr>
          <p:cNvGrpSpPr/>
          <p:nvPr/>
        </p:nvGrpSpPr>
        <p:grpSpPr>
          <a:xfrm>
            <a:off x="1597595" y="3572338"/>
            <a:ext cx="9085850" cy="3686585"/>
            <a:chOff x="1554983" y="2895838"/>
            <a:chExt cx="9085850" cy="3686585"/>
          </a:xfrm>
        </p:grpSpPr>
        <p:sp>
          <p:nvSpPr>
            <p:cNvPr id="6" name="iṣ1iḓê">
              <a:extLst>
                <a:ext uri="{FF2B5EF4-FFF2-40B4-BE49-F238E27FC236}">
                  <a16:creationId xmlns:a16="http://schemas.microsoft.com/office/drawing/2014/main" id="{58F135AC-1AFA-48F7-49A3-3FE6D4BEBDF7}"/>
                </a:ext>
              </a:extLst>
            </p:cNvPr>
            <p:cNvSpPr/>
            <p:nvPr/>
          </p:nvSpPr>
          <p:spPr>
            <a:xfrm>
              <a:off x="3288492" y="5079568"/>
              <a:ext cx="350847" cy="362267"/>
            </a:xfrm>
            <a:custGeom>
              <a:avLst/>
              <a:gdLst>
                <a:gd name="T0" fmla="*/ 10069 w 10816"/>
                <a:gd name="T1" fmla="*/ 4473 h 11168"/>
                <a:gd name="T2" fmla="*/ 7095 w 10816"/>
                <a:gd name="T3" fmla="*/ 4473 h 11168"/>
                <a:gd name="T4" fmla="*/ 6301 w 10816"/>
                <a:gd name="T5" fmla="*/ 0 h 11168"/>
                <a:gd name="T6" fmla="*/ 5585 w 10816"/>
                <a:gd name="T7" fmla="*/ 761 h 11168"/>
                <a:gd name="T8" fmla="*/ 3374 w 10816"/>
                <a:gd name="T9" fmla="*/ 4473 h 11168"/>
                <a:gd name="T10" fmla="*/ 3374 w 10816"/>
                <a:gd name="T11" fmla="*/ 10375 h 11168"/>
                <a:gd name="T12" fmla="*/ 4480 w 10816"/>
                <a:gd name="T13" fmla="*/ 11168 h 11168"/>
                <a:gd name="T14" fmla="*/ 8948 w 10816"/>
                <a:gd name="T15" fmla="*/ 11168 h 11168"/>
                <a:gd name="T16" fmla="*/ 9711 w 10816"/>
                <a:gd name="T17" fmla="*/ 10065 h 11168"/>
                <a:gd name="T18" fmla="*/ 10816 w 10816"/>
                <a:gd name="T19" fmla="*/ 5188 h 11168"/>
                <a:gd name="T20" fmla="*/ 10069 w 10816"/>
                <a:gd name="T21" fmla="*/ 4473 h 11168"/>
                <a:gd name="T22" fmla="*/ 10069 w 10816"/>
                <a:gd name="T23" fmla="*/ 4473 h 11168"/>
                <a:gd name="T24" fmla="*/ 2154 w 10816"/>
                <a:gd name="T25" fmla="*/ 4475 h 11168"/>
                <a:gd name="T26" fmla="*/ 373 w 10816"/>
                <a:gd name="T27" fmla="*/ 4475 h 11168"/>
                <a:gd name="T28" fmla="*/ 0 w 10816"/>
                <a:gd name="T29" fmla="*/ 4836 h 11168"/>
                <a:gd name="T30" fmla="*/ 368 w 10816"/>
                <a:gd name="T31" fmla="*/ 10789 h 11168"/>
                <a:gd name="T32" fmla="*/ 747 w 10816"/>
                <a:gd name="T33" fmla="*/ 11168 h 11168"/>
                <a:gd name="T34" fmla="*/ 2288 w 10816"/>
                <a:gd name="T35" fmla="*/ 11168 h 11168"/>
                <a:gd name="T36" fmla="*/ 2606 w 10816"/>
                <a:gd name="T37" fmla="*/ 10917 h 11168"/>
                <a:gd name="T38" fmla="*/ 2606 w 10816"/>
                <a:gd name="T39" fmla="*/ 4927 h 11168"/>
                <a:gd name="T40" fmla="*/ 2154 w 10816"/>
                <a:gd name="T41" fmla="*/ 4475 h 11168"/>
                <a:gd name="T42" fmla="*/ 2154 w 10816"/>
                <a:gd name="T43" fmla="*/ 4475 h 1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16" h="11168">
                  <a:moveTo>
                    <a:pt x="10069" y="4473"/>
                  </a:moveTo>
                  <a:lnTo>
                    <a:pt x="7095" y="4473"/>
                  </a:lnTo>
                  <a:cubicBezTo>
                    <a:pt x="8247" y="217"/>
                    <a:pt x="6301" y="0"/>
                    <a:pt x="6301" y="0"/>
                  </a:cubicBezTo>
                  <a:cubicBezTo>
                    <a:pt x="5476" y="0"/>
                    <a:pt x="5647" y="652"/>
                    <a:pt x="5585" y="761"/>
                  </a:cubicBezTo>
                  <a:cubicBezTo>
                    <a:pt x="5585" y="2842"/>
                    <a:pt x="3374" y="4473"/>
                    <a:pt x="3374" y="4473"/>
                  </a:cubicBezTo>
                  <a:lnTo>
                    <a:pt x="3374" y="10375"/>
                  </a:lnTo>
                  <a:cubicBezTo>
                    <a:pt x="3374" y="10958"/>
                    <a:pt x="4168" y="11168"/>
                    <a:pt x="4480" y="11168"/>
                  </a:cubicBezTo>
                  <a:lnTo>
                    <a:pt x="8948" y="11168"/>
                  </a:lnTo>
                  <a:cubicBezTo>
                    <a:pt x="9368" y="11168"/>
                    <a:pt x="9711" y="10065"/>
                    <a:pt x="9711" y="10065"/>
                  </a:cubicBezTo>
                  <a:cubicBezTo>
                    <a:pt x="10816" y="6306"/>
                    <a:pt x="10816" y="5188"/>
                    <a:pt x="10816" y="5188"/>
                  </a:cubicBezTo>
                  <a:cubicBezTo>
                    <a:pt x="10816" y="4411"/>
                    <a:pt x="10069" y="4473"/>
                    <a:pt x="10069" y="4473"/>
                  </a:cubicBezTo>
                  <a:close/>
                  <a:moveTo>
                    <a:pt x="10069" y="4473"/>
                  </a:moveTo>
                  <a:close/>
                  <a:moveTo>
                    <a:pt x="2154" y="4475"/>
                  </a:moveTo>
                  <a:lnTo>
                    <a:pt x="373" y="4475"/>
                  </a:lnTo>
                  <a:cubicBezTo>
                    <a:pt x="5" y="4475"/>
                    <a:pt x="0" y="4836"/>
                    <a:pt x="0" y="4836"/>
                  </a:cubicBezTo>
                  <a:lnTo>
                    <a:pt x="368" y="10789"/>
                  </a:lnTo>
                  <a:cubicBezTo>
                    <a:pt x="368" y="11168"/>
                    <a:pt x="747" y="11168"/>
                    <a:pt x="747" y="11168"/>
                  </a:cubicBezTo>
                  <a:lnTo>
                    <a:pt x="2288" y="11168"/>
                  </a:lnTo>
                  <a:cubicBezTo>
                    <a:pt x="2609" y="11168"/>
                    <a:pt x="2606" y="10917"/>
                    <a:pt x="2606" y="10917"/>
                  </a:cubicBezTo>
                  <a:lnTo>
                    <a:pt x="2606" y="4927"/>
                  </a:lnTo>
                  <a:cubicBezTo>
                    <a:pt x="2606" y="4469"/>
                    <a:pt x="2154" y="4475"/>
                    <a:pt x="2154" y="4475"/>
                  </a:cubicBezTo>
                  <a:close/>
                  <a:moveTo>
                    <a:pt x="2154" y="4475"/>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íṣliḋê">
              <a:extLst>
                <a:ext uri="{FF2B5EF4-FFF2-40B4-BE49-F238E27FC236}">
                  <a16:creationId xmlns:a16="http://schemas.microsoft.com/office/drawing/2014/main" id="{FC669EE7-CEDF-F830-3F68-8611C8A77614}"/>
                </a:ext>
              </a:extLst>
            </p:cNvPr>
            <p:cNvGrpSpPr/>
            <p:nvPr/>
          </p:nvGrpSpPr>
          <p:grpSpPr>
            <a:xfrm rot="697731">
              <a:off x="1554983" y="3226650"/>
              <a:ext cx="9085850" cy="3355773"/>
              <a:chOff x="1887382" y="1459306"/>
              <a:chExt cx="7837600" cy="3652093"/>
            </a:xfrm>
          </p:grpSpPr>
          <p:sp>
            <p:nvSpPr>
              <p:cNvPr id="38" name="iSḷiḋé">
                <a:extLst>
                  <a:ext uri="{FF2B5EF4-FFF2-40B4-BE49-F238E27FC236}">
                    <a16:creationId xmlns:a16="http://schemas.microsoft.com/office/drawing/2014/main" id="{D7CAFBCC-5D70-D95A-F308-B22AE93519B5}"/>
                  </a:ext>
                </a:extLst>
              </p:cNvPr>
              <p:cNvSpPr/>
              <p:nvPr/>
            </p:nvSpPr>
            <p:spPr>
              <a:xfrm rot="461262">
                <a:off x="1887382" y="1459306"/>
                <a:ext cx="7550848" cy="3652093"/>
              </a:xfrm>
              <a:custGeom>
                <a:avLst/>
                <a:gdLst>
                  <a:gd name="connsiteX0" fmla="*/ 1424 w 7550848"/>
                  <a:gd name="connsiteY0" fmla="*/ 3618319 h 3652093"/>
                  <a:gd name="connsiteX1" fmla="*/ 535220 w 7550848"/>
                  <a:gd name="connsiteY1" fmla="*/ 3625383 h 3652093"/>
                  <a:gd name="connsiteX2" fmla="*/ 6669143 w 7550848"/>
                  <a:gd name="connsiteY2" fmla="*/ 790200 h 3652093"/>
                  <a:gd name="connsiteX3" fmla="*/ 7376873 w 7550848"/>
                  <a:gd name="connsiteY3" fmla="*/ 635 h 3652093"/>
                  <a:gd name="connsiteX4" fmla="*/ 7550807 w 7550848"/>
                  <a:gd name="connsiteY4" fmla="*/ 145912 h 3652093"/>
                  <a:gd name="connsiteX5" fmla="*/ 6809889 w 7550848"/>
                  <a:gd name="connsiteY5" fmla="*/ 932278 h 3652093"/>
                  <a:gd name="connsiteX6" fmla="*/ 535887 w 7550848"/>
                  <a:gd name="connsiteY6" fmla="*/ 3652040 h 3652093"/>
                  <a:gd name="connsiteX7" fmla="*/ -42 w 7550848"/>
                  <a:gd name="connsiteY7" fmla="*/ 3631647 h 3652093"/>
                  <a:gd name="connsiteX8" fmla="*/ 1424 w 7550848"/>
                  <a:gd name="connsiteY8" fmla="*/ 3618319 h 3652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50848" h="3652093">
                    <a:moveTo>
                      <a:pt x="1424" y="3618319"/>
                    </a:moveTo>
                    <a:cubicBezTo>
                      <a:pt x="179089" y="3630541"/>
                      <a:pt x="357295" y="3632900"/>
                      <a:pt x="535220" y="3625383"/>
                    </a:cubicBezTo>
                    <a:cubicBezTo>
                      <a:pt x="2850736" y="3533018"/>
                      <a:pt x="5062424" y="2437037"/>
                      <a:pt x="6669143" y="790200"/>
                    </a:cubicBezTo>
                    <a:cubicBezTo>
                      <a:pt x="6917315" y="538296"/>
                      <a:pt x="7153225" y="275103"/>
                      <a:pt x="7376873" y="635"/>
                    </a:cubicBezTo>
                    <a:lnTo>
                      <a:pt x="7550807" y="145912"/>
                    </a:lnTo>
                    <a:cubicBezTo>
                      <a:pt x="7316136" y="419408"/>
                      <a:pt x="7069164" y="681534"/>
                      <a:pt x="6809889" y="932278"/>
                    </a:cubicBezTo>
                    <a:cubicBezTo>
                      <a:pt x="5142394" y="2558191"/>
                      <a:pt x="2879658" y="3616586"/>
                      <a:pt x="535887" y="3652040"/>
                    </a:cubicBezTo>
                    <a:cubicBezTo>
                      <a:pt x="357006" y="3655038"/>
                      <a:pt x="178094" y="3648241"/>
                      <a:pt x="-42" y="3631647"/>
                    </a:cubicBezTo>
                    <a:lnTo>
                      <a:pt x="1424" y="3618319"/>
                    </a:lnTo>
                    <a:close/>
                  </a:path>
                </a:pathLst>
              </a:custGeom>
              <a:gradFill>
                <a:gsLst>
                  <a:gs pos="0">
                    <a:schemeClr val="accent2">
                      <a:alpha val="0"/>
                    </a:schemeClr>
                  </a:gs>
                  <a:gs pos="77000">
                    <a:schemeClr val="accent2"/>
                  </a:gs>
                </a:gsLst>
                <a:lin ang="1200000" scaled="0"/>
              </a:gradFill>
              <a:ln w="13325" cap="flat">
                <a:noFill/>
                <a:prstDash val="solid"/>
                <a:miter/>
              </a:ln>
            </p:spPr>
            <p:txBody>
              <a:bodyPr rtlCol="0" anchor="ctr"/>
              <a:lstStyle/>
              <a:p>
                <a:endParaRPr lang="zh-CN" altLang="en-US"/>
              </a:p>
            </p:txBody>
          </p:sp>
          <p:sp>
            <p:nvSpPr>
              <p:cNvPr id="39" name="ï$ḷîdè">
                <a:extLst>
                  <a:ext uri="{FF2B5EF4-FFF2-40B4-BE49-F238E27FC236}">
                    <a16:creationId xmlns:a16="http://schemas.microsoft.com/office/drawing/2014/main" id="{8231F88E-1406-3C01-3EC5-DC19E70C2F60}"/>
                  </a:ext>
                </a:extLst>
              </p:cNvPr>
              <p:cNvSpPr/>
              <p:nvPr/>
            </p:nvSpPr>
            <p:spPr>
              <a:xfrm rot="698765">
                <a:off x="9238878" y="1795889"/>
                <a:ext cx="486104" cy="570182"/>
              </a:xfrm>
              <a:custGeom>
                <a:avLst/>
                <a:gdLst>
                  <a:gd name="connsiteX0" fmla="*/ 0 w 577112"/>
                  <a:gd name="connsiteY0" fmla="*/ 201656 h 570182"/>
                  <a:gd name="connsiteX1" fmla="*/ 577113 w 577112"/>
                  <a:gd name="connsiteY1" fmla="*/ 570182 h 570182"/>
                  <a:gd name="connsiteX2" fmla="*/ 577113 w 577112"/>
                  <a:gd name="connsiteY2" fmla="*/ 0 h 570182"/>
                  <a:gd name="connsiteX3" fmla="*/ 0 w 577112"/>
                  <a:gd name="connsiteY3" fmla="*/ 201656 h 570182"/>
                  <a:gd name="connsiteX0" fmla="*/ 0 w 482183"/>
                  <a:gd name="connsiteY0" fmla="*/ 191514 h 570182"/>
                  <a:gd name="connsiteX1" fmla="*/ 482183 w 482183"/>
                  <a:gd name="connsiteY1" fmla="*/ 570182 h 570182"/>
                  <a:gd name="connsiteX2" fmla="*/ 482183 w 482183"/>
                  <a:gd name="connsiteY2" fmla="*/ 0 h 570182"/>
                  <a:gd name="connsiteX3" fmla="*/ 0 w 482183"/>
                  <a:gd name="connsiteY3" fmla="*/ 191514 h 570182"/>
                  <a:gd name="connsiteX0" fmla="*/ 0 w 486104"/>
                  <a:gd name="connsiteY0" fmla="*/ 223733 h 570182"/>
                  <a:gd name="connsiteX1" fmla="*/ 486104 w 486104"/>
                  <a:gd name="connsiteY1" fmla="*/ 570182 h 570182"/>
                  <a:gd name="connsiteX2" fmla="*/ 486104 w 486104"/>
                  <a:gd name="connsiteY2" fmla="*/ 0 h 570182"/>
                  <a:gd name="connsiteX3" fmla="*/ 0 w 486104"/>
                  <a:gd name="connsiteY3" fmla="*/ 223733 h 570182"/>
                </a:gdLst>
                <a:ahLst/>
                <a:cxnLst>
                  <a:cxn ang="0">
                    <a:pos x="connsiteX0" y="connsiteY0"/>
                  </a:cxn>
                  <a:cxn ang="0">
                    <a:pos x="connsiteX1" y="connsiteY1"/>
                  </a:cxn>
                  <a:cxn ang="0">
                    <a:pos x="connsiteX2" y="connsiteY2"/>
                  </a:cxn>
                  <a:cxn ang="0">
                    <a:pos x="connsiteX3" y="connsiteY3"/>
                  </a:cxn>
                </a:cxnLst>
                <a:rect l="l" t="t" r="r" b="b"/>
                <a:pathLst>
                  <a:path w="486104" h="570182">
                    <a:moveTo>
                      <a:pt x="0" y="223733"/>
                    </a:moveTo>
                    <a:lnTo>
                      <a:pt x="486104" y="570182"/>
                    </a:lnTo>
                    <a:lnTo>
                      <a:pt x="486104" y="0"/>
                    </a:lnTo>
                    <a:lnTo>
                      <a:pt x="0" y="223733"/>
                    </a:lnTo>
                    <a:close/>
                  </a:path>
                </a:pathLst>
              </a:custGeom>
              <a:solidFill>
                <a:schemeClr val="accent2"/>
              </a:solidFill>
              <a:ln w="13325" cap="flat">
                <a:noFill/>
                <a:prstDash val="solid"/>
                <a:miter/>
              </a:ln>
            </p:spPr>
            <p:txBody>
              <a:bodyPr rtlCol="0" anchor="ctr"/>
              <a:lstStyle/>
              <a:p>
                <a:endParaRPr lang="zh-CN" altLang="en-US"/>
              </a:p>
            </p:txBody>
          </p:sp>
        </p:grpSp>
        <p:grpSp>
          <p:nvGrpSpPr>
            <p:cNvPr id="8" name="iślíḑe">
              <a:extLst>
                <a:ext uri="{FF2B5EF4-FFF2-40B4-BE49-F238E27FC236}">
                  <a16:creationId xmlns:a16="http://schemas.microsoft.com/office/drawing/2014/main" id="{9462482E-C073-9A51-BFC6-EC3644F9AE66}"/>
                </a:ext>
              </a:extLst>
            </p:cNvPr>
            <p:cNvGrpSpPr/>
            <p:nvPr/>
          </p:nvGrpSpPr>
          <p:grpSpPr>
            <a:xfrm>
              <a:off x="6376112" y="2895838"/>
              <a:ext cx="3196866" cy="2645580"/>
              <a:chOff x="1733578" y="3624232"/>
              <a:chExt cx="3196866" cy="2645580"/>
            </a:xfrm>
          </p:grpSpPr>
          <p:cxnSp>
            <p:nvCxnSpPr>
              <p:cNvPr id="18" name="îşlíḓe">
                <a:extLst>
                  <a:ext uri="{FF2B5EF4-FFF2-40B4-BE49-F238E27FC236}">
                    <a16:creationId xmlns:a16="http://schemas.microsoft.com/office/drawing/2014/main" id="{6DA30210-1742-E3B9-E9EA-9C25DD3A9AF9}"/>
                  </a:ext>
                </a:extLst>
              </p:cNvPr>
              <p:cNvCxnSpPr>
                <a:cxnSpLocks/>
              </p:cNvCxnSpPr>
              <p:nvPr/>
            </p:nvCxnSpPr>
            <p:spPr>
              <a:xfrm>
                <a:off x="1797861" y="4063015"/>
                <a:ext cx="5567" cy="2206797"/>
              </a:xfrm>
              <a:prstGeom prst="line">
                <a:avLst/>
              </a:prstGeom>
              <a:ln>
                <a:solidFill>
                  <a:schemeClr val="accent4">
                    <a:alpha val="5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19" name="îṣḷiḍê">
                <a:extLst>
                  <a:ext uri="{FF2B5EF4-FFF2-40B4-BE49-F238E27FC236}">
                    <a16:creationId xmlns:a16="http://schemas.microsoft.com/office/drawing/2014/main" id="{8834E4D8-EAE0-A6FD-904F-8CDEF76CE42C}"/>
                  </a:ext>
                </a:extLst>
              </p:cNvPr>
              <p:cNvGrpSpPr/>
              <p:nvPr/>
            </p:nvGrpSpPr>
            <p:grpSpPr>
              <a:xfrm>
                <a:off x="2000164" y="3624232"/>
                <a:ext cx="2930280" cy="1974410"/>
                <a:chOff x="-290245" y="3422595"/>
                <a:chExt cx="2930280" cy="1974410"/>
              </a:xfrm>
            </p:grpSpPr>
            <p:sp>
              <p:nvSpPr>
                <p:cNvPr id="36" name="îśļiḓê">
                  <a:extLst>
                    <a:ext uri="{FF2B5EF4-FFF2-40B4-BE49-F238E27FC236}">
                      <a16:creationId xmlns:a16="http://schemas.microsoft.com/office/drawing/2014/main" id="{54CE2CDF-9545-BD50-558A-D0A208E86637}"/>
                    </a:ext>
                  </a:extLst>
                </p:cNvPr>
                <p:cNvSpPr/>
                <p:nvPr/>
              </p:nvSpPr>
              <p:spPr>
                <a:xfrm>
                  <a:off x="-290245" y="3422595"/>
                  <a:ext cx="2805708" cy="601820"/>
                </a:xfrm>
                <a:prstGeom prst="roundRect">
                  <a:avLst>
                    <a:gd name="adj" fmla="val 50000"/>
                  </a:avLst>
                </a:prstGeom>
                <a:solidFill>
                  <a:schemeClr val="accent4"/>
                </a:solidFill>
                <a:ln>
                  <a:noFill/>
                </a:ln>
                <a:effectLst>
                  <a:outerShdw blurRad="127000" dist="63500" dir="2700000" algn="ctr"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90000" bIns="90000" rtlCol="0" anchor="ctr"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en-GB" altLang="zh-CN" sz="1600" b="1" dirty="0" err="1">
                      <a:solidFill>
                        <a:srgbClr val="FFFFFF"/>
                      </a:solidFill>
                    </a:rPr>
                    <a:t>BVAL</a:t>
                  </a:r>
                  <a:r>
                    <a:rPr kumimoji="1" lang="en-GB" altLang="zh-CN" sz="1600" b="1" dirty="0">
                      <a:solidFill>
                        <a:srgbClr val="FFFFFF"/>
                      </a:solidFill>
                    </a:rPr>
                    <a:t> S</a:t>
                  </a:r>
                  <a:r>
                    <a:rPr kumimoji="1" lang="en-US" altLang="zh-CN" sz="1600" b="1" dirty="0">
                      <a:solidFill>
                        <a:srgbClr val="FFFFFF"/>
                      </a:solidFill>
                    </a:rPr>
                    <a:t>core </a:t>
                  </a:r>
                  <a:r>
                    <a:rPr kumimoji="1" lang="en-GB" altLang="zh-CN" sz="1600" b="1" dirty="0">
                      <a:solidFill>
                        <a:srgbClr val="FFFFFF"/>
                      </a:solidFill>
                    </a:rPr>
                    <a:t>6-10</a:t>
                  </a:r>
                  <a:endParaRPr kumimoji="1" lang="en-US" altLang="zh-CN" sz="1600" b="1" dirty="0">
                    <a:solidFill>
                      <a:srgbClr val="FFFFFF"/>
                    </a:solidFill>
                  </a:endParaRPr>
                </a:p>
              </p:txBody>
            </p:sp>
            <p:sp>
              <p:nvSpPr>
                <p:cNvPr id="37" name="îṡļîḑê">
                  <a:extLst>
                    <a:ext uri="{FF2B5EF4-FFF2-40B4-BE49-F238E27FC236}">
                      <a16:creationId xmlns:a16="http://schemas.microsoft.com/office/drawing/2014/main" id="{B01BA5AC-FAF6-C442-8849-B442B05CE52A}"/>
                    </a:ext>
                  </a:extLst>
                </p:cNvPr>
                <p:cNvSpPr/>
                <p:nvPr/>
              </p:nvSpPr>
              <p:spPr>
                <a:xfrm>
                  <a:off x="-284687" y="4311607"/>
                  <a:ext cx="2924722" cy="10853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171450" indent="-171450">
                    <a:lnSpc>
                      <a:spcPct val="120000"/>
                    </a:lnSpc>
                    <a:buFont typeface="Arial" panose="020B0604020202020204" pitchFamily="34" charset="0"/>
                    <a:buChar char="•"/>
                  </a:pPr>
                  <a:r>
                    <a:rPr lang="en-US" altLang="zh-CN" sz="1200" kern="100" dirty="0">
                      <a:solidFill>
                        <a:schemeClr val="tx1"/>
                      </a:solidFill>
                      <a:effectLst/>
                    </a:rPr>
                    <a:t>6</a:t>
                  </a:r>
                  <a:r>
                    <a:rPr lang="zh-CN" altLang="en-US" sz="1200" kern="100" dirty="0">
                      <a:solidFill>
                        <a:schemeClr val="tx1"/>
                      </a:solidFill>
                      <a:effectLst/>
                    </a:rPr>
                    <a:t>分及以上表示存在近期可观测的</a:t>
                  </a:r>
                  <a:r>
                    <a:rPr lang="en-GB" altLang="zh-CN" sz="1200" kern="100" dirty="0">
                      <a:solidFill>
                        <a:schemeClr val="tx1"/>
                      </a:solidFill>
                      <a:effectLst/>
                    </a:rPr>
                    <a:t>D</a:t>
                  </a:r>
                  <a:r>
                    <a:rPr lang="en-US" altLang="zh-CN" sz="1200" kern="100" dirty="0" err="1">
                      <a:solidFill>
                        <a:schemeClr val="tx1"/>
                      </a:solidFill>
                      <a:effectLst/>
                    </a:rPr>
                    <a:t>irect</a:t>
                  </a:r>
                  <a:r>
                    <a:rPr lang="en-US" altLang="zh-CN" sz="1200" kern="100" dirty="0">
                      <a:solidFill>
                        <a:schemeClr val="tx1"/>
                      </a:solidFill>
                      <a:effectLst/>
                    </a:rPr>
                    <a:t> Observation</a:t>
                  </a:r>
                </a:p>
                <a:p>
                  <a:pPr marL="171450" indent="-171450">
                    <a:lnSpc>
                      <a:spcPct val="120000"/>
                    </a:lnSpc>
                    <a:buFont typeface="Arial" panose="020B0604020202020204" pitchFamily="34" charset="0"/>
                    <a:buChar char="•"/>
                  </a:pPr>
                  <a:r>
                    <a:rPr lang="zh-CN" altLang="en-US" sz="1200" kern="100" dirty="0">
                      <a:solidFill>
                        <a:schemeClr val="tx1"/>
                      </a:solidFill>
                      <a:effectLst/>
                    </a:rPr>
                    <a:t>实践中通常认为</a:t>
                  </a:r>
                  <a:r>
                    <a:rPr lang="en-GB" altLang="zh-CN" sz="1200" kern="100" dirty="0">
                      <a:solidFill>
                        <a:schemeClr val="tx1"/>
                      </a:solidFill>
                      <a:effectLst/>
                    </a:rPr>
                    <a:t>7</a:t>
                  </a:r>
                  <a:r>
                    <a:rPr lang="zh-CN" altLang="en-US" sz="1200" kern="100" dirty="0">
                      <a:solidFill>
                        <a:schemeClr val="tx1"/>
                      </a:solidFill>
                      <a:effectLst/>
                    </a:rPr>
                    <a:t>分（含）以上属于可以直接参考的估值</a:t>
                  </a:r>
                  <a:endParaRPr lang="en-US" altLang="zh-CN" sz="1200" kern="100" dirty="0">
                    <a:solidFill>
                      <a:schemeClr val="tx1"/>
                    </a:solidFill>
                    <a:effectLst/>
                  </a:endParaRPr>
                </a:p>
              </p:txBody>
            </p:sp>
          </p:grpSp>
          <p:grpSp>
            <p:nvGrpSpPr>
              <p:cNvPr id="33" name="ïṩļîdê">
                <a:extLst>
                  <a:ext uri="{FF2B5EF4-FFF2-40B4-BE49-F238E27FC236}">
                    <a16:creationId xmlns:a16="http://schemas.microsoft.com/office/drawing/2014/main" id="{9E5E76BC-FC5B-E449-9860-9D99B48C4708}"/>
                  </a:ext>
                </a:extLst>
              </p:cNvPr>
              <p:cNvGrpSpPr/>
              <p:nvPr/>
            </p:nvGrpSpPr>
            <p:grpSpPr>
              <a:xfrm>
                <a:off x="1733578" y="3744588"/>
                <a:ext cx="139700" cy="139700"/>
                <a:chOff x="1886293" y="4929952"/>
                <a:chExt cx="139700" cy="139700"/>
              </a:xfrm>
            </p:grpSpPr>
            <p:sp>
              <p:nvSpPr>
                <p:cNvPr id="34" name="îṧľîḑe">
                  <a:extLst>
                    <a:ext uri="{FF2B5EF4-FFF2-40B4-BE49-F238E27FC236}">
                      <a16:creationId xmlns:a16="http://schemas.microsoft.com/office/drawing/2014/main" id="{3A2D8C7B-6C8C-0B4B-BC62-13A50558D99A}"/>
                    </a:ext>
                  </a:extLst>
                </p:cNvPr>
                <p:cNvSpPr/>
                <p:nvPr/>
              </p:nvSpPr>
              <p:spPr>
                <a:xfrm>
                  <a:off x="1886293" y="4929952"/>
                  <a:ext cx="139700" cy="139700"/>
                </a:xfrm>
                <a:prstGeom prst="ellipse">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íṣľïďè">
                  <a:extLst>
                    <a:ext uri="{FF2B5EF4-FFF2-40B4-BE49-F238E27FC236}">
                      <a16:creationId xmlns:a16="http://schemas.microsoft.com/office/drawing/2014/main" id="{3ACD1DF7-7884-37D4-6888-83DBDFF8D41C}"/>
                    </a:ext>
                  </a:extLst>
                </p:cNvPr>
                <p:cNvSpPr/>
                <p:nvPr/>
              </p:nvSpPr>
              <p:spPr>
                <a:xfrm>
                  <a:off x="1913018" y="4956676"/>
                  <a:ext cx="86250" cy="86250"/>
                </a:xfrm>
                <a:prstGeom prst="ellipse">
                  <a:avLst/>
                </a:prstGeom>
                <a:solidFill>
                  <a:schemeClr val="accent4"/>
                </a:solidFill>
                <a:ln>
                  <a:noFill/>
                </a:ln>
                <a:effectLst>
                  <a:outerShdw blurRad="127000" dist="63500" dir="2700000" algn="ctr"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0" name="ïṡļíḋê">
              <a:extLst>
                <a:ext uri="{FF2B5EF4-FFF2-40B4-BE49-F238E27FC236}">
                  <a16:creationId xmlns:a16="http://schemas.microsoft.com/office/drawing/2014/main" id="{85B6B847-2B47-6923-07E8-113607BF2A0C}"/>
                </a:ext>
              </a:extLst>
            </p:cNvPr>
            <p:cNvGrpSpPr/>
            <p:nvPr/>
          </p:nvGrpSpPr>
          <p:grpSpPr>
            <a:xfrm>
              <a:off x="1747152" y="3551188"/>
              <a:ext cx="3196866" cy="1531212"/>
              <a:chOff x="1733578" y="3816737"/>
              <a:chExt cx="3196866" cy="1531212"/>
            </a:xfrm>
          </p:grpSpPr>
          <p:cxnSp>
            <p:nvCxnSpPr>
              <p:cNvPr id="11" name="ïSļíḓè">
                <a:extLst>
                  <a:ext uri="{FF2B5EF4-FFF2-40B4-BE49-F238E27FC236}">
                    <a16:creationId xmlns:a16="http://schemas.microsoft.com/office/drawing/2014/main" id="{E4F80AAE-0AC8-240A-BA3D-1308EF3AFAC9}"/>
                  </a:ext>
                </a:extLst>
              </p:cNvPr>
              <p:cNvCxnSpPr>
                <a:cxnSpLocks/>
              </p:cNvCxnSpPr>
              <p:nvPr/>
            </p:nvCxnSpPr>
            <p:spPr>
              <a:xfrm flipH="1">
                <a:off x="1777781" y="4117647"/>
                <a:ext cx="11368" cy="1038416"/>
              </a:xfrm>
              <a:prstGeom prst="line">
                <a:avLst/>
              </a:prstGeom>
              <a:ln>
                <a:solidFill>
                  <a:schemeClr val="accent2">
                    <a:alpha val="5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12" name="îşľîḍe">
                <a:extLst>
                  <a:ext uri="{FF2B5EF4-FFF2-40B4-BE49-F238E27FC236}">
                    <a16:creationId xmlns:a16="http://schemas.microsoft.com/office/drawing/2014/main" id="{8215B9E5-E451-17BB-CDB9-256E471ED4A9}"/>
                  </a:ext>
                </a:extLst>
              </p:cNvPr>
              <p:cNvGrpSpPr/>
              <p:nvPr/>
            </p:nvGrpSpPr>
            <p:grpSpPr>
              <a:xfrm>
                <a:off x="2000164" y="3816737"/>
                <a:ext cx="2930280" cy="1531212"/>
                <a:chOff x="-290245" y="3615100"/>
                <a:chExt cx="2930280" cy="1531212"/>
              </a:xfrm>
            </p:grpSpPr>
            <p:sp>
              <p:nvSpPr>
                <p:cNvPr id="16" name="îşļîḑé">
                  <a:extLst>
                    <a:ext uri="{FF2B5EF4-FFF2-40B4-BE49-F238E27FC236}">
                      <a16:creationId xmlns:a16="http://schemas.microsoft.com/office/drawing/2014/main" id="{908E88FC-42A9-DAD7-58F1-14ADD2586FEB}"/>
                    </a:ext>
                  </a:extLst>
                </p:cNvPr>
                <p:cNvSpPr/>
                <p:nvPr/>
              </p:nvSpPr>
              <p:spPr>
                <a:xfrm>
                  <a:off x="-290245" y="3615100"/>
                  <a:ext cx="2805708" cy="601820"/>
                </a:xfrm>
                <a:prstGeom prst="roundRect">
                  <a:avLst>
                    <a:gd name="adj" fmla="val 50000"/>
                  </a:avLst>
                </a:prstGeom>
                <a:solidFill>
                  <a:schemeClr val="accent2"/>
                </a:solidFill>
                <a:ln>
                  <a:noFill/>
                </a:ln>
                <a:effectLst>
                  <a:outerShdw blurRad="127000" dist="63500" dir="2700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90000" bIns="90000" rtlCol="0" anchor="ctr"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en-GB" altLang="zh-CN" sz="1600" b="1" dirty="0" err="1">
                      <a:solidFill>
                        <a:srgbClr val="FFFFFF"/>
                      </a:solidFill>
                    </a:rPr>
                    <a:t>BVAL</a:t>
                  </a:r>
                  <a:r>
                    <a:rPr kumimoji="1" lang="en-GB" altLang="zh-CN" sz="1600" b="1" dirty="0">
                      <a:solidFill>
                        <a:srgbClr val="FFFFFF"/>
                      </a:solidFill>
                    </a:rPr>
                    <a:t> S</a:t>
                  </a:r>
                  <a:r>
                    <a:rPr kumimoji="1" lang="en-US" altLang="zh-CN" sz="1600" b="1" dirty="0">
                      <a:solidFill>
                        <a:srgbClr val="FFFFFF"/>
                      </a:solidFill>
                    </a:rPr>
                    <a:t>core </a:t>
                  </a:r>
                  <a:r>
                    <a:rPr kumimoji="1" lang="en-GB" altLang="zh-CN" sz="1600" b="1" dirty="0">
                      <a:solidFill>
                        <a:srgbClr val="FFFFFF"/>
                      </a:solidFill>
                    </a:rPr>
                    <a:t>1-5</a:t>
                  </a:r>
                  <a:endParaRPr kumimoji="1" lang="en-US" altLang="zh-CN" sz="1600" b="1" dirty="0">
                    <a:solidFill>
                      <a:srgbClr val="FFFFFF"/>
                    </a:solidFill>
                  </a:endParaRPr>
                </a:p>
              </p:txBody>
            </p:sp>
            <p:sp>
              <p:nvSpPr>
                <p:cNvPr id="17" name="íSḷíḓe">
                  <a:extLst>
                    <a:ext uri="{FF2B5EF4-FFF2-40B4-BE49-F238E27FC236}">
                      <a16:creationId xmlns:a16="http://schemas.microsoft.com/office/drawing/2014/main" id="{F0787D4A-7F71-03AC-25FF-C3E7216F879D}"/>
                    </a:ext>
                  </a:extLst>
                </p:cNvPr>
                <p:cNvSpPr/>
                <p:nvPr/>
              </p:nvSpPr>
              <p:spPr>
                <a:xfrm>
                  <a:off x="-284687" y="4504112"/>
                  <a:ext cx="2924722" cy="642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171450" indent="-171450">
                    <a:lnSpc>
                      <a:spcPct val="120000"/>
                    </a:lnSpc>
                    <a:buFont typeface="Arial" panose="020B0604020202020204" pitchFamily="34" charset="0"/>
                    <a:buChar char="•"/>
                  </a:pPr>
                  <a:r>
                    <a:rPr lang="en-GB" altLang="zh-CN" sz="1200" kern="100" dirty="0">
                      <a:solidFill>
                        <a:schemeClr val="tx1"/>
                      </a:solidFill>
                    </a:rPr>
                    <a:t>5</a:t>
                  </a:r>
                  <a:r>
                    <a:rPr lang="zh-CN" altLang="en-US" sz="1200" kern="100" dirty="0">
                      <a:solidFill>
                        <a:schemeClr val="tx1"/>
                      </a:solidFill>
                    </a:rPr>
                    <a:t>分及以下表示估值主要通过对标可比资产得出</a:t>
                  </a:r>
                  <a:endParaRPr lang="en-US" altLang="zh-CN" sz="1200" kern="100" dirty="0">
                    <a:solidFill>
                      <a:schemeClr val="tx1"/>
                    </a:solidFill>
                    <a:effectLst/>
                  </a:endParaRPr>
                </a:p>
              </p:txBody>
            </p:sp>
          </p:grpSp>
          <p:grpSp>
            <p:nvGrpSpPr>
              <p:cNvPr id="13" name="íṧľiďe">
                <a:extLst>
                  <a:ext uri="{FF2B5EF4-FFF2-40B4-BE49-F238E27FC236}">
                    <a16:creationId xmlns:a16="http://schemas.microsoft.com/office/drawing/2014/main" id="{ED3C4AB8-AD14-2883-D22D-5B3DDD5E0F7A}"/>
                  </a:ext>
                </a:extLst>
              </p:cNvPr>
              <p:cNvGrpSpPr/>
              <p:nvPr/>
            </p:nvGrpSpPr>
            <p:grpSpPr>
              <a:xfrm>
                <a:off x="1733578" y="3937095"/>
                <a:ext cx="139700" cy="139700"/>
                <a:chOff x="1886293" y="5122459"/>
                <a:chExt cx="139700" cy="139700"/>
              </a:xfrm>
            </p:grpSpPr>
            <p:sp>
              <p:nvSpPr>
                <p:cNvPr id="14" name="iṥlîḓê">
                  <a:extLst>
                    <a:ext uri="{FF2B5EF4-FFF2-40B4-BE49-F238E27FC236}">
                      <a16:creationId xmlns:a16="http://schemas.microsoft.com/office/drawing/2014/main" id="{BB0D475C-DB34-80C9-1537-DAFD4BA45988}"/>
                    </a:ext>
                  </a:extLst>
                </p:cNvPr>
                <p:cNvSpPr/>
                <p:nvPr/>
              </p:nvSpPr>
              <p:spPr>
                <a:xfrm>
                  <a:off x="1886293" y="5122459"/>
                  <a:ext cx="139700" cy="139700"/>
                </a:xfrm>
                <a:prstGeom prst="ellipse">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í$1idé">
                  <a:extLst>
                    <a:ext uri="{FF2B5EF4-FFF2-40B4-BE49-F238E27FC236}">
                      <a16:creationId xmlns:a16="http://schemas.microsoft.com/office/drawing/2014/main" id="{74B23BA5-8DE1-6B0B-8560-65DE414EE033}"/>
                    </a:ext>
                  </a:extLst>
                </p:cNvPr>
                <p:cNvSpPr/>
                <p:nvPr/>
              </p:nvSpPr>
              <p:spPr>
                <a:xfrm>
                  <a:off x="1913018" y="5149181"/>
                  <a:ext cx="86250" cy="86250"/>
                </a:xfrm>
                <a:prstGeom prst="ellipse">
                  <a:avLst/>
                </a:prstGeom>
                <a:solidFill>
                  <a:schemeClr val="accent2"/>
                </a:solidFill>
                <a:ln>
                  <a:noFill/>
                </a:ln>
                <a:effectLst>
                  <a:outerShdw blurRad="127000" dist="63500" dir="2700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sp>
        <p:nvSpPr>
          <p:cNvPr id="40" name="iṡlïḍe">
            <a:extLst>
              <a:ext uri="{FF2B5EF4-FFF2-40B4-BE49-F238E27FC236}">
                <a16:creationId xmlns:a16="http://schemas.microsoft.com/office/drawing/2014/main" id="{50550D92-0DD3-F4A0-A63B-E86FCE4B223D}"/>
              </a:ext>
            </a:extLst>
          </p:cNvPr>
          <p:cNvSpPr/>
          <p:nvPr/>
        </p:nvSpPr>
        <p:spPr>
          <a:xfrm>
            <a:off x="660403" y="1155702"/>
            <a:ext cx="4883749" cy="12284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20000"/>
              </a:lnSpc>
            </a:pPr>
            <a:r>
              <a:rPr lang="zh-CN" altLang="en-US" sz="1400" b="1" dirty="0">
                <a:solidFill>
                  <a:schemeClr val="tx1">
                    <a:alpha val="60000"/>
                  </a:schemeClr>
                </a:solidFill>
              </a:rPr>
              <a:t>估值数据来源：</a:t>
            </a:r>
            <a:endParaRPr lang="en-GB" altLang="zh-CN" sz="1400" b="1" dirty="0">
              <a:solidFill>
                <a:schemeClr val="tx1">
                  <a:alpha val="60000"/>
                </a:schemeClr>
              </a:solidFill>
            </a:endParaRPr>
          </a:p>
          <a:p>
            <a:pPr marL="342900" indent="-342900">
              <a:lnSpc>
                <a:spcPct val="120000"/>
              </a:lnSpc>
              <a:buAutoNum type="arabicPeriod"/>
            </a:pPr>
            <a:r>
              <a:rPr lang="en-US" altLang="zh-CN" sz="1400" b="1" dirty="0">
                <a:solidFill>
                  <a:schemeClr val="tx1">
                    <a:alpha val="60000"/>
                  </a:schemeClr>
                </a:solidFill>
                <a:effectLst/>
              </a:rPr>
              <a:t>Direct Observation</a:t>
            </a:r>
            <a:r>
              <a:rPr lang="zh-CN" altLang="en-US" sz="1400" b="1" dirty="0">
                <a:solidFill>
                  <a:schemeClr val="tx1">
                    <a:alpha val="60000"/>
                  </a:schemeClr>
                </a:solidFill>
                <a:effectLst/>
              </a:rPr>
              <a:t>：直接来自于成交价、报价</a:t>
            </a:r>
            <a:endParaRPr lang="en-GB" altLang="zh-CN" sz="1400" b="1" dirty="0">
              <a:solidFill>
                <a:schemeClr val="tx1">
                  <a:alpha val="60000"/>
                </a:schemeClr>
              </a:solidFill>
              <a:effectLst/>
            </a:endParaRPr>
          </a:p>
          <a:p>
            <a:pPr marL="342900" indent="-342900">
              <a:lnSpc>
                <a:spcPct val="120000"/>
              </a:lnSpc>
              <a:buAutoNum type="arabicPeriod"/>
            </a:pPr>
            <a:r>
              <a:rPr lang="en-GB" altLang="zh-CN" sz="1400" b="1" dirty="0">
                <a:solidFill>
                  <a:schemeClr val="tx1">
                    <a:alpha val="60000"/>
                  </a:schemeClr>
                </a:solidFill>
              </a:rPr>
              <a:t>Capital Structure</a:t>
            </a:r>
            <a:r>
              <a:rPr lang="zh-CN" altLang="en-US" sz="1400" b="1" dirty="0">
                <a:solidFill>
                  <a:schemeClr val="tx1">
                    <a:alpha val="60000"/>
                  </a:schemeClr>
                </a:solidFill>
              </a:rPr>
              <a:t>：通过相同发行主体的偿付顺序调整</a:t>
            </a:r>
            <a:endParaRPr lang="en-GB" altLang="zh-CN" sz="1400" b="1" dirty="0">
              <a:solidFill>
                <a:schemeClr val="tx1">
                  <a:alpha val="60000"/>
                </a:schemeClr>
              </a:solidFill>
            </a:endParaRPr>
          </a:p>
          <a:p>
            <a:pPr marL="342900" indent="-342900">
              <a:lnSpc>
                <a:spcPct val="120000"/>
              </a:lnSpc>
              <a:buAutoNum type="arabicPeriod"/>
            </a:pPr>
            <a:r>
              <a:rPr lang="en-US" altLang="zh-CN" sz="1400" b="1" dirty="0">
                <a:solidFill>
                  <a:schemeClr val="tx1">
                    <a:alpha val="60000"/>
                  </a:schemeClr>
                </a:solidFill>
              </a:rPr>
              <a:t>Sector Relative Value</a:t>
            </a:r>
            <a:r>
              <a:rPr lang="zh-CN" altLang="en-US" sz="1400" b="1" dirty="0">
                <a:solidFill>
                  <a:schemeClr val="tx1">
                    <a:alpha val="60000"/>
                  </a:schemeClr>
                </a:solidFill>
              </a:rPr>
              <a:t>：可比资产估值</a:t>
            </a:r>
            <a:endParaRPr lang="en-US" altLang="zh-CN" sz="1400" b="1" dirty="0">
              <a:solidFill>
                <a:schemeClr val="tx1">
                  <a:alpha val="60000"/>
                </a:schemeClr>
              </a:solidFill>
              <a:effectLst/>
            </a:endParaRPr>
          </a:p>
        </p:txBody>
      </p:sp>
      <p:sp>
        <p:nvSpPr>
          <p:cNvPr id="41" name="iṡlïḍe">
            <a:extLst>
              <a:ext uri="{FF2B5EF4-FFF2-40B4-BE49-F238E27FC236}">
                <a16:creationId xmlns:a16="http://schemas.microsoft.com/office/drawing/2014/main" id="{FE766D46-4FA4-778A-EE3A-004299F8DF07}"/>
              </a:ext>
            </a:extLst>
          </p:cNvPr>
          <p:cNvSpPr/>
          <p:nvPr/>
        </p:nvSpPr>
        <p:spPr>
          <a:xfrm>
            <a:off x="660403" y="2463600"/>
            <a:ext cx="5351912" cy="12284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20000"/>
              </a:lnSpc>
            </a:pPr>
            <a:r>
              <a:rPr lang="zh-CN" altLang="en-US" sz="1400" b="1" dirty="0">
                <a:solidFill>
                  <a:schemeClr val="tx1">
                    <a:alpha val="60000"/>
                  </a:schemeClr>
                </a:solidFill>
              </a:rPr>
              <a:t>模型基础：</a:t>
            </a:r>
            <a:endParaRPr lang="en-GB" altLang="zh-CN" sz="1400" b="1" dirty="0">
              <a:solidFill>
                <a:schemeClr val="tx1">
                  <a:alpha val="60000"/>
                </a:schemeClr>
              </a:solidFill>
            </a:endParaRPr>
          </a:p>
          <a:p>
            <a:pPr marL="342900" indent="-342900">
              <a:lnSpc>
                <a:spcPct val="120000"/>
              </a:lnSpc>
              <a:buAutoNum type="arabicPeriod"/>
            </a:pPr>
            <a:r>
              <a:rPr lang="zh-CN" altLang="en-US" sz="1400" b="1" dirty="0">
                <a:solidFill>
                  <a:schemeClr val="tx1">
                    <a:alpha val="60000"/>
                  </a:schemeClr>
                </a:solidFill>
              </a:rPr>
              <a:t>现金流折现模型：用于</a:t>
            </a:r>
            <a:r>
              <a:rPr lang="en-GB" altLang="zh-CN" sz="1400" b="1" dirty="0">
                <a:solidFill>
                  <a:schemeClr val="tx1">
                    <a:alpha val="60000"/>
                  </a:schemeClr>
                </a:solidFill>
              </a:rPr>
              <a:t>Y</a:t>
            </a:r>
            <a:r>
              <a:rPr lang="en-US" altLang="zh-CN" sz="1400" b="1" dirty="0" err="1">
                <a:solidFill>
                  <a:schemeClr val="tx1">
                    <a:alpha val="60000"/>
                  </a:schemeClr>
                </a:solidFill>
              </a:rPr>
              <a:t>ield</a:t>
            </a:r>
            <a:r>
              <a:rPr lang="zh-CN" altLang="en-US" sz="1400" b="1" dirty="0">
                <a:solidFill>
                  <a:schemeClr val="tx1">
                    <a:alpha val="60000"/>
                  </a:schemeClr>
                </a:solidFill>
              </a:rPr>
              <a:t>和</a:t>
            </a:r>
            <a:r>
              <a:rPr lang="en-GB" altLang="zh-CN" sz="1400" b="1" dirty="0">
                <a:solidFill>
                  <a:schemeClr val="tx1">
                    <a:alpha val="60000"/>
                  </a:schemeClr>
                </a:solidFill>
              </a:rPr>
              <a:t>P</a:t>
            </a:r>
            <a:r>
              <a:rPr lang="en-US" altLang="zh-CN" sz="1400" b="1" dirty="0">
                <a:solidFill>
                  <a:schemeClr val="tx1">
                    <a:alpha val="60000"/>
                  </a:schemeClr>
                </a:solidFill>
              </a:rPr>
              <a:t>rice</a:t>
            </a:r>
            <a:r>
              <a:rPr lang="zh-CN" altLang="en-US" sz="1400" b="1" dirty="0">
                <a:solidFill>
                  <a:schemeClr val="tx1">
                    <a:alpha val="60000"/>
                  </a:schemeClr>
                </a:solidFill>
              </a:rPr>
              <a:t>的转换</a:t>
            </a:r>
            <a:endParaRPr lang="en-GB" altLang="zh-CN" sz="1400" b="1" dirty="0">
              <a:solidFill>
                <a:schemeClr val="tx1">
                  <a:alpha val="60000"/>
                </a:schemeClr>
              </a:solidFill>
            </a:endParaRPr>
          </a:p>
          <a:p>
            <a:pPr marL="342900" indent="-342900">
              <a:lnSpc>
                <a:spcPct val="120000"/>
              </a:lnSpc>
              <a:buAutoNum type="arabicPeriod"/>
            </a:pPr>
            <a:r>
              <a:rPr lang="zh-CN" altLang="en-US" sz="1400" b="1" dirty="0">
                <a:solidFill>
                  <a:schemeClr val="tx1">
                    <a:alpha val="60000"/>
                  </a:schemeClr>
                </a:solidFill>
                <a:effectLst/>
              </a:rPr>
              <a:t>含权债估值模型：采用</a:t>
            </a:r>
            <a:r>
              <a:rPr lang="en-GB" altLang="zh-CN" sz="1400" b="1" dirty="0">
                <a:solidFill>
                  <a:schemeClr val="tx1">
                    <a:alpha val="60000"/>
                  </a:schemeClr>
                </a:solidFill>
                <a:effectLst/>
              </a:rPr>
              <a:t>H</a:t>
            </a:r>
            <a:r>
              <a:rPr lang="en-US" altLang="zh-CN" sz="1400" b="1" dirty="0" err="1">
                <a:solidFill>
                  <a:schemeClr val="tx1">
                    <a:alpha val="60000"/>
                  </a:schemeClr>
                </a:solidFill>
                <a:effectLst/>
              </a:rPr>
              <a:t>ull</a:t>
            </a:r>
            <a:r>
              <a:rPr lang="en-US" altLang="zh-CN" sz="1400" b="1" dirty="0">
                <a:solidFill>
                  <a:schemeClr val="tx1">
                    <a:alpha val="60000"/>
                  </a:schemeClr>
                </a:solidFill>
                <a:effectLst/>
              </a:rPr>
              <a:t>-white</a:t>
            </a:r>
            <a:r>
              <a:rPr lang="zh-CN" altLang="en-US" sz="1400" b="1" dirty="0">
                <a:solidFill>
                  <a:schemeClr val="tx1">
                    <a:alpha val="60000"/>
                  </a:schemeClr>
                </a:solidFill>
                <a:effectLst/>
              </a:rPr>
              <a:t>等利率模型方案得出</a:t>
            </a:r>
            <a:r>
              <a:rPr lang="en-GB" altLang="zh-CN" sz="1400" b="1" dirty="0">
                <a:solidFill>
                  <a:schemeClr val="tx1">
                    <a:alpha val="60000"/>
                  </a:schemeClr>
                </a:solidFill>
                <a:effectLst/>
              </a:rPr>
              <a:t>Option Adjusted Spread (OAS)</a:t>
            </a:r>
          </a:p>
        </p:txBody>
      </p:sp>
      <p:sp>
        <p:nvSpPr>
          <p:cNvPr id="42" name="iṡlïḍe">
            <a:extLst>
              <a:ext uri="{FF2B5EF4-FFF2-40B4-BE49-F238E27FC236}">
                <a16:creationId xmlns:a16="http://schemas.microsoft.com/office/drawing/2014/main" id="{F480AD56-33CF-FD37-CAA4-680BDD0970AE}"/>
              </a:ext>
            </a:extLst>
          </p:cNvPr>
          <p:cNvSpPr/>
          <p:nvPr/>
        </p:nvSpPr>
        <p:spPr>
          <a:xfrm>
            <a:off x="5990819" y="1153311"/>
            <a:ext cx="5528083" cy="22625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20000"/>
              </a:lnSpc>
            </a:pPr>
            <a:r>
              <a:rPr lang="en-GB" altLang="zh-CN" sz="1400" b="1" dirty="0" err="1">
                <a:solidFill>
                  <a:schemeClr val="tx1">
                    <a:alpha val="60000"/>
                  </a:schemeClr>
                </a:solidFill>
              </a:rPr>
              <a:t>BVAL</a:t>
            </a:r>
            <a:r>
              <a:rPr lang="en-GB" altLang="zh-CN" sz="1400" b="1" dirty="0">
                <a:solidFill>
                  <a:schemeClr val="tx1">
                    <a:alpha val="60000"/>
                  </a:schemeClr>
                </a:solidFill>
              </a:rPr>
              <a:t> Score:</a:t>
            </a:r>
          </a:p>
          <a:p>
            <a:pPr marL="285750" indent="-285750">
              <a:lnSpc>
                <a:spcPct val="120000"/>
              </a:lnSpc>
              <a:buFont typeface="Wingdings" panose="05000000000000000000" pitchFamily="2" charset="2"/>
              <a:buChar char="ü"/>
            </a:pPr>
            <a:r>
              <a:rPr lang="zh-CN" altLang="en-US" sz="1400" b="1" dirty="0">
                <a:solidFill>
                  <a:schemeClr val="tx1">
                    <a:alpha val="60000"/>
                  </a:schemeClr>
                </a:solidFill>
              </a:rPr>
              <a:t>从</a:t>
            </a:r>
            <a:r>
              <a:rPr lang="en-GB" altLang="zh-CN" sz="1400" b="1" dirty="0">
                <a:solidFill>
                  <a:schemeClr val="tx1">
                    <a:alpha val="60000"/>
                  </a:schemeClr>
                </a:solidFill>
              </a:rPr>
              <a:t>1-10</a:t>
            </a:r>
            <a:r>
              <a:rPr lang="zh-CN" altLang="en-US" sz="1400" b="1" dirty="0">
                <a:solidFill>
                  <a:schemeClr val="tx1">
                    <a:alpha val="60000"/>
                  </a:schemeClr>
                </a:solidFill>
              </a:rPr>
              <a:t>，估值质量越好，评分越高</a:t>
            </a:r>
            <a:endParaRPr lang="en-GB" altLang="zh-CN" sz="1400" b="1" dirty="0">
              <a:solidFill>
                <a:schemeClr val="tx1">
                  <a:alpha val="60000"/>
                </a:schemeClr>
              </a:solidFill>
            </a:endParaRPr>
          </a:p>
          <a:p>
            <a:pPr marL="285750" indent="-285750">
              <a:lnSpc>
                <a:spcPct val="120000"/>
              </a:lnSpc>
              <a:buFont typeface="Wingdings" panose="05000000000000000000" pitchFamily="2" charset="2"/>
              <a:buChar char="ü"/>
            </a:pPr>
            <a:r>
              <a:rPr lang="zh-CN" altLang="en-US" sz="1400" b="1" dirty="0">
                <a:solidFill>
                  <a:schemeClr val="tx1">
                    <a:alpha val="60000"/>
                  </a:schemeClr>
                </a:solidFill>
              </a:rPr>
              <a:t>具体评分标准不公开，但与数据点数量、离散程度有关</a:t>
            </a:r>
            <a:endParaRPr lang="en-GB" altLang="zh-CN" sz="1400" b="1" dirty="0">
              <a:solidFill>
                <a:schemeClr val="tx1">
                  <a:alpha val="60000"/>
                </a:schemeClr>
              </a:solidFill>
            </a:endParaRPr>
          </a:p>
          <a:p>
            <a:pPr marL="285750" indent="-285750">
              <a:lnSpc>
                <a:spcPct val="120000"/>
              </a:lnSpc>
              <a:buFont typeface="Wingdings" panose="05000000000000000000" pitchFamily="2" charset="2"/>
              <a:buChar char="ü"/>
            </a:pPr>
            <a:r>
              <a:rPr lang="zh-CN" altLang="en-US" sz="1400" b="1" dirty="0">
                <a:solidFill>
                  <a:schemeClr val="tx1">
                    <a:alpha val="60000"/>
                  </a:schemeClr>
                </a:solidFill>
              </a:rPr>
              <a:t>该评分在不同债券类别之间标尺统一</a:t>
            </a:r>
            <a:endParaRPr lang="en-GB" altLang="zh-CN" sz="1400" b="1" dirty="0">
              <a:solidFill>
                <a:schemeClr val="tx1">
                  <a:alpha val="60000"/>
                </a:schemeClr>
              </a:solidFill>
            </a:endParaRPr>
          </a:p>
          <a:p>
            <a:pPr marL="285750" indent="-285750">
              <a:lnSpc>
                <a:spcPct val="120000"/>
              </a:lnSpc>
              <a:buFont typeface="Wingdings" panose="05000000000000000000" pitchFamily="2" charset="2"/>
              <a:buChar char="ü"/>
            </a:pPr>
            <a:r>
              <a:rPr lang="zh-CN" altLang="en-US" sz="1400" b="1" dirty="0">
                <a:solidFill>
                  <a:schemeClr val="tx1">
                    <a:alpha val="60000"/>
                  </a:schemeClr>
                </a:solidFill>
              </a:rPr>
              <a:t>该评分不是资产流动性指标，但流动性较好的资产客观上分数普遍更高</a:t>
            </a:r>
            <a:endParaRPr lang="en-GB" altLang="zh-CN" sz="1400" b="1" dirty="0">
              <a:solidFill>
                <a:schemeClr val="tx1">
                  <a:alpha val="60000"/>
                </a:schemeClr>
              </a:solidFill>
            </a:endParaRPr>
          </a:p>
          <a:p>
            <a:pPr marL="285750" indent="-285750">
              <a:lnSpc>
                <a:spcPct val="120000"/>
              </a:lnSpc>
              <a:buFont typeface="Wingdings" panose="05000000000000000000" pitchFamily="2" charset="2"/>
              <a:buChar char="ü"/>
            </a:pPr>
            <a:r>
              <a:rPr lang="zh-CN" altLang="en-US" sz="1400" b="1" dirty="0">
                <a:solidFill>
                  <a:schemeClr val="tx1">
                    <a:alpha val="60000"/>
                  </a:schemeClr>
                </a:solidFill>
              </a:rPr>
              <a:t>该评分不直接作为</a:t>
            </a:r>
            <a:r>
              <a:rPr lang="en-GB" altLang="zh-CN" sz="1400" b="1" dirty="0">
                <a:solidFill>
                  <a:schemeClr val="tx1">
                    <a:alpha val="60000"/>
                  </a:schemeClr>
                </a:solidFill>
              </a:rPr>
              <a:t>ASC 820</a:t>
            </a:r>
            <a:r>
              <a:rPr lang="zh-CN" altLang="en-US" sz="1400" b="1" dirty="0">
                <a:solidFill>
                  <a:schemeClr val="tx1">
                    <a:alpha val="60000"/>
                  </a:schemeClr>
                </a:solidFill>
              </a:rPr>
              <a:t>和</a:t>
            </a:r>
            <a:r>
              <a:rPr lang="en-GB" altLang="zh-CN" sz="1400" b="1" dirty="0">
                <a:solidFill>
                  <a:schemeClr val="tx1">
                    <a:alpha val="60000"/>
                  </a:schemeClr>
                </a:solidFill>
              </a:rPr>
              <a:t>IFRS 13</a:t>
            </a:r>
            <a:r>
              <a:rPr lang="zh-CN" altLang="en-US" sz="1400" b="1" dirty="0">
                <a:solidFill>
                  <a:schemeClr val="tx1">
                    <a:alpha val="60000"/>
                  </a:schemeClr>
                </a:solidFill>
              </a:rPr>
              <a:t>估值层级的划分标准，但机构可以参考作为划分依据之一</a:t>
            </a:r>
            <a:endParaRPr lang="en-GB" altLang="zh-CN" sz="1400" b="1" dirty="0">
              <a:solidFill>
                <a:schemeClr val="tx1">
                  <a:alpha val="60000"/>
                </a:schemeClr>
              </a:solidFill>
            </a:endParaRPr>
          </a:p>
        </p:txBody>
      </p:sp>
    </p:spTree>
    <p:extLst>
      <p:ext uri="{BB962C8B-B14F-4D97-AF65-F5344CB8AC3E}">
        <p14:creationId xmlns:p14="http://schemas.microsoft.com/office/powerpoint/2010/main" val="2496497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819DB-A922-8CE4-701C-1F9FE6F2C2FE}"/>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145CC4B-8B07-28F3-A262-E7047E6550F3}"/>
              </a:ext>
            </a:extLst>
          </p:cNvPr>
          <p:cNvSpPr>
            <a:spLocks noGrp="1"/>
          </p:cNvSpPr>
          <p:nvPr>
            <p:ph type="sldNum" sz="quarter" idx="10"/>
          </p:nvPr>
        </p:nvSpPr>
        <p:spPr/>
        <p:txBody>
          <a:bodyPr/>
          <a:lstStyle/>
          <a:p>
            <a:fld id="{7870704B-CE94-48CC-AF30-84932A1262A7}" type="slidenum">
              <a:rPr lang="en-GB" smtClean="0"/>
              <a:pPr/>
              <a:t>5</a:t>
            </a:fld>
            <a:endParaRPr lang="en-GB"/>
          </a:p>
        </p:txBody>
      </p:sp>
      <p:sp>
        <p:nvSpPr>
          <p:cNvPr id="5" name="页脚占位符 4">
            <a:extLst>
              <a:ext uri="{FF2B5EF4-FFF2-40B4-BE49-F238E27FC236}">
                <a16:creationId xmlns:a16="http://schemas.microsoft.com/office/drawing/2014/main" id="{A85EB137-3968-0E34-CFDB-27789E1247E2}"/>
              </a:ext>
            </a:extLst>
          </p:cNvPr>
          <p:cNvSpPr>
            <a:spLocks noGrp="1"/>
          </p:cNvSpPr>
          <p:nvPr>
            <p:ph type="ftr" sz="quarter" idx="13"/>
          </p:nvPr>
        </p:nvSpPr>
        <p:spPr/>
        <p:txBody>
          <a:bodyPr/>
          <a:lstStyle/>
          <a:p>
            <a:r>
              <a:rPr lang="en-US" altLang="zh-CN"/>
              <a:t>© </a:t>
            </a:r>
            <a:r>
              <a:rPr lang="zh-CN" altLang="en-US"/>
              <a:t>容诚会计师事务所（特殊普通合伙），</a:t>
            </a:r>
            <a:r>
              <a:rPr lang="en-US" altLang="zh-CN"/>
              <a:t>2026</a:t>
            </a:r>
            <a:endParaRPr lang="zh-CN" altLang="en-US"/>
          </a:p>
        </p:txBody>
      </p:sp>
      <p:sp>
        <p:nvSpPr>
          <p:cNvPr id="2" name="标题 1">
            <a:extLst>
              <a:ext uri="{FF2B5EF4-FFF2-40B4-BE49-F238E27FC236}">
                <a16:creationId xmlns:a16="http://schemas.microsoft.com/office/drawing/2014/main" id="{4498004B-4D55-07DF-18F5-88AA4009E798}"/>
              </a:ext>
            </a:extLst>
          </p:cNvPr>
          <p:cNvSpPr>
            <a:spLocks noGrp="1"/>
          </p:cNvSpPr>
          <p:nvPr>
            <p:ph type="title"/>
          </p:nvPr>
        </p:nvSpPr>
        <p:spPr>
          <a:xfrm>
            <a:off x="660400" y="330400"/>
            <a:ext cx="10858500" cy="596911"/>
          </a:xfrm>
        </p:spPr>
        <p:txBody>
          <a:bodyPr/>
          <a:lstStyle/>
          <a:p>
            <a:r>
              <a:rPr lang="en-GB" altLang="zh-CN" dirty="0"/>
              <a:t>BVAL</a:t>
            </a:r>
            <a:r>
              <a:rPr lang="zh-CN" altLang="en-US" dirty="0"/>
              <a:t>估值模式的借鉴路径 （</a:t>
            </a:r>
            <a:r>
              <a:rPr lang="en-US" altLang="zh-CN" dirty="0"/>
              <a:t>2024</a:t>
            </a:r>
            <a:r>
              <a:rPr lang="zh-CN" altLang="en-US" dirty="0"/>
              <a:t>年交流）</a:t>
            </a:r>
          </a:p>
        </p:txBody>
      </p:sp>
      <p:grpSp>
        <p:nvGrpSpPr>
          <p:cNvPr id="9" name="ï$líďe">
            <a:extLst>
              <a:ext uri="{FF2B5EF4-FFF2-40B4-BE49-F238E27FC236}">
                <a16:creationId xmlns:a16="http://schemas.microsoft.com/office/drawing/2014/main" id="{777F086A-D7FC-CD29-95D6-BE1CB1F46BE1}"/>
              </a:ext>
            </a:extLst>
          </p:cNvPr>
          <p:cNvGrpSpPr/>
          <p:nvPr/>
        </p:nvGrpSpPr>
        <p:grpSpPr>
          <a:xfrm>
            <a:off x="841999" y="1621093"/>
            <a:ext cx="10550571" cy="4000027"/>
            <a:chOff x="1664819" y="1181100"/>
            <a:chExt cx="10900373" cy="4132646"/>
          </a:xfrm>
        </p:grpSpPr>
        <p:sp>
          <p:nvSpPr>
            <p:cNvPr id="20" name="iSľíde">
              <a:extLst>
                <a:ext uri="{FF2B5EF4-FFF2-40B4-BE49-F238E27FC236}">
                  <a16:creationId xmlns:a16="http://schemas.microsoft.com/office/drawing/2014/main" id="{5A082F28-B8C9-750A-B53C-C432B06EE42F}"/>
                </a:ext>
              </a:extLst>
            </p:cNvPr>
            <p:cNvSpPr/>
            <p:nvPr/>
          </p:nvSpPr>
          <p:spPr>
            <a:xfrm>
              <a:off x="4229889" y="1927121"/>
              <a:ext cx="5679740" cy="3350858"/>
            </a:xfrm>
            <a:custGeom>
              <a:avLst/>
              <a:gdLst>
                <a:gd name="connsiteX0" fmla="*/ 13908 w 8903040"/>
                <a:gd name="connsiteY0" fmla="*/ 11 h 5252498"/>
                <a:gd name="connsiteX1" fmla="*/ 582360 w 8903040"/>
                <a:gd name="connsiteY1" fmla="*/ 6202 h 5252498"/>
                <a:gd name="connsiteX2" fmla="*/ 1150526 w 8903040"/>
                <a:gd name="connsiteY2" fmla="*/ 25442 h 5252498"/>
                <a:gd name="connsiteX3" fmla="*/ 1718121 w 8903040"/>
                <a:gd name="connsiteY3" fmla="*/ 65447 h 5252498"/>
                <a:gd name="connsiteX4" fmla="*/ 2001108 w 8903040"/>
                <a:gd name="connsiteY4" fmla="*/ 102023 h 5252498"/>
                <a:gd name="connsiteX5" fmla="*/ 2141888 w 8903040"/>
                <a:gd name="connsiteY5" fmla="*/ 130598 h 5252498"/>
                <a:gd name="connsiteX6" fmla="*/ 2211802 w 8903040"/>
                <a:gd name="connsiteY6" fmla="*/ 150601 h 5252498"/>
                <a:gd name="connsiteX7" fmla="*/ 2280858 w 8903040"/>
                <a:gd name="connsiteY7" fmla="*/ 179557 h 5252498"/>
                <a:gd name="connsiteX8" fmla="*/ 2314195 w 8903040"/>
                <a:gd name="connsiteY8" fmla="*/ 202512 h 5252498"/>
                <a:gd name="connsiteX9" fmla="*/ 2340389 w 8903040"/>
                <a:gd name="connsiteY9" fmla="*/ 242993 h 5252498"/>
                <a:gd name="connsiteX10" fmla="*/ 2342103 w 8903040"/>
                <a:gd name="connsiteY10" fmla="*/ 256900 h 5252498"/>
                <a:gd name="connsiteX11" fmla="*/ 2341723 w 8903040"/>
                <a:gd name="connsiteY11" fmla="*/ 267568 h 5252498"/>
                <a:gd name="connsiteX12" fmla="*/ 2338579 w 8903040"/>
                <a:gd name="connsiteY12" fmla="*/ 288428 h 5252498"/>
                <a:gd name="connsiteX13" fmla="*/ 2324482 w 8903040"/>
                <a:gd name="connsiteY13" fmla="*/ 327004 h 5252498"/>
                <a:gd name="connsiteX14" fmla="*/ 2278000 w 8903040"/>
                <a:gd name="connsiteY14" fmla="*/ 389202 h 5252498"/>
                <a:gd name="connsiteX15" fmla="*/ 2221517 w 8903040"/>
                <a:gd name="connsiteY15" fmla="*/ 437684 h 5252498"/>
                <a:gd name="connsiteX16" fmla="*/ 2098454 w 8903040"/>
                <a:gd name="connsiteY16" fmla="*/ 514646 h 5252498"/>
                <a:gd name="connsiteX17" fmla="*/ 1970438 w 8903040"/>
                <a:gd name="connsiteY17" fmla="*/ 579131 h 5252498"/>
                <a:gd name="connsiteX18" fmla="*/ 1455802 w 8903040"/>
                <a:gd name="connsiteY18" fmla="*/ 816970 h 5252498"/>
                <a:gd name="connsiteX19" fmla="*/ 1334930 w 8903040"/>
                <a:gd name="connsiteY19" fmla="*/ 886979 h 5252498"/>
                <a:gd name="connsiteX20" fmla="*/ 1226535 w 8903040"/>
                <a:gd name="connsiteY20" fmla="*/ 970513 h 5252498"/>
                <a:gd name="connsiteX21" fmla="*/ 1153098 w 8903040"/>
                <a:gd name="connsiteY21" fmla="*/ 1075669 h 5252498"/>
                <a:gd name="connsiteX22" fmla="*/ 1144620 w 8903040"/>
                <a:gd name="connsiteY22" fmla="*/ 1135105 h 5252498"/>
                <a:gd name="connsiteX23" fmla="*/ 1146240 w 8903040"/>
                <a:gd name="connsiteY23" fmla="*/ 1150154 h 5252498"/>
                <a:gd name="connsiteX24" fmla="*/ 1149288 w 8903040"/>
                <a:gd name="connsiteY24" fmla="*/ 1161489 h 5252498"/>
                <a:gd name="connsiteX25" fmla="*/ 1163099 w 8903040"/>
                <a:gd name="connsiteY25" fmla="*/ 1182539 h 5252498"/>
                <a:gd name="connsiteX26" fmla="*/ 1213010 w 8903040"/>
                <a:gd name="connsiteY26" fmla="*/ 1217115 h 5252498"/>
                <a:gd name="connsiteX27" fmla="*/ 1275208 w 8903040"/>
                <a:gd name="connsiteY27" fmla="*/ 1241404 h 5252498"/>
                <a:gd name="connsiteX28" fmla="*/ 1409796 w 8903040"/>
                <a:gd name="connsiteY28" fmla="*/ 1272646 h 5252498"/>
                <a:gd name="connsiteX29" fmla="*/ 1689165 w 8903040"/>
                <a:gd name="connsiteY29" fmla="*/ 1303983 h 5252498"/>
                <a:gd name="connsiteX30" fmla="*/ 2255045 w 8903040"/>
                <a:gd name="connsiteY30" fmla="*/ 1322557 h 5252498"/>
                <a:gd name="connsiteX31" fmla="*/ 2822640 w 8903040"/>
                <a:gd name="connsiteY31" fmla="*/ 1321700 h 5252498"/>
                <a:gd name="connsiteX32" fmla="*/ 3959639 w 8903040"/>
                <a:gd name="connsiteY32" fmla="*/ 1319795 h 5252498"/>
                <a:gd name="connsiteX33" fmla="*/ 4528948 w 8903040"/>
                <a:gd name="connsiteY33" fmla="*/ 1339416 h 5252498"/>
                <a:gd name="connsiteX34" fmla="*/ 5097781 w 8903040"/>
                <a:gd name="connsiteY34" fmla="*/ 1398471 h 5252498"/>
                <a:gd name="connsiteX35" fmla="*/ 5379626 w 8903040"/>
                <a:gd name="connsiteY35" fmla="*/ 1462098 h 5252498"/>
                <a:gd name="connsiteX36" fmla="*/ 5517548 w 8903040"/>
                <a:gd name="connsiteY36" fmla="*/ 1513247 h 5252498"/>
                <a:gd name="connsiteX37" fmla="*/ 5647850 w 8903040"/>
                <a:gd name="connsiteY37" fmla="*/ 1591067 h 5252498"/>
                <a:gd name="connsiteX38" fmla="*/ 5745577 w 8903040"/>
                <a:gd name="connsiteY38" fmla="*/ 1719845 h 5252498"/>
                <a:gd name="connsiteX39" fmla="*/ 5761103 w 8903040"/>
                <a:gd name="connsiteY39" fmla="*/ 1802807 h 5252498"/>
                <a:gd name="connsiteX40" fmla="*/ 5754911 w 8903040"/>
                <a:gd name="connsiteY40" fmla="*/ 1881103 h 5252498"/>
                <a:gd name="connsiteX41" fmla="*/ 5701095 w 8903040"/>
                <a:gd name="connsiteY41" fmla="*/ 2027502 h 5252498"/>
                <a:gd name="connsiteX42" fmla="*/ 5605940 w 8903040"/>
                <a:gd name="connsiteY42" fmla="*/ 2146946 h 5252498"/>
                <a:gd name="connsiteX43" fmla="*/ 5364481 w 8903040"/>
                <a:gd name="connsiteY43" fmla="*/ 2316300 h 5252498"/>
                <a:gd name="connsiteX44" fmla="*/ 5100925 w 8903040"/>
                <a:gd name="connsiteY44" fmla="*/ 2434982 h 5252498"/>
                <a:gd name="connsiteX45" fmla="*/ 4558571 w 8903040"/>
                <a:gd name="connsiteY45" fmla="*/ 2614814 h 5252498"/>
                <a:gd name="connsiteX46" fmla="*/ 4018218 w 8903040"/>
                <a:gd name="connsiteY46" fmla="*/ 2784168 h 5252498"/>
                <a:gd name="connsiteX47" fmla="*/ 3756280 w 8903040"/>
                <a:gd name="connsiteY47" fmla="*/ 2884466 h 5252498"/>
                <a:gd name="connsiteX48" fmla="*/ 3510631 w 8903040"/>
                <a:gd name="connsiteY48" fmla="*/ 3010958 h 5252498"/>
                <a:gd name="connsiteX49" fmla="*/ 3310224 w 8903040"/>
                <a:gd name="connsiteY49" fmla="*/ 3184885 h 5252498"/>
                <a:gd name="connsiteX50" fmla="*/ 3227357 w 8903040"/>
                <a:gd name="connsiteY50" fmla="*/ 3418247 h 5252498"/>
                <a:gd name="connsiteX51" fmla="*/ 3280316 w 8903040"/>
                <a:gd name="connsiteY51" fmla="*/ 3674089 h 5252498"/>
                <a:gd name="connsiteX52" fmla="*/ 3426525 w 8903040"/>
                <a:gd name="connsiteY52" fmla="*/ 3896688 h 5252498"/>
                <a:gd name="connsiteX53" fmla="*/ 3630264 w 8903040"/>
                <a:gd name="connsiteY53" fmla="*/ 4078330 h 5252498"/>
                <a:gd name="connsiteX54" fmla="*/ 3744564 w 8903040"/>
                <a:gd name="connsiteY54" fmla="*/ 4156054 h 5252498"/>
                <a:gd name="connsiteX55" fmla="*/ 3864294 w 8903040"/>
                <a:gd name="connsiteY55" fmla="*/ 4226539 h 5252498"/>
                <a:gd name="connsiteX56" fmla="*/ 4114897 w 8903040"/>
                <a:gd name="connsiteY56" fmla="*/ 4349697 h 5252498"/>
                <a:gd name="connsiteX57" fmla="*/ 4375215 w 8903040"/>
                <a:gd name="connsiteY57" fmla="*/ 4454091 h 5252498"/>
                <a:gd name="connsiteX58" fmla="*/ 4912520 w 8903040"/>
                <a:gd name="connsiteY58" fmla="*/ 4622398 h 5252498"/>
                <a:gd name="connsiteX59" fmla="*/ 5462017 w 8903040"/>
                <a:gd name="connsiteY59" fmla="*/ 4752414 h 5252498"/>
                <a:gd name="connsiteX60" fmla="*/ 6578252 w 8903040"/>
                <a:gd name="connsiteY60" fmla="*/ 4937390 h 5252498"/>
                <a:gd name="connsiteX61" fmla="*/ 7705059 w 8903040"/>
                <a:gd name="connsiteY61" fmla="*/ 5053786 h 5252498"/>
                <a:gd name="connsiteX62" fmla="*/ 8270369 w 8903040"/>
                <a:gd name="connsiteY62" fmla="*/ 5091695 h 5252498"/>
                <a:gd name="connsiteX63" fmla="*/ 8835582 w 8903040"/>
                <a:gd name="connsiteY63" fmla="*/ 5115507 h 5252498"/>
                <a:gd name="connsiteX64" fmla="*/ 8836248 w 8903040"/>
                <a:gd name="connsiteY64" fmla="*/ 5115507 h 5252498"/>
                <a:gd name="connsiteX65" fmla="*/ 8903019 w 8903040"/>
                <a:gd name="connsiteY65" fmla="*/ 5185707 h 5252498"/>
                <a:gd name="connsiteX66" fmla="*/ 8832819 w 8903040"/>
                <a:gd name="connsiteY66" fmla="*/ 5252477 h 5252498"/>
                <a:gd name="connsiteX67" fmla="*/ 8832438 w 8903040"/>
                <a:gd name="connsiteY67" fmla="*/ 5252477 h 5252498"/>
                <a:gd name="connsiteX68" fmla="*/ 8262653 w 8903040"/>
                <a:gd name="connsiteY68" fmla="*/ 5225045 h 5252498"/>
                <a:gd name="connsiteX69" fmla="*/ 7694582 w 8903040"/>
                <a:gd name="connsiteY69" fmla="*/ 5183516 h 5252498"/>
                <a:gd name="connsiteX70" fmla="*/ 6561964 w 8903040"/>
                <a:gd name="connsiteY70" fmla="*/ 5059691 h 5252498"/>
                <a:gd name="connsiteX71" fmla="*/ 5438014 w 8903040"/>
                <a:gd name="connsiteY71" fmla="*/ 4866429 h 5252498"/>
                <a:gd name="connsiteX72" fmla="*/ 4882802 w 8903040"/>
                <a:gd name="connsiteY72" fmla="*/ 4731555 h 5252498"/>
                <a:gd name="connsiteX73" fmla="*/ 4337210 w 8903040"/>
                <a:gd name="connsiteY73" fmla="*/ 4557057 h 5252498"/>
                <a:gd name="connsiteX74" fmla="*/ 4070986 w 8903040"/>
                <a:gd name="connsiteY74" fmla="*/ 4448472 h 5252498"/>
                <a:gd name="connsiteX75" fmla="*/ 3812668 w 8903040"/>
                <a:gd name="connsiteY75" fmla="*/ 4319598 h 5252498"/>
                <a:gd name="connsiteX76" fmla="*/ 3688081 w 8903040"/>
                <a:gd name="connsiteY76" fmla="*/ 4245208 h 5252498"/>
                <a:gd name="connsiteX77" fmla="*/ 3568066 w 8903040"/>
                <a:gd name="connsiteY77" fmla="*/ 4162531 h 5252498"/>
                <a:gd name="connsiteX78" fmla="*/ 3349848 w 8903040"/>
                <a:gd name="connsiteY78" fmla="*/ 3965363 h 5252498"/>
                <a:gd name="connsiteX79" fmla="*/ 3187352 w 8903040"/>
                <a:gd name="connsiteY79" fmla="*/ 3714094 h 5252498"/>
                <a:gd name="connsiteX80" fmla="*/ 3127916 w 8903040"/>
                <a:gd name="connsiteY80" fmla="*/ 3417295 h 5252498"/>
                <a:gd name="connsiteX81" fmla="*/ 3156300 w 8903040"/>
                <a:gd name="connsiteY81" fmla="*/ 3261847 h 5252498"/>
                <a:gd name="connsiteX82" fmla="*/ 3232691 w 8903040"/>
                <a:gd name="connsiteY82" fmla="*/ 3125354 h 5252498"/>
                <a:gd name="connsiteX83" fmla="*/ 3459576 w 8903040"/>
                <a:gd name="connsiteY83" fmla="*/ 2929424 h 5252498"/>
                <a:gd name="connsiteX84" fmla="*/ 3719133 w 8903040"/>
                <a:gd name="connsiteY84" fmla="*/ 2797408 h 5252498"/>
                <a:gd name="connsiteX85" fmla="*/ 3988214 w 8903040"/>
                <a:gd name="connsiteY85" fmla="*/ 2696062 h 5252498"/>
                <a:gd name="connsiteX86" fmla="*/ 4532949 w 8903040"/>
                <a:gd name="connsiteY86" fmla="*/ 2528708 h 5252498"/>
                <a:gd name="connsiteX87" fmla="*/ 5069873 w 8903040"/>
                <a:gd name="connsiteY87" fmla="*/ 2354210 h 5252498"/>
                <a:gd name="connsiteX88" fmla="*/ 5324667 w 8903040"/>
                <a:gd name="connsiteY88" fmla="*/ 2241243 h 5252498"/>
                <a:gd name="connsiteX89" fmla="*/ 5547933 w 8903040"/>
                <a:gd name="connsiteY89" fmla="*/ 2087033 h 5252498"/>
                <a:gd name="connsiteX90" fmla="*/ 5629943 w 8903040"/>
                <a:gd name="connsiteY90" fmla="*/ 1985592 h 5252498"/>
                <a:gd name="connsiteX91" fmla="*/ 5674329 w 8903040"/>
                <a:gd name="connsiteY91" fmla="*/ 1867196 h 5252498"/>
                <a:gd name="connsiteX92" fmla="*/ 5679663 w 8903040"/>
                <a:gd name="connsiteY92" fmla="*/ 1804141 h 5252498"/>
                <a:gd name="connsiteX93" fmla="*/ 5669567 w 8903040"/>
                <a:gd name="connsiteY93" fmla="*/ 1748134 h 5252498"/>
                <a:gd name="connsiteX94" fmla="*/ 5597272 w 8903040"/>
                <a:gd name="connsiteY94" fmla="*/ 1653551 h 5252498"/>
                <a:gd name="connsiteX95" fmla="*/ 5484592 w 8903040"/>
                <a:gd name="connsiteY95" fmla="*/ 1585733 h 5252498"/>
                <a:gd name="connsiteX96" fmla="*/ 5356576 w 8903040"/>
                <a:gd name="connsiteY96" fmla="*/ 1537536 h 5252498"/>
                <a:gd name="connsiteX97" fmla="*/ 5085018 w 8903040"/>
                <a:gd name="connsiteY97" fmla="*/ 1474671 h 5252498"/>
                <a:gd name="connsiteX98" fmla="*/ 4524567 w 8903040"/>
                <a:gd name="connsiteY98" fmla="*/ 1413330 h 5252498"/>
                <a:gd name="connsiteX99" fmla="*/ 3958591 w 8903040"/>
                <a:gd name="connsiteY99" fmla="*/ 1390661 h 5252498"/>
                <a:gd name="connsiteX100" fmla="*/ 2823211 w 8903040"/>
                <a:gd name="connsiteY100" fmla="*/ 1386089 h 5252498"/>
                <a:gd name="connsiteX101" fmla="*/ 2254664 w 8903040"/>
                <a:gd name="connsiteY101" fmla="*/ 1383707 h 5252498"/>
                <a:gd name="connsiteX102" fmla="*/ 1685259 w 8903040"/>
                <a:gd name="connsiteY102" fmla="*/ 1361705 h 5252498"/>
                <a:gd name="connsiteX103" fmla="*/ 1400462 w 8903040"/>
                <a:gd name="connsiteY103" fmla="*/ 1327986 h 5252498"/>
                <a:gd name="connsiteX104" fmla="*/ 1258730 w 8903040"/>
                <a:gd name="connsiteY104" fmla="*/ 1294172 h 5252498"/>
                <a:gd name="connsiteX105" fmla="*/ 1188912 w 8903040"/>
                <a:gd name="connsiteY105" fmla="*/ 1266359 h 5252498"/>
                <a:gd name="connsiteX106" fmla="*/ 1123380 w 8903040"/>
                <a:gd name="connsiteY106" fmla="*/ 1219592 h 5252498"/>
                <a:gd name="connsiteX107" fmla="*/ 1098996 w 8903040"/>
                <a:gd name="connsiteY107" fmla="*/ 1181301 h 5252498"/>
                <a:gd name="connsiteX108" fmla="*/ 1092995 w 8903040"/>
                <a:gd name="connsiteY108" fmla="*/ 1158441 h 5252498"/>
                <a:gd name="connsiteX109" fmla="*/ 1090899 w 8903040"/>
                <a:gd name="connsiteY109" fmla="*/ 1138153 h 5252498"/>
                <a:gd name="connsiteX110" fmla="*/ 1102806 w 8903040"/>
                <a:gd name="connsiteY110" fmla="*/ 1057952 h 5252498"/>
                <a:gd name="connsiteX111" fmla="*/ 1190436 w 8903040"/>
                <a:gd name="connsiteY111" fmla="*/ 932318 h 5252498"/>
                <a:gd name="connsiteX112" fmla="*/ 1307212 w 8903040"/>
                <a:gd name="connsiteY112" fmla="*/ 843354 h 5252498"/>
                <a:gd name="connsiteX113" fmla="*/ 1432466 w 8903040"/>
                <a:gd name="connsiteY113" fmla="*/ 771821 h 5252498"/>
                <a:gd name="connsiteX114" fmla="*/ 1950531 w 8903040"/>
                <a:gd name="connsiteY114" fmla="*/ 536078 h 5252498"/>
                <a:gd name="connsiteX115" fmla="*/ 2076546 w 8903040"/>
                <a:gd name="connsiteY115" fmla="*/ 473594 h 5252498"/>
                <a:gd name="connsiteX116" fmla="*/ 2194561 w 8903040"/>
                <a:gd name="connsiteY116" fmla="*/ 400823 h 5252498"/>
                <a:gd name="connsiteX117" fmla="*/ 2245996 w 8903040"/>
                <a:gd name="connsiteY117" fmla="*/ 357293 h 5252498"/>
                <a:gd name="connsiteX118" fmla="*/ 2284668 w 8903040"/>
                <a:gd name="connsiteY118" fmla="*/ 306525 h 5252498"/>
                <a:gd name="connsiteX119" fmla="*/ 2295145 w 8903040"/>
                <a:gd name="connsiteY119" fmla="*/ 278712 h 5252498"/>
                <a:gd name="connsiteX120" fmla="*/ 2297336 w 8903040"/>
                <a:gd name="connsiteY120" fmla="*/ 264425 h 5252498"/>
                <a:gd name="connsiteX121" fmla="*/ 2297622 w 8903040"/>
                <a:gd name="connsiteY121" fmla="*/ 257376 h 5252498"/>
                <a:gd name="connsiteX122" fmla="*/ 2297145 w 8903040"/>
                <a:gd name="connsiteY122" fmla="*/ 253661 h 5252498"/>
                <a:gd name="connsiteX123" fmla="*/ 2284763 w 8903040"/>
                <a:gd name="connsiteY123" fmla="*/ 235850 h 5252498"/>
                <a:gd name="connsiteX124" fmla="*/ 2259807 w 8903040"/>
                <a:gd name="connsiteY124" fmla="*/ 218609 h 5252498"/>
                <a:gd name="connsiteX125" fmla="*/ 2198181 w 8903040"/>
                <a:gd name="connsiteY125" fmla="*/ 192320 h 5252498"/>
                <a:gd name="connsiteX126" fmla="*/ 2131696 w 8903040"/>
                <a:gd name="connsiteY126" fmla="*/ 172794 h 5252498"/>
                <a:gd name="connsiteX127" fmla="*/ 1994346 w 8903040"/>
                <a:gd name="connsiteY127" fmla="*/ 143933 h 5252498"/>
                <a:gd name="connsiteX128" fmla="*/ 1714311 w 8903040"/>
                <a:gd name="connsiteY128" fmla="*/ 105643 h 5252498"/>
                <a:gd name="connsiteX129" fmla="*/ 1149002 w 8903040"/>
                <a:gd name="connsiteY129" fmla="*/ 61733 h 5252498"/>
                <a:gd name="connsiteX130" fmla="*/ 581883 w 8903040"/>
                <a:gd name="connsiteY130" fmla="*/ 38396 h 5252498"/>
                <a:gd name="connsiteX131" fmla="*/ 13908 w 8903040"/>
                <a:gd name="connsiteY131" fmla="*/ 27919 h 5252498"/>
                <a:gd name="connsiteX132" fmla="*/ 13812 w 8903040"/>
                <a:gd name="connsiteY132" fmla="*/ 27919 h 5252498"/>
                <a:gd name="connsiteX133" fmla="*/ 1 w 8903040"/>
                <a:gd name="connsiteY133" fmla="*/ 13822 h 5252498"/>
                <a:gd name="connsiteX134" fmla="*/ 13908 w 8903040"/>
                <a:gd name="connsiteY134" fmla="*/ 11 h 525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8903040" h="5252498">
                  <a:moveTo>
                    <a:pt x="13908" y="11"/>
                  </a:moveTo>
                  <a:cubicBezTo>
                    <a:pt x="203455" y="-180"/>
                    <a:pt x="392907" y="2201"/>
                    <a:pt x="582360" y="6202"/>
                  </a:cubicBezTo>
                  <a:cubicBezTo>
                    <a:pt x="771812" y="10298"/>
                    <a:pt x="961264" y="16394"/>
                    <a:pt x="1150526" y="25442"/>
                  </a:cubicBezTo>
                  <a:cubicBezTo>
                    <a:pt x="1339883" y="34682"/>
                    <a:pt x="1529145" y="46493"/>
                    <a:pt x="1718121" y="65447"/>
                  </a:cubicBezTo>
                  <a:cubicBezTo>
                    <a:pt x="1812609" y="75068"/>
                    <a:pt x="1907001" y="86307"/>
                    <a:pt x="2001108" y="102023"/>
                  </a:cubicBezTo>
                  <a:cubicBezTo>
                    <a:pt x="2048162" y="109929"/>
                    <a:pt x="2095120" y="118978"/>
                    <a:pt x="2141888" y="130598"/>
                  </a:cubicBezTo>
                  <a:cubicBezTo>
                    <a:pt x="2165224" y="136409"/>
                    <a:pt x="2188560" y="142886"/>
                    <a:pt x="2211802" y="150601"/>
                  </a:cubicBezTo>
                  <a:cubicBezTo>
                    <a:pt x="2234947" y="158411"/>
                    <a:pt x="2258093" y="167270"/>
                    <a:pt x="2280858" y="179557"/>
                  </a:cubicBezTo>
                  <a:cubicBezTo>
                    <a:pt x="2292192" y="185843"/>
                    <a:pt x="2303432" y="192892"/>
                    <a:pt x="2314195" y="202512"/>
                  </a:cubicBezTo>
                  <a:cubicBezTo>
                    <a:pt x="2324673" y="212037"/>
                    <a:pt x="2335722" y="224705"/>
                    <a:pt x="2340389" y="242993"/>
                  </a:cubicBezTo>
                  <a:cubicBezTo>
                    <a:pt x="2341437" y="247470"/>
                    <a:pt x="2342103" y="252233"/>
                    <a:pt x="2342103" y="256900"/>
                  </a:cubicBezTo>
                  <a:cubicBezTo>
                    <a:pt x="2342008" y="260615"/>
                    <a:pt x="2342008" y="264044"/>
                    <a:pt x="2341723" y="267568"/>
                  </a:cubicBezTo>
                  <a:cubicBezTo>
                    <a:pt x="2341151" y="274616"/>
                    <a:pt x="2340198" y="281570"/>
                    <a:pt x="2338579" y="288428"/>
                  </a:cubicBezTo>
                  <a:cubicBezTo>
                    <a:pt x="2335531" y="302048"/>
                    <a:pt x="2330578" y="315002"/>
                    <a:pt x="2324482" y="327004"/>
                  </a:cubicBezTo>
                  <a:cubicBezTo>
                    <a:pt x="2312195" y="351007"/>
                    <a:pt x="2295717" y="371200"/>
                    <a:pt x="2278000" y="389202"/>
                  </a:cubicBezTo>
                  <a:cubicBezTo>
                    <a:pt x="2260284" y="407204"/>
                    <a:pt x="2241138" y="423111"/>
                    <a:pt x="2221517" y="437684"/>
                  </a:cubicBezTo>
                  <a:cubicBezTo>
                    <a:pt x="2182083" y="466926"/>
                    <a:pt x="2140554" y="491596"/>
                    <a:pt x="2098454" y="514646"/>
                  </a:cubicBezTo>
                  <a:cubicBezTo>
                    <a:pt x="2056258" y="537602"/>
                    <a:pt x="2013491" y="558747"/>
                    <a:pt x="1970438" y="579131"/>
                  </a:cubicBezTo>
                  <a:cubicBezTo>
                    <a:pt x="1798321" y="660379"/>
                    <a:pt x="1621918" y="729911"/>
                    <a:pt x="1455802" y="816970"/>
                  </a:cubicBezTo>
                  <a:cubicBezTo>
                    <a:pt x="1414368" y="838782"/>
                    <a:pt x="1373792" y="861833"/>
                    <a:pt x="1334930" y="886979"/>
                  </a:cubicBezTo>
                  <a:cubicBezTo>
                    <a:pt x="1296163" y="912125"/>
                    <a:pt x="1259016" y="939461"/>
                    <a:pt x="1226535" y="970513"/>
                  </a:cubicBezTo>
                  <a:cubicBezTo>
                    <a:pt x="1194246" y="1001469"/>
                    <a:pt x="1166623" y="1036712"/>
                    <a:pt x="1153098" y="1075669"/>
                  </a:cubicBezTo>
                  <a:cubicBezTo>
                    <a:pt x="1146335" y="1095005"/>
                    <a:pt x="1143382" y="1115102"/>
                    <a:pt x="1144620" y="1135105"/>
                  </a:cubicBezTo>
                  <a:cubicBezTo>
                    <a:pt x="1145001" y="1140153"/>
                    <a:pt x="1145478" y="1145106"/>
                    <a:pt x="1146240" y="1150154"/>
                  </a:cubicBezTo>
                  <a:cubicBezTo>
                    <a:pt x="1146906" y="1154345"/>
                    <a:pt x="1147859" y="1157774"/>
                    <a:pt x="1149288" y="1161489"/>
                  </a:cubicBezTo>
                  <a:cubicBezTo>
                    <a:pt x="1152240" y="1168728"/>
                    <a:pt x="1156908" y="1175872"/>
                    <a:pt x="1163099" y="1182539"/>
                  </a:cubicBezTo>
                  <a:cubicBezTo>
                    <a:pt x="1175672" y="1196065"/>
                    <a:pt x="1193674" y="1207590"/>
                    <a:pt x="1213010" y="1217115"/>
                  </a:cubicBezTo>
                  <a:cubicBezTo>
                    <a:pt x="1232441" y="1226735"/>
                    <a:pt x="1253586" y="1234641"/>
                    <a:pt x="1275208" y="1241404"/>
                  </a:cubicBezTo>
                  <a:cubicBezTo>
                    <a:pt x="1318547" y="1255025"/>
                    <a:pt x="1363981" y="1264645"/>
                    <a:pt x="1409796" y="1272646"/>
                  </a:cubicBezTo>
                  <a:cubicBezTo>
                    <a:pt x="1501617" y="1288362"/>
                    <a:pt x="1595343" y="1297220"/>
                    <a:pt x="1689165" y="1303983"/>
                  </a:cubicBezTo>
                  <a:cubicBezTo>
                    <a:pt x="1876998" y="1317032"/>
                    <a:pt x="2066069" y="1320747"/>
                    <a:pt x="2255045" y="1322557"/>
                  </a:cubicBezTo>
                  <a:cubicBezTo>
                    <a:pt x="2444116" y="1324176"/>
                    <a:pt x="2633378" y="1323033"/>
                    <a:pt x="2822640" y="1321700"/>
                  </a:cubicBezTo>
                  <a:cubicBezTo>
                    <a:pt x="3201258" y="1318842"/>
                    <a:pt x="3580163" y="1314175"/>
                    <a:pt x="3959639" y="1319795"/>
                  </a:cubicBezTo>
                  <a:cubicBezTo>
                    <a:pt x="4149282" y="1322747"/>
                    <a:pt x="4339115" y="1328177"/>
                    <a:pt x="4528948" y="1339416"/>
                  </a:cubicBezTo>
                  <a:cubicBezTo>
                    <a:pt x="4718686" y="1350941"/>
                    <a:pt x="4908710" y="1367229"/>
                    <a:pt x="5097781" y="1398471"/>
                  </a:cubicBezTo>
                  <a:cubicBezTo>
                    <a:pt x="5192269" y="1414378"/>
                    <a:pt x="5286567" y="1433904"/>
                    <a:pt x="5379626" y="1462098"/>
                  </a:cubicBezTo>
                  <a:cubicBezTo>
                    <a:pt x="5426108" y="1476290"/>
                    <a:pt x="5472305" y="1492769"/>
                    <a:pt x="5517548" y="1513247"/>
                  </a:cubicBezTo>
                  <a:cubicBezTo>
                    <a:pt x="5562601" y="1533917"/>
                    <a:pt x="5607083" y="1558301"/>
                    <a:pt x="5647850" y="1591067"/>
                  </a:cubicBezTo>
                  <a:cubicBezTo>
                    <a:pt x="5688236" y="1623452"/>
                    <a:pt x="5725574" y="1666314"/>
                    <a:pt x="5745577" y="1719845"/>
                  </a:cubicBezTo>
                  <a:cubicBezTo>
                    <a:pt x="5755578" y="1746324"/>
                    <a:pt x="5760626" y="1774899"/>
                    <a:pt x="5761103" y="1802807"/>
                  </a:cubicBezTo>
                  <a:cubicBezTo>
                    <a:pt x="5761293" y="1829382"/>
                    <a:pt x="5759388" y="1855100"/>
                    <a:pt x="5754911" y="1881103"/>
                  </a:cubicBezTo>
                  <a:cubicBezTo>
                    <a:pt x="5746244" y="1932824"/>
                    <a:pt x="5727288" y="1982830"/>
                    <a:pt x="5701095" y="2027502"/>
                  </a:cubicBezTo>
                  <a:cubicBezTo>
                    <a:pt x="5674996" y="2072365"/>
                    <a:pt x="5641945" y="2111894"/>
                    <a:pt x="5605940" y="2146946"/>
                  </a:cubicBezTo>
                  <a:cubicBezTo>
                    <a:pt x="5533550" y="2217145"/>
                    <a:pt x="5449920" y="2270295"/>
                    <a:pt x="5364481" y="2316300"/>
                  </a:cubicBezTo>
                  <a:cubicBezTo>
                    <a:pt x="5278756" y="2362020"/>
                    <a:pt x="5190174" y="2400216"/>
                    <a:pt x="5100925" y="2434982"/>
                  </a:cubicBezTo>
                  <a:cubicBezTo>
                    <a:pt x="4922140" y="2504133"/>
                    <a:pt x="4740022" y="2559759"/>
                    <a:pt x="4558571" y="2614814"/>
                  </a:cubicBezTo>
                  <a:cubicBezTo>
                    <a:pt x="4377120" y="2669678"/>
                    <a:pt x="4195859" y="2722922"/>
                    <a:pt x="4018218" y="2784168"/>
                  </a:cubicBezTo>
                  <a:cubicBezTo>
                    <a:pt x="3929445" y="2814839"/>
                    <a:pt x="3841719" y="2847605"/>
                    <a:pt x="3756280" y="2884466"/>
                  </a:cubicBezTo>
                  <a:cubicBezTo>
                    <a:pt x="3670936" y="2921423"/>
                    <a:pt x="3587688" y="2962381"/>
                    <a:pt x="3510631" y="3010958"/>
                  </a:cubicBezTo>
                  <a:cubicBezTo>
                    <a:pt x="3433859" y="3059536"/>
                    <a:pt x="3362707" y="3116305"/>
                    <a:pt x="3310224" y="3184885"/>
                  </a:cubicBezTo>
                  <a:cubicBezTo>
                    <a:pt x="3257456" y="3253084"/>
                    <a:pt x="3227357" y="3333856"/>
                    <a:pt x="3227357" y="3418247"/>
                  </a:cubicBezTo>
                  <a:cubicBezTo>
                    <a:pt x="3227071" y="3505878"/>
                    <a:pt x="3245169" y="3593317"/>
                    <a:pt x="3280316" y="3674089"/>
                  </a:cubicBezTo>
                  <a:cubicBezTo>
                    <a:pt x="3315368" y="3755052"/>
                    <a:pt x="3366136" y="3829728"/>
                    <a:pt x="3426525" y="3896688"/>
                  </a:cubicBezTo>
                  <a:cubicBezTo>
                    <a:pt x="3487008" y="3963744"/>
                    <a:pt x="3556160" y="4024038"/>
                    <a:pt x="3630264" y="4078330"/>
                  </a:cubicBezTo>
                  <a:cubicBezTo>
                    <a:pt x="3667126" y="4105667"/>
                    <a:pt x="3705417" y="4131384"/>
                    <a:pt x="3744564" y="4156054"/>
                  </a:cubicBezTo>
                  <a:cubicBezTo>
                    <a:pt x="3783522" y="4180819"/>
                    <a:pt x="3823622" y="4204060"/>
                    <a:pt x="3864294" y="4226539"/>
                  </a:cubicBezTo>
                  <a:cubicBezTo>
                    <a:pt x="3945542" y="4271402"/>
                    <a:pt x="4029457" y="4312074"/>
                    <a:pt x="4114897" y="4349697"/>
                  </a:cubicBezTo>
                  <a:cubicBezTo>
                    <a:pt x="4200241" y="4387512"/>
                    <a:pt x="4287299" y="4421802"/>
                    <a:pt x="4375215" y="4454091"/>
                  </a:cubicBezTo>
                  <a:cubicBezTo>
                    <a:pt x="4551142" y="4518576"/>
                    <a:pt x="4730974" y="4573345"/>
                    <a:pt x="4912520" y="4622398"/>
                  </a:cubicBezTo>
                  <a:cubicBezTo>
                    <a:pt x="5094067" y="4671357"/>
                    <a:pt x="5277613" y="4714029"/>
                    <a:pt x="5462017" y="4752414"/>
                  </a:cubicBezTo>
                  <a:cubicBezTo>
                    <a:pt x="5831016" y="4829091"/>
                    <a:pt x="6203920" y="4888526"/>
                    <a:pt x="6578252" y="4937390"/>
                  </a:cubicBezTo>
                  <a:cubicBezTo>
                    <a:pt x="6952584" y="4986158"/>
                    <a:pt x="7328537" y="5024068"/>
                    <a:pt x="7705059" y="5053786"/>
                  </a:cubicBezTo>
                  <a:cubicBezTo>
                    <a:pt x="7893369" y="5068549"/>
                    <a:pt x="8081773" y="5081218"/>
                    <a:pt x="8270369" y="5091695"/>
                  </a:cubicBezTo>
                  <a:cubicBezTo>
                    <a:pt x="8458773" y="5102077"/>
                    <a:pt x="8647939" y="5110745"/>
                    <a:pt x="8835582" y="5115507"/>
                  </a:cubicBezTo>
                  <a:lnTo>
                    <a:pt x="8836248" y="5115507"/>
                  </a:lnTo>
                  <a:cubicBezTo>
                    <a:pt x="8874062" y="5116460"/>
                    <a:pt x="8903971" y="5147893"/>
                    <a:pt x="8903019" y="5185707"/>
                  </a:cubicBezTo>
                  <a:cubicBezTo>
                    <a:pt x="8902066" y="5223521"/>
                    <a:pt x="8870633" y="5253429"/>
                    <a:pt x="8832819" y="5252477"/>
                  </a:cubicBezTo>
                  <a:lnTo>
                    <a:pt x="8832438" y="5252477"/>
                  </a:lnTo>
                  <a:cubicBezTo>
                    <a:pt x="8641462" y="5246476"/>
                    <a:pt x="8452391" y="5236666"/>
                    <a:pt x="8262653" y="5225045"/>
                  </a:cubicBezTo>
                  <a:cubicBezTo>
                    <a:pt x="8073106" y="5213329"/>
                    <a:pt x="7883749" y="5199518"/>
                    <a:pt x="7694582" y="5183516"/>
                  </a:cubicBezTo>
                  <a:cubicBezTo>
                    <a:pt x="7316249" y="5151417"/>
                    <a:pt x="6938488" y="5111031"/>
                    <a:pt x="6561964" y="5059691"/>
                  </a:cubicBezTo>
                  <a:cubicBezTo>
                    <a:pt x="6185537" y="5008256"/>
                    <a:pt x="5810251" y="4946153"/>
                    <a:pt x="5438014" y="4866429"/>
                  </a:cubicBezTo>
                  <a:cubicBezTo>
                    <a:pt x="5251896" y="4826519"/>
                    <a:pt x="5066634" y="4782228"/>
                    <a:pt x="4882802" y="4731555"/>
                  </a:cubicBezTo>
                  <a:cubicBezTo>
                    <a:pt x="4699065" y="4680691"/>
                    <a:pt x="4516566" y="4624017"/>
                    <a:pt x="4337210" y="4557057"/>
                  </a:cubicBezTo>
                  <a:cubicBezTo>
                    <a:pt x="4247580" y="4523529"/>
                    <a:pt x="4158616" y="4487810"/>
                    <a:pt x="4070986" y="4448472"/>
                  </a:cubicBezTo>
                  <a:cubicBezTo>
                    <a:pt x="3983356" y="4409324"/>
                    <a:pt x="3896964" y="4366747"/>
                    <a:pt x="3812668" y="4319598"/>
                  </a:cubicBezTo>
                  <a:cubicBezTo>
                    <a:pt x="3770568" y="4295976"/>
                    <a:pt x="3728848" y="4271497"/>
                    <a:pt x="3688081" y="4245208"/>
                  </a:cubicBezTo>
                  <a:cubicBezTo>
                    <a:pt x="3647219" y="4219110"/>
                    <a:pt x="3607023" y="4191773"/>
                    <a:pt x="3568066" y="4162531"/>
                  </a:cubicBezTo>
                  <a:cubicBezTo>
                    <a:pt x="3489866" y="4104429"/>
                    <a:pt x="3415761" y="4039278"/>
                    <a:pt x="3349848" y="3965363"/>
                  </a:cubicBezTo>
                  <a:cubicBezTo>
                    <a:pt x="3284031" y="3891449"/>
                    <a:pt x="3227071" y="3807248"/>
                    <a:pt x="3187352" y="3714094"/>
                  </a:cubicBezTo>
                  <a:cubicBezTo>
                    <a:pt x="3147442" y="3620939"/>
                    <a:pt x="3126773" y="3519117"/>
                    <a:pt x="3127916" y="3417295"/>
                  </a:cubicBezTo>
                  <a:cubicBezTo>
                    <a:pt x="3128297" y="3364717"/>
                    <a:pt x="3138108" y="3311568"/>
                    <a:pt x="3156300" y="3261847"/>
                  </a:cubicBezTo>
                  <a:cubicBezTo>
                    <a:pt x="3174493" y="3212127"/>
                    <a:pt x="3201068" y="3166026"/>
                    <a:pt x="3232691" y="3125354"/>
                  </a:cubicBezTo>
                  <a:cubicBezTo>
                    <a:pt x="3296223" y="3043534"/>
                    <a:pt x="3376518" y="2981526"/>
                    <a:pt x="3459576" y="2929424"/>
                  </a:cubicBezTo>
                  <a:cubicBezTo>
                    <a:pt x="3543111" y="2877513"/>
                    <a:pt x="3630550" y="2835222"/>
                    <a:pt x="3719133" y="2797408"/>
                  </a:cubicBezTo>
                  <a:cubicBezTo>
                    <a:pt x="3807810" y="2759784"/>
                    <a:pt x="3897822" y="2726828"/>
                    <a:pt x="3988214" y="2696062"/>
                  </a:cubicBezTo>
                  <a:cubicBezTo>
                    <a:pt x="4169094" y="2634816"/>
                    <a:pt x="4351593" y="2582429"/>
                    <a:pt x="4532949" y="2528708"/>
                  </a:cubicBezTo>
                  <a:cubicBezTo>
                    <a:pt x="4714209" y="2474891"/>
                    <a:pt x="4894994" y="2420694"/>
                    <a:pt x="5069873" y="2354210"/>
                  </a:cubicBezTo>
                  <a:cubicBezTo>
                    <a:pt x="5157217" y="2320872"/>
                    <a:pt x="5243038" y="2284201"/>
                    <a:pt x="5324667" y="2241243"/>
                  </a:cubicBezTo>
                  <a:cubicBezTo>
                    <a:pt x="5406010" y="2198190"/>
                    <a:pt x="5483829" y="2148660"/>
                    <a:pt x="5547933" y="2087033"/>
                  </a:cubicBezTo>
                  <a:cubicBezTo>
                    <a:pt x="5579842" y="2056268"/>
                    <a:pt x="5608226" y="2022549"/>
                    <a:pt x="5629943" y="1985592"/>
                  </a:cubicBezTo>
                  <a:cubicBezTo>
                    <a:pt x="5651851" y="1948730"/>
                    <a:pt x="5667090" y="1908821"/>
                    <a:pt x="5674329" y="1867196"/>
                  </a:cubicBezTo>
                  <a:cubicBezTo>
                    <a:pt x="5678044" y="1846527"/>
                    <a:pt x="5679759" y="1824905"/>
                    <a:pt x="5679663" y="1804141"/>
                  </a:cubicBezTo>
                  <a:cubicBezTo>
                    <a:pt x="5679473" y="1784805"/>
                    <a:pt x="5676139" y="1765946"/>
                    <a:pt x="5669567" y="1748134"/>
                  </a:cubicBezTo>
                  <a:cubicBezTo>
                    <a:pt x="5656518" y="1712415"/>
                    <a:pt x="5630324" y="1680316"/>
                    <a:pt x="5597272" y="1653551"/>
                  </a:cubicBezTo>
                  <a:cubicBezTo>
                    <a:pt x="5564316" y="1626690"/>
                    <a:pt x="5525359" y="1604592"/>
                    <a:pt x="5484592" y="1585733"/>
                  </a:cubicBezTo>
                  <a:cubicBezTo>
                    <a:pt x="5443634" y="1566873"/>
                    <a:pt x="5400581" y="1551157"/>
                    <a:pt x="5356576" y="1537536"/>
                  </a:cubicBezTo>
                  <a:cubicBezTo>
                    <a:pt x="5268565" y="1510199"/>
                    <a:pt x="5177125" y="1490673"/>
                    <a:pt x="5085018" y="1474671"/>
                  </a:cubicBezTo>
                  <a:cubicBezTo>
                    <a:pt x="4900518" y="1443143"/>
                    <a:pt x="4712590" y="1425808"/>
                    <a:pt x="4524567" y="1413330"/>
                  </a:cubicBezTo>
                  <a:cubicBezTo>
                    <a:pt x="4336353" y="1401138"/>
                    <a:pt x="4147567" y="1394661"/>
                    <a:pt x="3958591" y="1390661"/>
                  </a:cubicBezTo>
                  <a:cubicBezTo>
                    <a:pt x="3580639" y="1382850"/>
                    <a:pt x="3202021" y="1385422"/>
                    <a:pt x="2823211" y="1386089"/>
                  </a:cubicBezTo>
                  <a:cubicBezTo>
                    <a:pt x="2633759" y="1386374"/>
                    <a:pt x="2444307" y="1386374"/>
                    <a:pt x="2254664" y="1383707"/>
                  </a:cubicBezTo>
                  <a:cubicBezTo>
                    <a:pt x="2065021" y="1380850"/>
                    <a:pt x="1875188" y="1375992"/>
                    <a:pt x="1685259" y="1361705"/>
                  </a:cubicBezTo>
                  <a:cubicBezTo>
                    <a:pt x="1590295" y="1354275"/>
                    <a:pt x="1495236" y="1344750"/>
                    <a:pt x="1400462" y="1327986"/>
                  </a:cubicBezTo>
                  <a:cubicBezTo>
                    <a:pt x="1353123" y="1319414"/>
                    <a:pt x="1305688" y="1309222"/>
                    <a:pt x="1258730" y="1294172"/>
                  </a:cubicBezTo>
                  <a:cubicBezTo>
                    <a:pt x="1235298" y="1286648"/>
                    <a:pt x="1211867" y="1277789"/>
                    <a:pt x="1188912" y="1266359"/>
                  </a:cubicBezTo>
                  <a:cubicBezTo>
                    <a:pt x="1166052" y="1254834"/>
                    <a:pt x="1143192" y="1240832"/>
                    <a:pt x="1123380" y="1219592"/>
                  </a:cubicBezTo>
                  <a:cubicBezTo>
                    <a:pt x="1113569" y="1208924"/>
                    <a:pt x="1104806" y="1196160"/>
                    <a:pt x="1098996" y="1181301"/>
                  </a:cubicBezTo>
                  <a:cubicBezTo>
                    <a:pt x="1096138" y="1173967"/>
                    <a:pt x="1094138" y="1165871"/>
                    <a:pt x="1092995" y="1158441"/>
                  </a:cubicBezTo>
                  <a:cubicBezTo>
                    <a:pt x="1092042" y="1151774"/>
                    <a:pt x="1091376" y="1145011"/>
                    <a:pt x="1090899" y="1138153"/>
                  </a:cubicBezTo>
                  <a:cubicBezTo>
                    <a:pt x="1089375" y="1110911"/>
                    <a:pt x="1093757" y="1083289"/>
                    <a:pt x="1102806" y="1057952"/>
                  </a:cubicBezTo>
                  <a:cubicBezTo>
                    <a:pt x="1121094" y="1007089"/>
                    <a:pt x="1154622" y="966512"/>
                    <a:pt x="1190436" y="932318"/>
                  </a:cubicBezTo>
                  <a:cubicBezTo>
                    <a:pt x="1226726" y="898123"/>
                    <a:pt x="1266445" y="869453"/>
                    <a:pt x="1307212" y="843354"/>
                  </a:cubicBezTo>
                  <a:cubicBezTo>
                    <a:pt x="1347979" y="817256"/>
                    <a:pt x="1390080" y="793919"/>
                    <a:pt x="1432466" y="771821"/>
                  </a:cubicBezTo>
                  <a:cubicBezTo>
                    <a:pt x="1602678" y="684096"/>
                    <a:pt x="1779747" y="615516"/>
                    <a:pt x="1950531" y="536078"/>
                  </a:cubicBezTo>
                  <a:cubicBezTo>
                    <a:pt x="1993203" y="516266"/>
                    <a:pt x="2035398" y="495692"/>
                    <a:pt x="2076546" y="473594"/>
                  </a:cubicBezTo>
                  <a:cubicBezTo>
                    <a:pt x="2117599" y="451400"/>
                    <a:pt x="2157699" y="427874"/>
                    <a:pt x="2194561" y="400823"/>
                  </a:cubicBezTo>
                  <a:cubicBezTo>
                    <a:pt x="2212944" y="387297"/>
                    <a:pt x="2230375" y="372914"/>
                    <a:pt x="2245996" y="357293"/>
                  </a:cubicBezTo>
                  <a:cubicBezTo>
                    <a:pt x="2261522" y="341672"/>
                    <a:pt x="2275238" y="324718"/>
                    <a:pt x="2284668" y="306525"/>
                  </a:cubicBezTo>
                  <a:cubicBezTo>
                    <a:pt x="2289430" y="297476"/>
                    <a:pt x="2292954" y="288142"/>
                    <a:pt x="2295145" y="278712"/>
                  </a:cubicBezTo>
                  <a:cubicBezTo>
                    <a:pt x="2296288" y="273950"/>
                    <a:pt x="2296955" y="269187"/>
                    <a:pt x="2297336" y="264425"/>
                  </a:cubicBezTo>
                  <a:cubicBezTo>
                    <a:pt x="2297527" y="262043"/>
                    <a:pt x="2297527" y="259567"/>
                    <a:pt x="2297622" y="257376"/>
                  </a:cubicBezTo>
                  <a:cubicBezTo>
                    <a:pt x="2297622" y="256138"/>
                    <a:pt x="2297431" y="254900"/>
                    <a:pt x="2297145" y="253661"/>
                  </a:cubicBezTo>
                  <a:cubicBezTo>
                    <a:pt x="2296098" y="248708"/>
                    <a:pt x="2291621" y="242041"/>
                    <a:pt x="2284763" y="235850"/>
                  </a:cubicBezTo>
                  <a:cubicBezTo>
                    <a:pt x="2277905" y="229563"/>
                    <a:pt x="2269142" y="223848"/>
                    <a:pt x="2259807" y="218609"/>
                  </a:cubicBezTo>
                  <a:cubicBezTo>
                    <a:pt x="2240948" y="208132"/>
                    <a:pt x="2219802" y="199750"/>
                    <a:pt x="2198181" y="192320"/>
                  </a:cubicBezTo>
                  <a:cubicBezTo>
                    <a:pt x="2176559" y="184891"/>
                    <a:pt x="2154270" y="178509"/>
                    <a:pt x="2131696" y="172794"/>
                  </a:cubicBezTo>
                  <a:cubicBezTo>
                    <a:pt x="2086643" y="161269"/>
                    <a:pt x="2040637" y="152125"/>
                    <a:pt x="1994346" y="143933"/>
                  </a:cubicBezTo>
                  <a:cubicBezTo>
                    <a:pt x="1901763" y="127741"/>
                    <a:pt x="1808132" y="115835"/>
                    <a:pt x="1714311" y="105643"/>
                  </a:cubicBezTo>
                  <a:cubicBezTo>
                    <a:pt x="1526573" y="85450"/>
                    <a:pt x="1337787" y="72305"/>
                    <a:pt x="1149002" y="61733"/>
                  </a:cubicBezTo>
                  <a:cubicBezTo>
                    <a:pt x="960121" y="51350"/>
                    <a:pt x="771050" y="43921"/>
                    <a:pt x="581883" y="38396"/>
                  </a:cubicBezTo>
                  <a:cubicBezTo>
                    <a:pt x="392431" y="32777"/>
                    <a:pt x="203074" y="29062"/>
                    <a:pt x="13908" y="27919"/>
                  </a:cubicBezTo>
                  <a:lnTo>
                    <a:pt x="13812" y="27919"/>
                  </a:lnTo>
                  <a:cubicBezTo>
                    <a:pt x="6192" y="27824"/>
                    <a:pt x="-94" y="21537"/>
                    <a:pt x="1" y="13822"/>
                  </a:cubicBezTo>
                  <a:cubicBezTo>
                    <a:pt x="96" y="6202"/>
                    <a:pt x="6288" y="11"/>
                    <a:pt x="13908" y="11"/>
                  </a:cubicBezTo>
                  <a:close/>
                </a:path>
              </a:pathLst>
            </a:custGeom>
            <a:gradFill>
              <a:gsLst>
                <a:gs pos="20000">
                  <a:schemeClr val="tx1">
                    <a:lumMod val="50000"/>
                    <a:lumOff val="50000"/>
                    <a:alpha val="39000"/>
                  </a:schemeClr>
                </a:gs>
                <a:gs pos="100000">
                  <a:schemeClr val="tx1">
                    <a:lumMod val="50000"/>
                    <a:lumOff val="50000"/>
                  </a:schemeClr>
                </a:gs>
              </a:gsLst>
              <a:lin ang="2700000" scaled="1"/>
            </a:gradFill>
            <a:ln w="9525" cap="flat">
              <a:noFill/>
              <a:prstDash val="solid"/>
              <a:miter/>
            </a:ln>
          </p:spPr>
          <p:txBody>
            <a:bodyPr rtlCol="0" anchor="ctr"/>
            <a:lstStyle/>
            <a:p>
              <a:endParaRPr lang="zh-CN" altLang="en-US"/>
            </a:p>
          </p:txBody>
        </p:sp>
        <p:cxnSp>
          <p:nvCxnSpPr>
            <p:cNvPr id="21" name="ïšlïde">
              <a:extLst>
                <a:ext uri="{FF2B5EF4-FFF2-40B4-BE49-F238E27FC236}">
                  <a16:creationId xmlns:a16="http://schemas.microsoft.com/office/drawing/2014/main" id="{8C765AA1-F6E8-30A8-9EB5-6F73ADB69396}"/>
                </a:ext>
              </a:extLst>
            </p:cNvPr>
            <p:cNvCxnSpPr/>
            <p:nvPr/>
          </p:nvCxnSpPr>
          <p:spPr>
            <a:xfrm>
              <a:off x="9925503" y="4520881"/>
              <a:ext cx="0" cy="57150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iṧḻiďê">
              <a:extLst>
                <a:ext uri="{FF2B5EF4-FFF2-40B4-BE49-F238E27FC236}">
                  <a16:creationId xmlns:a16="http://schemas.microsoft.com/office/drawing/2014/main" id="{352D0982-3751-57A9-9074-2BCEDB6CA779}"/>
                </a:ext>
              </a:extLst>
            </p:cNvPr>
            <p:cNvCxnSpPr/>
            <p:nvPr/>
          </p:nvCxnSpPr>
          <p:spPr>
            <a:xfrm>
              <a:off x="6275389" y="3335202"/>
              <a:ext cx="0" cy="5715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íṧļïḋé">
              <a:extLst>
                <a:ext uri="{FF2B5EF4-FFF2-40B4-BE49-F238E27FC236}">
                  <a16:creationId xmlns:a16="http://schemas.microsoft.com/office/drawing/2014/main" id="{4E90D055-513D-3243-D3C3-15C2F97C1821}"/>
                </a:ext>
              </a:extLst>
            </p:cNvPr>
            <p:cNvCxnSpPr>
              <a:cxnSpLocks/>
            </p:cNvCxnSpPr>
            <p:nvPr/>
          </p:nvCxnSpPr>
          <p:spPr>
            <a:xfrm>
              <a:off x="7853364" y="2527300"/>
              <a:ext cx="0" cy="382452"/>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îśľïďé">
              <a:extLst>
                <a:ext uri="{FF2B5EF4-FFF2-40B4-BE49-F238E27FC236}">
                  <a16:creationId xmlns:a16="http://schemas.microsoft.com/office/drawing/2014/main" id="{050EC7AC-DF15-B715-FE96-B7687566E2EA}"/>
                </a:ext>
              </a:extLst>
            </p:cNvPr>
            <p:cNvCxnSpPr>
              <a:cxnSpLocks/>
            </p:cNvCxnSpPr>
            <p:nvPr/>
          </p:nvCxnSpPr>
          <p:spPr>
            <a:xfrm>
              <a:off x="4935539" y="2335348"/>
              <a:ext cx="0" cy="191952"/>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ï$ľíḓê">
              <a:extLst>
                <a:ext uri="{FF2B5EF4-FFF2-40B4-BE49-F238E27FC236}">
                  <a16:creationId xmlns:a16="http://schemas.microsoft.com/office/drawing/2014/main" id="{3A948E24-9DBB-370B-4924-2C5F59D97EAD}"/>
                </a:ext>
              </a:extLst>
            </p:cNvPr>
            <p:cNvCxnSpPr>
              <a:cxnSpLocks/>
            </p:cNvCxnSpPr>
            <p:nvPr/>
          </p:nvCxnSpPr>
          <p:spPr>
            <a:xfrm>
              <a:off x="5703889" y="1793278"/>
              <a:ext cx="0" cy="191952"/>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ïṣ1îḓê">
              <a:extLst>
                <a:ext uri="{FF2B5EF4-FFF2-40B4-BE49-F238E27FC236}">
                  <a16:creationId xmlns:a16="http://schemas.microsoft.com/office/drawing/2014/main" id="{EABB64C5-49AE-D06C-A5A6-B2D9637EC292}"/>
                </a:ext>
              </a:extLst>
            </p:cNvPr>
            <p:cNvCxnSpPr>
              <a:cxnSpLocks/>
            </p:cNvCxnSpPr>
            <p:nvPr/>
          </p:nvCxnSpPr>
          <p:spPr>
            <a:xfrm>
              <a:off x="4251292" y="1605966"/>
              <a:ext cx="0" cy="153432"/>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7" name="îṣ1ïḍê">
              <a:extLst>
                <a:ext uri="{FF2B5EF4-FFF2-40B4-BE49-F238E27FC236}">
                  <a16:creationId xmlns:a16="http://schemas.microsoft.com/office/drawing/2014/main" id="{A9016D7D-128F-8C27-16DE-B73EC01E13DC}"/>
                </a:ext>
              </a:extLst>
            </p:cNvPr>
            <p:cNvGrpSpPr/>
            <p:nvPr/>
          </p:nvGrpSpPr>
          <p:grpSpPr>
            <a:xfrm>
              <a:off x="9537516" y="3518872"/>
              <a:ext cx="775974" cy="898460"/>
              <a:chOff x="5138527" y="2657956"/>
              <a:chExt cx="526565" cy="609685"/>
            </a:xfrm>
          </p:grpSpPr>
          <p:sp>
            <p:nvSpPr>
              <p:cNvPr id="75" name="í$1îḓe">
                <a:extLst>
                  <a:ext uri="{FF2B5EF4-FFF2-40B4-BE49-F238E27FC236}">
                    <a16:creationId xmlns:a16="http://schemas.microsoft.com/office/drawing/2014/main" id="{FEEA50C8-27F5-F13D-5C06-0FE776631B6E}"/>
                  </a:ext>
                </a:extLst>
              </p:cNvPr>
              <p:cNvSpPr/>
              <p:nvPr/>
            </p:nvSpPr>
            <p:spPr>
              <a:xfrm>
                <a:off x="5138527" y="2657956"/>
                <a:ext cx="526565" cy="609685"/>
              </a:xfrm>
              <a:custGeom>
                <a:avLst/>
                <a:gdLst>
                  <a:gd name="T0" fmla="*/ 7473 w 7919"/>
                  <a:gd name="T1" fmla="*/ 2050 h 9167"/>
                  <a:gd name="T2" fmla="*/ 7341 w 7919"/>
                  <a:gd name="T3" fmla="*/ 1833 h 9167"/>
                  <a:gd name="T4" fmla="*/ 6216 w 7919"/>
                  <a:gd name="T5" fmla="*/ 678 h 9167"/>
                  <a:gd name="T6" fmla="*/ 6185 w 7919"/>
                  <a:gd name="T7" fmla="*/ 656 h 9167"/>
                  <a:gd name="T8" fmla="*/ 6100 w 7919"/>
                  <a:gd name="T9" fmla="*/ 605 h 9167"/>
                  <a:gd name="T10" fmla="*/ 6081 w 7919"/>
                  <a:gd name="T11" fmla="*/ 594 h 9167"/>
                  <a:gd name="T12" fmla="*/ 3960 w 7919"/>
                  <a:gd name="T13" fmla="*/ 0 h 9167"/>
                  <a:gd name="T14" fmla="*/ 0 w 7919"/>
                  <a:gd name="T15" fmla="*/ 3793 h 9167"/>
                  <a:gd name="T16" fmla="*/ 1013 w 7919"/>
                  <a:gd name="T17" fmla="*/ 6320 h 9167"/>
                  <a:gd name="T18" fmla="*/ 1061 w 7919"/>
                  <a:gd name="T19" fmla="*/ 6388 h 9167"/>
                  <a:gd name="T20" fmla="*/ 3658 w 7919"/>
                  <a:gd name="T21" fmla="*/ 8993 h 9167"/>
                  <a:gd name="T22" fmla="*/ 3675 w 7919"/>
                  <a:gd name="T23" fmla="*/ 9016 h 9167"/>
                  <a:gd name="T24" fmla="*/ 3806 w 7919"/>
                  <a:gd name="T25" fmla="*/ 9100 h 9167"/>
                  <a:gd name="T26" fmla="*/ 4254 w 7919"/>
                  <a:gd name="T27" fmla="*/ 9029 h 9167"/>
                  <a:gd name="T28" fmla="*/ 4323 w 7919"/>
                  <a:gd name="T29" fmla="*/ 8928 h 9167"/>
                  <a:gd name="T30" fmla="*/ 6855 w 7919"/>
                  <a:gd name="T31" fmla="*/ 6390 h 9167"/>
                  <a:gd name="T32" fmla="*/ 6892 w 7919"/>
                  <a:gd name="T33" fmla="*/ 6337 h 9167"/>
                  <a:gd name="T34" fmla="*/ 7919 w 7919"/>
                  <a:gd name="T35" fmla="*/ 3794 h 9167"/>
                  <a:gd name="T36" fmla="*/ 7473 w 7919"/>
                  <a:gd name="T37" fmla="*/ 2050 h 9167"/>
                  <a:gd name="T38" fmla="*/ 3957 w 7919"/>
                  <a:gd name="T39" fmla="*/ 5349 h 9167"/>
                  <a:gd name="T40" fmla="*/ 2357 w 7919"/>
                  <a:gd name="T41" fmla="*/ 3816 h 9167"/>
                  <a:gd name="T42" fmla="*/ 3957 w 7919"/>
                  <a:gd name="T43" fmla="*/ 2283 h 9167"/>
                  <a:gd name="T44" fmla="*/ 5558 w 7919"/>
                  <a:gd name="T45" fmla="*/ 3816 h 9167"/>
                  <a:gd name="T46" fmla="*/ 3957 w 7919"/>
                  <a:gd name="T47" fmla="*/ 5349 h 9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919" h="9167">
                    <a:moveTo>
                      <a:pt x="7473" y="2050"/>
                    </a:moveTo>
                    <a:cubicBezTo>
                      <a:pt x="7454" y="1962"/>
                      <a:pt x="7409" y="1887"/>
                      <a:pt x="7341" y="1833"/>
                    </a:cubicBezTo>
                    <a:cubicBezTo>
                      <a:pt x="7052" y="1378"/>
                      <a:pt x="6672" y="981"/>
                      <a:pt x="6216" y="678"/>
                    </a:cubicBezTo>
                    <a:cubicBezTo>
                      <a:pt x="6206" y="669"/>
                      <a:pt x="6195" y="664"/>
                      <a:pt x="6185" y="656"/>
                    </a:cubicBezTo>
                    <a:cubicBezTo>
                      <a:pt x="6158" y="638"/>
                      <a:pt x="6129" y="622"/>
                      <a:pt x="6100" y="605"/>
                    </a:cubicBezTo>
                    <a:cubicBezTo>
                      <a:pt x="6093" y="602"/>
                      <a:pt x="6088" y="597"/>
                      <a:pt x="6081" y="594"/>
                    </a:cubicBezTo>
                    <a:cubicBezTo>
                      <a:pt x="5468" y="220"/>
                      <a:pt x="4742" y="0"/>
                      <a:pt x="3960" y="0"/>
                    </a:cubicBezTo>
                    <a:cubicBezTo>
                      <a:pt x="1773" y="0"/>
                      <a:pt x="0" y="1697"/>
                      <a:pt x="0" y="3793"/>
                    </a:cubicBezTo>
                    <a:cubicBezTo>
                      <a:pt x="0" y="4766"/>
                      <a:pt x="385" y="5649"/>
                      <a:pt x="1013" y="6320"/>
                    </a:cubicBezTo>
                    <a:cubicBezTo>
                      <a:pt x="1029" y="6342"/>
                      <a:pt x="1039" y="6368"/>
                      <a:pt x="1061" y="6388"/>
                    </a:cubicBezTo>
                    <a:lnTo>
                      <a:pt x="3658" y="8993"/>
                    </a:lnTo>
                    <a:cubicBezTo>
                      <a:pt x="3665" y="9000"/>
                      <a:pt x="3668" y="9010"/>
                      <a:pt x="3675" y="9016"/>
                    </a:cubicBezTo>
                    <a:cubicBezTo>
                      <a:pt x="3714" y="9054"/>
                      <a:pt x="3758" y="9081"/>
                      <a:pt x="3806" y="9100"/>
                    </a:cubicBezTo>
                    <a:cubicBezTo>
                      <a:pt x="3952" y="9167"/>
                      <a:pt x="4132" y="9145"/>
                      <a:pt x="4254" y="9029"/>
                    </a:cubicBezTo>
                    <a:cubicBezTo>
                      <a:pt x="4285" y="8999"/>
                      <a:pt x="4305" y="8963"/>
                      <a:pt x="4323" y="8928"/>
                    </a:cubicBezTo>
                    <a:lnTo>
                      <a:pt x="6855" y="6390"/>
                    </a:lnTo>
                    <a:cubicBezTo>
                      <a:pt x="6872" y="6373"/>
                      <a:pt x="6879" y="6354"/>
                      <a:pt x="6892" y="6337"/>
                    </a:cubicBezTo>
                    <a:cubicBezTo>
                      <a:pt x="7528" y="5664"/>
                      <a:pt x="7919" y="4774"/>
                      <a:pt x="7919" y="3794"/>
                    </a:cubicBezTo>
                    <a:cubicBezTo>
                      <a:pt x="7919" y="3164"/>
                      <a:pt x="7757" y="2572"/>
                      <a:pt x="7473" y="2050"/>
                    </a:cubicBezTo>
                    <a:close/>
                    <a:moveTo>
                      <a:pt x="3957" y="5349"/>
                    </a:moveTo>
                    <a:cubicBezTo>
                      <a:pt x="3074" y="5349"/>
                      <a:pt x="2357" y="4663"/>
                      <a:pt x="2357" y="3816"/>
                    </a:cubicBezTo>
                    <a:cubicBezTo>
                      <a:pt x="2357" y="2969"/>
                      <a:pt x="3074" y="2283"/>
                      <a:pt x="3957" y="2283"/>
                    </a:cubicBezTo>
                    <a:cubicBezTo>
                      <a:pt x="4842" y="2283"/>
                      <a:pt x="5558" y="2969"/>
                      <a:pt x="5558" y="3816"/>
                    </a:cubicBezTo>
                    <a:cubicBezTo>
                      <a:pt x="5558" y="4661"/>
                      <a:pt x="4841" y="5349"/>
                      <a:pt x="3957" y="5349"/>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6" name="îṩḻîde">
                <a:extLst>
                  <a:ext uri="{FF2B5EF4-FFF2-40B4-BE49-F238E27FC236}">
                    <a16:creationId xmlns:a16="http://schemas.microsoft.com/office/drawing/2014/main" id="{6E390D71-DD20-95CD-509D-B1BDC205CF7E}"/>
                  </a:ext>
                </a:extLst>
              </p:cNvPr>
              <p:cNvSpPr/>
              <p:nvPr/>
            </p:nvSpPr>
            <p:spPr>
              <a:xfrm>
                <a:off x="5230103" y="2740463"/>
                <a:ext cx="343412" cy="343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2000" b="1" dirty="0">
                    <a:solidFill>
                      <a:schemeClr val="accent1"/>
                    </a:solidFill>
                  </a:rPr>
                  <a:t>01</a:t>
                </a:r>
                <a:endParaRPr lang="zh-CN" altLang="en-US" sz="2000" b="1" dirty="0">
                  <a:solidFill>
                    <a:schemeClr val="accent1"/>
                  </a:solidFill>
                </a:endParaRPr>
              </a:p>
            </p:txBody>
          </p:sp>
        </p:grpSp>
        <p:grpSp>
          <p:nvGrpSpPr>
            <p:cNvPr id="28" name="ïṧḷîdê">
              <a:extLst>
                <a:ext uri="{FF2B5EF4-FFF2-40B4-BE49-F238E27FC236}">
                  <a16:creationId xmlns:a16="http://schemas.microsoft.com/office/drawing/2014/main" id="{78986EA6-CF06-7B48-D883-88E0C3D655B9}"/>
                </a:ext>
              </a:extLst>
            </p:cNvPr>
            <p:cNvGrpSpPr/>
            <p:nvPr/>
          </p:nvGrpSpPr>
          <p:grpSpPr>
            <a:xfrm>
              <a:off x="6015003" y="2664117"/>
              <a:ext cx="526565" cy="609685"/>
              <a:chOff x="5138527" y="2657956"/>
              <a:chExt cx="526565" cy="609685"/>
            </a:xfrm>
          </p:grpSpPr>
          <p:sp>
            <p:nvSpPr>
              <p:cNvPr id="73" name="îṣḻídé">
                <a:extLst>
                  <a:ext uri="{FF2B5EF4-FFF2-40B4-BE49-F238E27FC236}">
                    <a16:creationId xmlns:a16="http://schemas.microsoft.com/office/drawing/2014/main" id="{381BAC57-1984-A498-9FFA-17D6FBF26B14}"/>
                  </a:ext>
                </a:extLst>
              </p:cNvPr>
              <p:cNvSpPr/>
              <p:nvPr/>
            </p:nvSpPr>
            <p:spPr>
              <a:xfrm>
                <a:off x="5138527" y="2657956"/>
                <a:ext cx="526565" cy="609685"/>
              </a:xfrm>
              <a:custGeom>
                <a:avLst/>
                <a:gdLst>
                  <a:gd name="T0" fmla="*/ 7473 w 7919"/>
                  <a:gd name="T1" fmla="*/ 2050 h 9167"/>
                  <a:gd name="T2" fmla="*/ 7341 w 7919"/>
                  <a:gd name="T3" fmla="*/ 1833 h 9167"/>
                  <a:gd name="T4" fmla="*/ 6216 w 7919"/>
                  <a:gd name="T5" fmla="*/ 678 h 9167"/>
                  <a:gd name="T6" fmla="*/ 6185 w 7919"/>
                  <a:gd name="T7" fmla="*/ 656 h 9167"/>
                  <a:gd name="T8" fmla="*/ 6100 w 7919"/>
                  <a:gd name="T9" fmla="*/ 605 h 9167"/>
                  <a:gd name="T10" fmla="*/ 6081 w 7919"/>
                  <a:gd name="T11" fmla="*/ 594 h 9167"/>
                  <a:gd name="T12" fmla="*/ 3960 w 7919"/>
                  <a:gd name="T13" fmla="*/ 0 h 9167"/>
                  <a:gd name="T14" fmla="*/ 0 w 7919"/>
                  <a:gd name="T15" fmla="*/ 3793 h 9167"/>
                  <a:gd name="T16" fmla="*/ 1013 w 7919"/>
                  <a:gd name="T17" fmla="*/ 6320 h 9167"/>
                  <a:gd name="T18" fmla="*/ 1061 w 7919"/>
                  <a:gd name="T19" fmla="*/ 6388 h 9167"/>
                  <a:gd name="T20" fmla="*/ 3658 w 7919"/>
                  <a:gd name="T21" fmla="*/ 8993 h 9167"/>
                  <a:gd name="T22" fmla="*/ 3675 w 7919"/>
                  <a:gd name="T23" fmla="*/ 9016 h 9167"/>
                  <a:gd name="T24" fmla="*/ 3806 w 7919"/>
                  <a:gd name="T25" fmla="*/ 9100 h 9167"/>
                  <a:gd name="T26" fmla="*/ 4254 w 7919"/>
                  <a:gd name="T27" fmla="*/ 9029 h 9167"/>
                  <a:gd name="T28" fmla="*/ 4323 w 7919"/>
                  <a:gd name="T29" fmla="*/ 8928 h 9167"/>
                  <a:gd name="T30" fmla="*/ 6855 w 7919"/>
                  <a:gd name="T31" fmla="*/ 6390 h 9167"/>
                  <a:gd name="T32" fmla="*/ 6892 w 7919"/>
                  <a:gd name="T33" fmla="*/ 6337 h 9167"/>
                  <a:gd name="T34" fmla="*/ 7919 w 7919"/>
                  <a:gd name="T35" fmla="*/ 3794 h 9167"/>
                  <a:gd name="T36" fmla="*/ 7473 w 7919"/>
                  <a:gd name="T37" fmla="*/ 2050 h 9167"/>
                  <a:gd name="T38" fmla="*/ 3957 w 7919"/>
                  <a:gd name="T39" fmla="*/ 5349 h 9167"/>
                  <a:gd name="T40" fmla="*/ 2357 w 7919"/>
                  <a:gd name="T41" fmla="*/ 3816 h 9167"/>
                  <a:gd name="T42" fmla="*/ 3957 w 7919"/>
                  <a:gd name="T43" fmla="*/ 2283 h 9167"/>
                  <a:gd name="T44" fmla="*/ 5558 w 7919"/>
                  <a:gd name="T45" fmla="*/ 3816 h 9167"/>
                  <a:gd name="T46" fmla="*/ 3957 w 7919"/>
                  <a:gd name="T47" fmla="*/ 5349 h 9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919" h="9167">
                    <a:moveTo>
                      <a:pt x="7473" y="2050"/>
                    </a:moveTo>
                    <a:cubicBezTo>
                      <a:pt x="7454" y="1962"/>
                      <a:pt x="7409" y="1887"/>
                      <a:pt x="7341" y="1833"/>
                    </a:cubicBezTo>
                    <a:cubicBezTo>
                      <a:pt x="7052" y="1378"/>
                      <a:pt x="6672" y="981"/>
                      <a:pt x="6216" y="678"/>
                    </a:cubicBezTo>
                    <a:cubicBezTo>
                      <a:pt x="6206" y="669"/>
                      <a:pt x="6195" y="664"/>
                      <a:pt x="6185" y="656"/>
                    </a:cubicBezTo>
                    <a:cubicBezTo>
                      <a:pt x="6158" y="638"/>
                      <a:pt x="6129" y="622"/>
                      <a:pt x="6100" y="605"/>
                    </a:cubicBezTo>
                    <a:cubicBezTo>
                      <a:pt x="6093" y="602"/>
                      <a:pt x="6088" y="597"/>
                      <a:pt x="6081" y="594"/>
                    </a:cubicBezTo>
                    <a:cubicBezTo>
                      <a:pt x="5468" y="220"/>
                      <a:pt x="4742" y="0"/>
                      <a:pt x="3960" y="0"/>
                    </a:cubicBezTo>
                    <a:cubicBezTo>
                      <a:pt x="1773" y="0"/>
                      <a:pt x="0" y="1697"/>
                      <a:pt x="0" y="3793"/>
                    </a:cubicBezTo>
                    <a:cubicBezTo>
                      <a:pt x="0" y="4766"/>
                      <a:pt x="385" y="5649"/>
                      <a:pt x="1013" y="6320"/>
                    </a:cubicBezTo>
                    <a:cubicBezTo>
                      <a:pt x="1029" y="6342"/>
                      <a:pt x="1039" y="6368"/>
                      <a:pt x="1061" y="6388"/>
                    </a:cubicBezTo>
                    <a:lnTo>
                      <a:pt x="3658" y="8993"/>
                    </a:lnTo>
                    <a:cubicBezTo>
                      <a:pt x="3665" y="9000"/>
                      <a:pt x="3668" y="9010"/>
                      <a:pt x="3675" y="9016"/>
                    </a:cubicBezTo>
                    <a:cubicBezTo>
                      <a:pt x="3714" y="9054"/>
                      <a:pt x="3758" y="9081"/>
                      <a:pt x="3806" y="9100"/>
                    </a:cubicBezTo>
                    <a:cubicBezTo>
                      <a:pt x="3952" y="9167"/>
                      <a:pt x="4132" y="9145"/>
                      <a:pt x="4254" y="9029"/>
                    </a:cubicBezTo>
                    <a:cubicBezTo>
                      <a:pt x="4285" y="8999"/>
                      <a:pt x="4305" y="8963"/>
                      <a:pt x="4323" y="8928"/>
                    </a:cubicBezTo>
                    <a:lnTo>
                      <a:pt x="6855" y="6390"/>
                    </a:lnTo>
                    <a:cubicBezTo>
                      <a:pt x="6872" y="6373"/>
                      <a:pt x="6879" y="6354"/>
                      <a:pt x="6892" y="6337"/>
                    </a:cubicBezTo>
                    <a:cubicBezTo>
                      <a:pt x="7528" y="5664"/>
                      <a:pt x="7919" y="4774"/>
                      <a:pt x="7919" y="3794"/>
                    </a:cubicBezTo>
                    <a:cubicBezTo>
                      <a:pt x="7919" y="3164"/>
                      <a:pt x="7757" y="2572"/>
                      <a:pt x="7473" y="2050"/>
                    </a:cubicBezTo>
                    <a:close/>
                    <a:moveTo>
                      <a:pt x="3957" y="5349"/>
                    </a:moveTo>
                    <a:cubicBezTo>
                      <a:pt x="3074" y="5349"/>
                      <a:pt x="2357" y="4663"/>
                      <a:pt x="2357" y="3816"/>
                    </a:cubicBezTo>
                    <a:cubicBezTo>
                      <a:pt x="2357" y="2969"/>
                      <a:pt x="3074" y="2283"/>
                      <a:pt x="3957" y="2283"/>
                    </a:cubicBezTo>
                    <a:cubicBezTo>
                      <a:pt x="4842" y="2283"/>
                      <a:pt x="5558" y="2969"/>
                      <a:pt x="5558" y="3816"/>
                    </a:cubicBezTo>
                    <a:cubicBezTo>
                      <a:pt x="5558" y="4661"/>
                      <a:pt x="4841" y="5349"/>
                      <a:pt x="3957" y="5349"/>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iṣ1iḓè">
                <a:extLst>
                  <a:ext uri="{FF2B5EF4-FFF2-40B4-BE49-F238E27FC236}">
                    <a16:creationId xmlns:a16="http://schemas.microsoft.com/office/drawing/2014/main" id="{E48BBB1A-8010-D84B-151A-F481E1EEF7BD}"/>
                  </a:ext>
                </a:extLst>
              </p:cNvPr>
              <p:cNvSpPr/>
              <p:nvPr/>
            </p:nvSpPr>
            <p:spPr>
              <a:xfrm>
                <a:off x="5230103" y="2740463"/>
                <a:ext cx="343412" cy="343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b="1" dirty="0">
                    <a:solidFill>
                      <a:schemeClr val="accent1"/>
                    </a:solidFill>
                  </a:rPr>
                  <a:t>02</a:t>
                </a:r>
                <a:endParaRPr lang="zh-CN" altLang="en-US" b="1" dirty="0">
                  <a:solidFill>
                    <a:schemeClr val="accent1"/>
                  </a:solidFill>
                </a:endParaRPr>
              </a:p>
            </p:txBody>
          </p:sp>
        </p:grpSp>
        <p:grpSp>
          <p:nvGrpSpPr>
            <p:cNvPr id="29" name="işľiďè">
              <a:extLst>
                <a:ext uri="{FF2B5EF4-FFF2-40B4-BE49-F238E27FC236}">
                  <a16:creationId xmlns:a16="http://schemas.microsoft.com/office/drawing/2014/main" id="{91FBE4AD-8EB2-85D7-2EA2-20FFD10D2B4B}"/>
                </a:ext>
              </a:extLst>
            </p:cNvPr>
            <p:cNvGrpSpPr/>
            <p:nvPr/>
          </p:nvGrpSpPr>
          <p:grpSpPr>
            <a:xfrm>
              <a:off x="7619548" y="1890334"/>
              <a:ext cx="467632" cy="541448"/>
              <a:chOff x="5138527" y="2657956"/>
              <a:chExt cx="526565" cy="609685"/>
            </a:xfrm>
          </p:grpSpPr>
          <p:sp>
            <p:nvSpPr>
              <p:cNvPr id="71" name="îslíḑé">
                <a:extLst>
                  <a:ext uri="{FF2B5EF4-FFF2-40B4-BE49-F238E27FC236}">
                    <a16:creationId xmlns:a16="http://schemas.microsoft.com/office/drawing/2014/main" id="{DD89C2DD-6E79-D253-7F09-8C1684AE483D}"/>
                  </a:ext>
                </a:extLst>
              </p:cNvPr>
              <p:cNvSpPr/>
              <p:nvPr/>
            </p:nvSpPr>
            <p:spPr>
              <a:xfrm>
                <a:off x="5138527" y="2657956"/>
                <a:ext cx="526565" cy="609685"/>
              </a:xfrm>
              <a:custGeom>
                <a:avLst/>
                <a:gdLst>
                  <a:gd name="T0" fmla="*/ 7473 w 7919"/>
                  <a:gd name="T1" fmla="*/ 2050 h 9167"/>
                  <a:gd name="T2" fmla="*/ 7341 w 7919"/>
                  <a:gd name="T3" fmla="*/ 1833 h 9167"/>
                  <a:gd name="T4" fmla="*/ 6216 w 7919"/>
                  <a:gd name="T5" fmla="*/ 678 h 9167"/>
                  <a:gd name="T6" fmla="*/ 6185 w 7919"/>
                  <a:gd name="T7" fmla="*/ 656 h 9167"/>
                  <a:gd name="T8" fmla="*/ 6100 w 7919"/>
                  <a:gd name="T9" fmla="*/ 605 h 9167"/>
                  <a:gd name="T10" fmla="*/ 6081 w 7919"/>
                  <a:gd name="T11" fmla="*/ 594 h 9167"/>
                  <a:gd name="T12" fmla="*/ 3960 w 7919"/>
                  <a:gd name="T13" fmla="*/ 0 h 9167"/>
                  <a:gd name="T14" fmla="*/ 0 w 7919"/>
                  <a:gd name="T15" fmla="*/ 3793 h 9167"/>
                  <a:gd name="T16" fmla="*/ 1013 w 7919"/>
                  <a:gd name="T17" fmla="*/ 6320 h 9167"/>
                  <a:gd name="T18" fmla="*/ 1061 w 7919"/>
                  <a:gd name="T19" fmla="*/ 6388 h 9167"/>
                  <a:gd name="T20" fmla="*/ 3658 w 7919"/>
                  <a:gd name="T21" fmla="*/ 8993 h 9167"/>
                  <a:gd name="T22" fmla="*/ 3675 w 7919"/>
                  <a:gd name="T23" fmla="*/ 9016 h 9167"/>
                  <a:gd name="T24" fmla="*/ 3806 w 7919"/>
                  <a:gd name="T25" fmla="*/ 9100 h 9167"/>
                  <a:gd name="T26" fmla="*/ 4254 w 7919"/>
                  <a:gd name="T27" fmla="*/ 9029 h 9167"/>
                  <a:gd name="T28" fmla="*/ 4323 w 7919"/>
                  <a:gd name="T29" fmla="*/ 8928 h 9167"/>
                  <a:gd name="T30" fmla="*/ 6855 w 7919"/>
                  <a:gd name="T31" fmla="*/ 6390 h 9167"/>
                  <a:gd name="T32" fmla="*/ 6892 w 7919"/>
                  <a:gd name="T33" fmla="*/ 6337 h 9167"/>
                  <a:gd name="T34" fmla="*/ 7919 w 7919"/>
                  <a:gd name="T35" fmla="*/ 3794 h 9167"/>
                  <a:gd name="T36" fmla="*/ 7473 w 7919"/>
                  <a:gd name="T37" fmla="*/ 2050 h 9167"/>
                  <a:gd name="T38" fmla="*/ 3957 w 7919"/>
                  <a:gd name="T39" fmla="*/ 5349 h 9167"/>
                  <a:gd name="T40" fmla="*/ 2357 w 7919"/>
                  <a:gd name="T41" fmla="*/ 3816 h 9167"/>
                  <a:gd name="T42" fmla="*/ 3957 w 7919"/>
                  <a:gd name="T43" fmla="*/ 2283 h 9167"/>
                  <a:gd name="T44" fmla="*/ 5558 w 7919"/>
                  <a:gd name="T45" fmla="*/ 3816 h 9167"/>
                  <a:gd name="T46" fmla="*/ 3957 w 7919"/>
                  <a:gd name="T47" fmla="*/ 5349 h 9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919" h="9167">
                    <a:moveTo>
                      <a:pt x="7473" y="2050"/>
                    </a:moveTo>
                    <a:cubicBezTo>
                      <a:pt x="7454" y="1962"/>
                      <a:pt x="7409" y="1887"/>
                      <a:pt x="7341" y="1833"/>
                    </a:cubicBezTo>
                    <a:cubicBezTo>
                      <a:pt x="7052" y="1378"/>
                      <a:pt x="6672" y="981"/>
                      <a:pt x="6216" y="678"/>
                    </a:cubicBezTo>
                    <a:cubicBezTo>
                      <a:pt x="6206" y="669"/>
                      <a:pt x="6195" y="664"/>
                      <a:pt x="6185" y="656"/>
                    </a:cubicBezTo>
                    <a:cubicBezTo>
                      <a:pt x="6158" y="638"/>
                      <a:pt x="6129" y="622"/>
                      <a:pt x="6100" y="605"/>
                    </a:cubicBezTo>
                    <a:cubicBezTo>
                      <a:pt x="6093" y="602"/>
                      <a:pt x="6088" y="597"/>
                      <a:pt x="6081" y="594"/>
                    </a:cubicBezTo>
                    <a:cubicBezTo>
                      <a:pt x="5468" y="220"/>
                      <a:pt x="4742" y="0"/>
                      <a:pt x="3960" y="0"/>
                    </a:cubicBezTo>
                    <a:cubicBezTo>
                      <a:pt x="1773" y="0"/>
                      <a:pt x="0" y="1697"/>
                      <a:pt x="0" y="3793"/>
                    </a:cubicBezTo>
                    <a:cubicBezTo>
                      <a:pt x="0" y="4766"/>
                      <a:pt x="385" y="5649"/>
                      <a:pt x="1013" y="6320"/>
                    </a:cubicBezTo>
                    <a:cubicBezTo>
                      <a:pt x="1029" y="6342"/>
                      <a:pt x="1039" y="6368"/>
                      <a:pt x="1061" y="6388"/>
                    </a:cubicBezTo>
                    <a:lnTo>
                      <a:pt x="3658" y="8993"/>
                    </a:lnTo>
                    <a:cubicBezTo>
                      <a:pt x="3665" y="9000"/>
                      <a:pt x="3668" y="9010"/>
                      <a:pt x="3675" y="9016"/>
                    </a:cubicBezTo>
                    <a:cubicBezTo>
                      <a:pt x="3714" y="9054"/>
                      <a:pt x="3758" y="9081"/>
                      <a:pt x="3806" y="9100"/>
                    </a:cubicBezTo>
                    <a:cubicBezTo>
                      <a:pt x="3952" y="9167"/>
                      <a:pt x="4132" y="9145"/>
                      <a:pt x="4254" y="9029"/>
                    </a:cubicBezTo>
                    <a:cubicBezTo>
                      <a:pt x="4285" y="8999"/>
                      <a:pt x="4305" y="8963"/>
                      <a:pt x="4323" y="8928"/>
                    </a:cubicBezTo>
                    <a:lnTo>
                      <a:pt x="6855" y="6390"/>
                    </a:lnTo>
                    <a:cubicBezTo>
                      <a:pt x="6872" y="6373"/>
                      <a:pt x="6879" y="6354"/>
                      <a:pt x="6892" y="6337"/>
                    </a:cubicBezTo>
                    <a:cubicBezTo>
                      <a:pt x="7528" y="5664"/>
                      <a:pt x="7919" y="4774"/>
                      <a:pt x="7919" y="3794"/>
                    </a:cubicBezTo>
                    <a:cubicBezTo>
                      <a:pt x="7919" y="3164"/>
                      <a:pt x="7757" y="2572"/>
                      <a:pt x="7473" y="2050"/>
                    </a:cubicBezTo>
                    <a:close/>
                    <a:moveTo>
                      <a:pt x="3957" y="5349"/>
                    </a:moveTo>
                    <a:cubicBezTo>
                      <a:pt x="3074" y="5349"/>
                      <a:pt x="2357" y="4663"/>
                      <a:pt x="2357" y="3816"/>
                    </a:cubicBezTo>
                    <a:cubicBezTo>
                      <a:pt x="2357" y="2969"/>
                      <a:pt x="3074" y="2283"/>
                      <a:pt x="3957" y="2283"/>
                    </a:cubicBezTo>
                    <a:cubicBezTo>
                      <a:pt x="4842" y="2283"/>
                      <a:pt x="5558" y="2969"/>
                      <a:pt x="5558" y="3816"/>
                    </a:cubicBezTo>
                    <a:cubicBezTo>
                      <a:pt x="5558" y="4661"/>
                      <a:pt x="4841" y="5349"/>
                      <a:pt x="3957" y="5349"/>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2" name="ïš1iḑè">
                <a:extLst>
                  <a:ext uri="{FF2B5EF4-FFF2-40B4-BE49-F238E27FC236}">
                    <a16:creationId xmlns:a16="http://schemas.microsoft.com/office/drawing/2014/main" id="{972ECE48-EF35-1574-D0D6-BED0FBFC9510}"/>
                  </a:ext>
                </a:extLst>
              </p:cNvPr>
              <p:cNvSpPr/>
              <p:nvPr/>
            </p:nvSpPr>
            <p:spPr>
              <a:xfrm>
                <a:off x="5230103" y="2740463"/>
                <a:ext cx="343412" cy="343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600" b="1" dirty="0">
                    <a:solidFill>
                      <a:schemeClr val="accent1"/>
                    </a:solidFill>
                  </a:rPr>
                  <a:t>03</a:t>
                </a:r>
                <a:endParaRPr lang="zh-CN" altLang="en-US" sz="1600" b="1" dirty="0">
                  <a:solidFill>
                    <a:schemeClr val="accent1"/>
                  </a:solidFill>
                </a:endParaRPr>
              </a:p>
            </p:txBody>
          </p:sp>
        </p:grpSp>
        <p:grpSp>
          <p:nvGrpSpPr>
            <p:cNvPr id="30" name="íṩľîdê">
              <a:extLst>
                <a:ext uri="{FF2B5EF4-FFF2-40B4-BE49-F238E27FC236}">
                  <a16:creationId xmlns:a16="http://schemas.microsoft.com/office/drawing/2014/main" id="{CE8D7347-B1D1-E360-5211-C677DA5A3149}"/>
                </a:ext>
              </a:extLst>
            </p:cNvPr>
            <p:cNvGrpSpPr/>
            <p:nvPr/>
          </p:nvGrpSpPr>
          <p:grpSpPr>
            <a:xfrm>
              <a:off x="5530399" y="1325308"/>
              <a:ext cx="346980" cy="401750"/>
              <a:chOff x="5138527" y="2657956"/>
              <a:chExt cx="526565" cy="609685"/>
            </a:xfrm>
          </p:grpSpPr>
          <p:sp>
            <p:nvSpPr>
              <p:cNvPr id="69" name="iṣ1idè">
                <a:extLst>
                  <a:ext uri="{FF2B5EF4-FFF2-40B4-BE49-F238E27FC236}">
                    <a16:creationId xmlns:a16="http://schemas.microsoft.com/office/drawing/2014/main" id="{DF9B9755-BED5-B569-3CBF-17E963652E1F}"/>
                  </a:ext>
                </a:extLst>
              </p:cNvPr>
              <p:cNvSpPr/>
              <p:nvPr/>
            </p:nvSpPr>
            <p:spPr>
              <a:xfrm>
                <a:off x="5138527" y="2657956"/>
                <a:ext cx="526565" cy="609685"/>
              </a:xfrm>
              <a:custGeom>
                <a:avLst/>
                <a:gdLst>
                  <a:gd name="T0" fmla="*/ 7473 w 7919"/>
                  <a:gd name="T1" fmla="*/ 2050 h 9167"/>
                  <a:gd name="T2" fmla="*/ 7341 w 7919"/>
                  <a:gd name="T3" fmla="*/ 1833 h 9167"/>
                  <a:gd name="T4" fmla="*/ 6216 w 7919"/>
                  <a:gd name="T5" fmla="*/ 678 h 9167"/>
                  <a:gd name="T6" fmla="*/ 6185 w 7919"/>
                  <a:gd name="T7" fmla="*/ 656 h 9167"/>
                  <a:gd name="T8" fmla="*/ 6100 w 7919"/>
                  <a:gd name="T9" fmla="*/ 605 h 9167"/>
                  <a:gd name="T10" fmla="*/ 6081 w 7919"/>
                  <a:gd name="T11" fmla="*/ 594 h 9167"/>
                  <a:gd name="T12" fmla="*/ 3960 w 7919"/>
                  <a:gd name="T13" fmla="*/ 0 h 9167"/>
                  <a:gd name="T14" fmla="*/ 0 w 7919"/>
                  <a:gd name="T15" fmla="*/ 3793 h 9167"/>
                  <a:gd name="T16" fmla="*/ 1013 w 7919"/>
                  <a:gd name="T17" fmla="*/ 6320 h 9167"/>
                  <a:gd name="T18" fmla="*/ 1061 w 7919"/>
                  <a:gd name="T19" fmla="*/ 6388 h 9167"/>
                  <a:gd name="T20" fmla="*/ 3658 w 7919"/>
                  <a:gd name="T21" fmla="*/ 8993 h 9167"/>
                  <a:gd name="T22" fmla="*/ 3675 w 7919"/>
                  <a:gd name="T23" fmla="*/ 9016 h 9167"/>
                  <a:gd name="T24" fmla="*/ 3806 w 7919"/>
                  <a:gd name="T25" fmla="*/ 9100 h 9167"/>
                  <a:gd name="T26" fmla="*/ 4254 w 7919"/>
                  <a:gd name="T27" fmla="*/ 9029 h 9167"/>
                  <a:gd name="T28" fmla="*/ 4323 w 7919"/>
                  <a:gd name="T29" fmla="*/ 8928 h 9167"/>
                  <a:gd name="T30" fmla="*/ 6855 w 7919"/>
                  <a:gd name="T31" fmla="*/ 6390 h 9167"/>
                  <a:gd name="T32" fmla="*/ 6892 w 7919"/>
                  <a:gd name="T33" fmla="*/ 6337 h 9167"/>
                  <a:gd name="T34" fmla="*/ 7919 w 7919"/>
                  <a:gd name="T35" fmla="*/ 3794 h 9167"/>
                  <a:gd name="T36" fmla="*/ 7473 w 7919"/>
                  <a:gd name="T37" fmla="*/ 2050 h 9167"/>
                  <a:gd name="T38" fmla="*/ 3957 w 7919"/>
                  <a:gd name="T39" fmla="*/ 5349 h 9167"/>
                  <a:gd name="T40" fmla="*/ 2357 w 7919"/>
                  <a:gd name="T41" fmla="*/ 3816 h 9167"/>
                  <a:gd name="T42" fmla="*/ 3957 w 7919"/>
                  <a:gd name="T43" fmla="*/ 2283 h 9167"/>
                  <a:gd name="T44" fmla="*/ 5558 w 7919"/>
                  <a:gd name="T45" fmla="*/ 3816 h 9167"/>
                  <a:gd name="T46" fmla="*/ 3957 w 7919"/>
                  <a:gd name="T47" fmla="*/ 5349 h 9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919" h="9167">
                    <a:moveTo>
                      <a:pt x="7473" y="2050"/>
                    </a:moveTo>
                    <a:cubicBezTo>
                      <a:pt x="7454" y="1962"/>
                      <a:pt x="7409" y="1887"/>
                      <a:pt x="7341" y="1833"/>
                    </a:cubicBezTo>
                    <a:cubicBezTo>
                      <a:pt x="7052" y="1378"/>
                      <a:pt x="6672" y="981"/>
                      <a:pt x="6216" y="678"/>
                    </a:cubicBezTo>
                    <a:cubicBezTo>
                      <a:pt x="6206" y="669"/>
                      <a:pt x="6195" y="664"/>
                      <a:pt x="6185" y="656"/>
                    </a:cubicBezTo>
                    <a:cubicBezTo>
                      <a:pt x="6158" y="638"/>
                      <a:pt x="6129" y="622"/>
                      <a:pt x="6100" y="605"/>
                    </a:cubicBezTo>
                    <a:cubicBezTo>
                      <a:pt x="6093" y="602"/>
                      <a:pt x="6088" y="597"/>
                      <a:pt x="6081" y="594"/>
                    </a:cubicBezTo>
                    <a:cubicBezTo>
                      <a:pt x="5468" y="220"/>
                      <a:pt x="4742" y="0"/>
                      <a:pt x="3960" y="0"/>
                    </a:cubicBezTo>
                    <a:cubicBezTo>
                      <a:pt x="1773" y="0"/>
                      <a:pt x="0" y="1697"/>
                      <a:pt x="0" y="3793"/>
                    </a:cubicBezTo>
                    <a:cubicBezTo>
                      <a:pt x="0" y="4766"/>
                      <a:pt x="385" y="5649"/>
                      <a:pt x="1013" y="6320"/>
                    </a:cubicBezTo>
                    <a:cubicBezTo>
                      <a:pt x="1029" y="6342"/>
                      <a:pt x="1039" y="6368"/>
                      <a:pt x="1061" y="6388"/>
                    </a:cubicBezTo>
                    <a:lnTo>
                      <a:pt x="3658" y="8993"/>
                    </a:lnTo>
                    <a:cubicBezTo>
                      <a:pt x="3665" y="9000"/>
                      <a:pt x="3668" y="9010"/>
                      <a:pt x="3675" y="9016"/>
                    </a:cubicBezTo>
                    <a:cubicBezTo>
                      <a:pt x="3714" y="9054"/>
                      <a:pt x="3758" y="9081"/>
                      <a:pt x="3806" y="9100"/>
                    </a:cubicBezTo>
                    <a:cubicBezTo>
                      <a:pt x="3952" y="9167"/>
                      <a:pt x="4132" y="9145"/>
                      <a:pt x="4254" y="9029"/>
                    </a:cubicBezTo>
                    <a:cubicBezTo>
                      <a:pt x="4285" y="8999"/>
                      <a:pt x="4305" y="8963"/>
                      <a:pt x="4323" y="8928"/>
                    </a:cubicBezTo>
                    <a:lnTo>
                      <a:pt x="6855" y="6390"/>
                    </a:lnTo>
                    <a:cubicBezTo>
                      <a:pt x="6872" y="6373"/>
                      <a:pt x="6879" y="6354"/>
                      <a:pt x="6892" y="6337"/>
                    </a:cubicBezTo>
                    <a:cubicBezTo>
                      <a:pt x="7528" y="5664"/>
                      <a:pt x="7919" y="4774"/>
                      <a:pt x="7919" y="3794"/>
                    </a:cubicBezTo>
                    <a:cubicBezTo>
                      <a:pt x="7919" y="3164"/>
                      <a:pt x="7757" y="2572"/>
                      <a:pt x="7473" y="2050"/>
                    </a:cubicBezTo>
                    <a:close/>
                    <a:moveTo>
                      <a:pt x="3957" y="5349"/>
                    </a:moveTo>
                    <a:cubicBezTo>
                      <a:pt x="3074" y="5349"/>
                      <a:pt x="2357" y="4663"/>
                      <a:pt x="2357" y="3816"/>
                    </a:cubicBezTo>
                    <a:cubicBezTo>
                      <a:pt x="2357" y="2969"/>
                      <a:pt x="3074" y="2283"/>
                      <a:pt x="3957" y="2283"/>
                    </a:cubicBezTo>
                    <a:cubicBezTo>
                      <a:pt x="4842" y="2283"/>
                      <a:pt x="5558" y="2969"/>
                      <a:pt x="5558" y="3816"/>
                    </a:cubicBezTo>
                    <a:cubicBezTo>
                      <a:pt x="5558" y="4661"/>
                      <a:pt x="4841" y="5349"/>
                      <a:pt x="3957" y="5349"/>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70" name="ïs1íḍe">
                <a:extLst>
                  <a:ext uri="{FF2B5EF4-FFF2-40B4-BE49-F238E27FC236}">
                    <a16:creationId xmlns:a16="http://schemas.microsoft.com/office/drawing/2014/main" id="{31590A58-1E76-2DD6-1423-281D2EC625E0}"/>
                  </a:ext>
                </a:extLst>
              </p:cNvPr>
              <p:cNvSpPr/>
              <p:nvPr/>
            </p:nvSpPr>
            <p:spPr>
              <a:xfrm>
                <a:off x="5230103" y="2740463"/>
                <a:ext cx="343412" cy="343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200" b="1" dirty="0">
                    <a:solidFill>
                      <a:schemeClr val="tx1">
                        <a:lumMod val="50000"/>
                        <a:lumOff val="50000"/>
                      </a:schemeClr>
                    </a:solidFill>
                  </a:rPr>
                  <a:t>05</a:t>
                </a:r>
                <a:endParaRPr lang="zh-CN" altLang="en-US" sz="1200" b="1" dirty="0">
                  <a:solidFill>
                    <a:schemeClr val="tx1">
                      <a:lumMod val="50000"/>
                      <a:lumOff val="50000"/>
                    </a:schemeClr>
                  </a:solidFill>
                </a:endParaRPr>
              </a:p>
            </p:txBody>
          </p:sp>
        </p:grpSp>
        <p:grpSp>
          <p:nvGrpSpPr>
            <p:cNvPr id="31" name="isḷîḍé">
              <a:extLst>
                <a:ext uri="{FF2B5EF4-FFF2-40B4-BE49-F238E27FC236}">
                  <a16:creationId xmlns:a16="http://schemas.microsoft.com/office/drawing/2014/main" id="{D843A58A-123A-68FA-B9F9-995BB1F2D20F}"/>
                </a:ext>
              </a:extLst>
            </p:cNvPr>
            <p:cNvGrpSpPr/>
            <p:nvPr/>
          </p:nvGrpSpPr>
          <p:grpSpPr>
            <a:xfrm>
              <a:off x="4730299" y="1810792"/>
              <a:ext cx="410480" cy="475274"/>
              <a:chOff x="5138527" y="2657956"/>
              <a:chExt cx="526565" cy="609685"/>
            </a:xfrm>
          </p:grpSpPr>
          <p:sp>
            <p:nvSpPr>
              <p:cNvPr id="67" name="iṣļîďê">
                <a:extLst>
                  <a:ext uri="{FF2B5EF4-FFF2-40B4-BE49-F238E27FC236}">
                    <a16:creationId xmlns:a16="http://schemas.microsoft.com/office/drawing/2014/main" id="{64CF7D23-C857-C6AE-5541-581C432C358B}"/>
                  </a:ext>
                </a:extLst>
              </p:cNvPr>
              <p:cNvSpPr/>
              <p:nvPr/>
            </p:nvSpPr>
            <p:spPr>
              <a:xfrm>
                <a:off x="5138527" y="2657956"/>
                <a:ext cx="526565" cy="609685"/>
              </a:xfrm>
              <a:custGeom>
                <a:avLst/>
                <a:gdLst>
                  <a:gd name="T0" fmla="*/ 7473 w 7919"/>
                  <a:gd name="T1" fmla="*/ 2050 h 9167"/>
                  <a:gd name="T2" fmla="*/ 7341 w 7919"/>
                  <a:gd name="T3" fmla="*/ 1833 h 9167"/>
                  <a:gd name="T4" fmla="*/ 6216 w 7919"/>
                  <a:gd name="T5" fmla="*/ 678 h 9167"/>
                  <a:gd name="T6" fmla="*/ 6185 w 7919"/>
                  <a:gd name="T7" fmla="*/ 656 h 9167"/>
                  <a:gd name="T8" fmla="*/ 6100 w 7919"/>
                  <a:gd name="T9" fmla="*/ 605 h 9167"/>
                  <a:gd name="T10" fmla="*/ 6081 w 7919"/>
                  <a:gd name="T11" fmla="*/ 594 h 9167"/>
                  <a:gd name="T12" fmla="*/ 3960 w 7919"/>
                  <a:gd name="T13" fmla="*/ 0 h 9167"/>
                  <a:gd name="T14" fmla="*/ 0 w 7919"/>
                  <a:gd name="T15" fmla="*/ 3793 h 9167"/>
                  <a:gd name="T16" fmla="*/ 1013 w 7919"/>
                  <a:gd name="T17" fmla="*/ 6320 h 9167"/>
                  <a:gd name="T18" fmla="*/ 1061 w 7919"/>
                  <a:gd name="T19" fmla="*/ 6388 h 9167"/>
                  <a:gd name="T20" fmla="*/ 3658 w 7919"/>
                  <a:gd name="T21" fmla="*/ 8993 h 9167"/>
                  <a:gd name="T22" fmla="*/ 3675 w 7919"/>
                  <a:gd name="T23" fmla="*/ 9016 h 9167"/>
                  <a:gd name="T24" fmla="*/ 3806 w 7919"/>
                  <a:gd name="T25" fmla="*/ 9100 h 9167"/>
                  <a:gd name="T26" fmla="*/ 4254 w 7919"/>
                  <a:gd name="T27" fmla="*/ 9029 h 9167"/>
                  <a:gd name="T28" fmla="*/ 4323 w 7919"/>
                  <a:gd name="T29" fmla="*/ 8928 h 9167"/>
                  <a:gd name="T30" fmla="*/ 6855 w 7919"/>
                  <a:gd name="T31" fmla="*/ 6390 h 9167"/>
                  <a:gd name="T32" fmla="*/ 6892 w 7919"/>
                  <a:gd name="T33" fmla="*/ 6337 h 9167"/>
                  <a:gd name="T34" fmla="*/ 7919 w 7919"/>
                  <a:gd name="T35" fmla="*/ 3794 h 9167"/>
                  <a:gd name="T36" fmla="*/ 7473 w 7919"/>
                  <a:gd name="T37" fmla="*/ 2050 h 9167"/>
                  <a:gd name="T38" fmla="*/ 3957 w 7919"/>
                  <a:gd name="T39" fmla="*/ 5349 h 9167"/>
                  <a:gd name="T40" fmla="*/ 2357 w 7919"/>
                  <a:gd name="T41" fmla="*/ 3816 h 9167"/>
                  <a:gd name="T42" fmla="*/ 3957 w 7919"/>
                  <a:gd name="T43" fmla="*/ 2283 h 9167"/>
                  <a:gd name="T44" fmla="*/ 5558 w 7919"/>
                  <a:gd name="T45" fmla="*/ 3816 h 9167"/>
                  <a:gd name="T46" fmla="*/ 3957 w 7919"/>
                  <a:gd name="T47" fmla="*/ 5349 h 9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919" h="9167">
                    <a:moveTo>
                      <a:pt x="7473" y="2050"/>
                    </a:moveTo>
                    <a:cubicBezTo>
                      <a:pt x="7454" y="1962"/>
                      <a:pt x="7409" y="1887"/>
                      <a:pt x="7341" y="1833"/>
                    </a:cubicBezTo>
                    <a:cubicBezTo>
                      <a:pt x="7052" y="1378"/>
                      <a:pt x="6672" y="981"/>
                      <a:pt x="6216" y="678"/>
                    </a:cubicBezTo>
                    <a:cubicBezTo>
                      <a:pt x="6206" y="669"/>
                      <a:pt x="6195" y="664"/>
                      <a:pt x="6185" y="656"/>
                    </a:cubicBezTo>
                    <a:cubicBezTo>
                      <a:pt x="6158" y="638"/>
                      <a:pt x="6129" y="622"/>
                      <a:pt x="6100" y="605"/>
                    </a:cubicBezTo>
                    <a:cubicBezTo>
                      <a:pt x="6093" y="602"/>
                      <a:pt x="6088" y="597"/>
                      <a:pt x="6081" y="594"/>
                    </a:cubicBezTo>
                    <a:cubicBezTo>
                      <a:pt x="5468" y="220"/>
                      <a:pt x="4742" y="0"/>
                      <a:pt x="3960" y="0"/>
                    </a:cubicBezTo>
                    <a:cubicBezTo>
                      <a:pt x="1773" y="0"/>
                      <a:pt x="0" y="1697"/>
                      <a:pt x="0" y="3793"/>
                    </a:cubicBezTo>
                    <a:cubicBezTo>
                      <a:pt x="0" y="4766"/>
                      <a:pt x="385" y="5649"/>
                      <a:pt x="1013" y="6320"/>
                    </a:cubicBezTo>
                    <a:cubicBezTo>
                      <a:pt x="1029" y="6342"/>
                      <a:pt x="1039" y="6368"/>
                      <a:pt x="1061" y="6388"/>
                    </a:cubicBezTo>
                    <a:lnTo>
                      <a:pt x="3658" y="8993"/>
                    </a:lnTo>
                    <a:cubicBezTo>
                      <a:pt x="3665" y="9000"/>
                      <a:pt x="3668" y="9010"/>
                      <a:pt x="3675" y="9016"/>
                    </a:cubicBezTo>
                    <a:cubicBezTo>
                      <a:pt x="3714" y="9054"/>
                      <a:pt x="3758" y="9081"/>
                      <a:pt x="3806" y="9100"/>
                    </a:cubicBezTo>
                    <a:cubicBezTo>
                      <a:pt x="3952" y="9167"/>
                      <a:pt x="4132" y="9145"/>
                      <a:pt x="4254" y="9029"/>
                    </a:cubicBezTo>
                    <a:cubicBezTo>
                      <a:pt x="4285" y="8999"/>
                      <a:pt x="4305" y="8963"/>
                      <a:pt x="4323" y="8928"/>
                    </a:cubicBezTo>
                    <a:lnTo>
                      <a:pt x="6855" y="6390"/>
                    </a:lnTo>
                    <a:cubicBezTo>
                      <a:pt x="6872" y="6373"/>
                      <a:pt x="6879" y="6354"/>
                      <a:pt x="6892" y="6337"/>
                    </a:cubicBezTo>
                    <a:cubicBezTo>
                      <a:pt x="7528" y="5664"/>
                      <a:pt x="7919" y="4774"/>
                      <a:pt x="7919" y="3794"/>
                    </a:cubicBezTo>
                    <a:cubicBezTo>
                      <a:pt x="7919" y="3164"/>
                      <a:pt x="7757" y="2572"/>
                      <a:pt x="7473" y="2050"/>
                    </a:cubicBezTo>
                    <a:close/>
                    <a:moveTo>
                      <a:pt x="3957" y="5349"/>
                    </a:moveTo>
                    <a:cubicBezTo>
                      <a:pt x="3074" y="5349"/>
                      <a:pt x="2357" y="4663"/>
                      <a:pt x="2357" y="3816"/>
                    </a:cubicBezTo>
                    <a:cubicBezTo>
                      <a:pt x="2357" y="2969"/>
                      <a:pt x="3074" y="2283"/>
                      <a:pt x="3957" y="2283"/>
                    </a:cubicBezTo>
                    <a:cubicBezTo>
                      <a:pt x="4842" y="2283"/>
                      <a:pt x="5558" y="2969"/>
                      <a:pt x="5558" y="3816"/>
                    </a:cubicBezTo>
                    <a:cubicBezTo>
                      <a:pt x="5558" y="4661"/>
                      <a:pt x="4841" y="5349"/>
                      <a:pt x="3957" y="5349"/>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8" name="íSḻíḑe">
                <a:extLst>
                  <a:ext uri="{FF2B5EF4-FFF2-40B4-BE49-F238E27FC236}">
                    <a16:creationId xmlns:a16="http://schemas.microsoft.com/office/drawing/2014/main" id="{091187CC-076C-B3ED-7E46-FB2BB2AF8E2D}"/>
                  </a:ext>
                </a:extLst>
              </p:cNvPr>
              <p:cNvSpPr/>
              <p:nvPr/>
            </p:nvSpPr>
            <p:spPr>
              <a:xfrm>
                <a:off x="5230103" y="2740463"/>
                <a:ext cx="343412" cy="343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tx1">
                        <a:lumMod val="50000"/>
                        <a:lumOff val="50000"/>
                      </a:schemeClr>
                    </a:solidFill>
                  </a:rPr>
                  <a:t>04</a:t>
                </a:r>
                <a:endParaRPr lang="zh-CN" altLang="en-US" sz="1400" b="1" dirty="0">
                  <a:solidFill>
                    <a:schemeClr val="tx1">
                      <a:lumMod val="50000"/>
                      <a:lumOff val="50000"/>
                    </a:schemeClr>
                  </a:solidFill>
                </a:endParaRPr>
              </a:p>
            </p:txBody>
          </p:sp>
        </p:grpSp>
        <p:grpSp>
          <p:nvGrpSpPr>
            <p:cNvPr id="32" name="iṩľïde">
              <a:extLst>
                <a:ext uri="{FF2B5EF4-FFF2-40B4-BE49-F238E27FC236}">
                  <a16:creationId xmlns:a16="http://schemas.microsoft.com/office/drawing/2014/main" id="{E2B3FD8F-AC55-DF4B-A8CB-9A82038AA266}"/>
                </a:ext>
              </a:extLst>
            </p:cNvPr>
            <p:cNvGrpSpPr/>
            <p:nvPr/>
          </p:nvGrpSpPr>
          <p:grpSpPr>
            <a:xfrm>
              <a:off x="4101013" y="1181100"/>
              <a:ext cx="300558" cy="348000"/>
              <a:chOff x="5138527" y="2657956"/>
              <a:chExt cx="526565" cy="609685"/>
            </a:xfrm>
          </p:grpSpPr>
          <p:sp>
            <p:nvSpPr>
              <p:cNvPr id="65" name="ïṩlïďé">
                <a:extLst>
                  <a:ext uri="{FF2B5EF4-FFF2-40B4-BE49-F238E27FC236}">
                    <a16:creationId xmlns:a16="http://schemas.microsoft.com/office/drawing/2014/main" id="{D3C4F72F-0B26-6115-C836-2186A8D4A5E2}"/>
                  </a:ext>
                </a:extLst>
              </p:cNvPr>
              <p:cNvSpPr/>
              <p:nvPr/>
            </p:nvSpPr>
            <p:spPr>
              <a:xfrm>
                <a:off x="5138527" y="2657956"/>
                <a:ext cx="526565" cy="609685"/>
              </a:xfrm>
              <a:custGeom>
                <a:avLst/>
                <a:gdLst>
                  <a:gd name="T0" fmla="*/ 7473 w 7919"/>
                  <a:gd name="T1" fmla="*/ 2050 h 9167"/>
                  <a:gd name="T2" fmla="*/ 7341 w 7919"/>
                  <a:gd name="T3" fmla="*/ 1833 h 9167"/>
                  <a:gd name="T4" fmla="*/ 6216 w 7919"/>
                  <a:gd name="T5" fmla="*/ 678 h 9167"/>
                  <a:gd name="T6" fmla="*/ 6185 w 7919"/>
                  <a:gd name="T7" fmla="*/ 656 h 9167"/>
                  <a:gd name="T8" fmla="*/ 6100 w 7919"/>
                  <a:gd name="T9" fmla="*/ 605 h 9167"/>
                  <a:gd name="T10" fmla="*/ 6081 w 7919"/>
                  <a:gd name="T11" fmla="*/ 594 h 9167"/>
                  <a:gd name="T12" fmla="*/ 3960 w 7919"/>
                  <a:gd name="T13" fmla="*/ 0 h 9167"/>
                  <a:gd name="T14" fmla="*/ 0 w 7919"/>
                  <a:gd name="T15" fmla="*/ 3793 h 9167"/>
                  <a:gd name="T16" fmla="*/ 1013 w 7919"/>
                  <a:gd name="T17" fmla="*/ 6320 h 9167"/>
                  <a:gd name="T18" fmla="*/ 1061 w 7919"/>
                  <a:gd name="T19" fmla="*/ 6388 h 9167"/>
                  <a:gd name="T20" fmla="*/ 3658 w 7919"/>
                  <a:gd name="T21" fmla="*/ 8993 h 9167"/>
                  <a:gd name="T22" fmla="*/ 3675 w 7919"/>
                  <a:gd name="T23" fmla="*/ 9016 h 9167"/>
                  <a:gd name="T24" fmla="*/ 3806 w 7919"/>
                  <a:gd name="T25" fmla="*/ 9100 h 9167"/>
                  <a:gd name="T26" fmla="*/ 4254 w 7919"/>
                  <a:gd name="T27" fmla="*/ 9029 h 9167"/>
                  <a:gd name="T28" fmla="*/ 4323 w 7919"/>
                  <a:gd name="T29" fmla="*/ 8928 h 9167"/>
                  <a:gd name="T30" fmla="*/ 6855 w 7919"/>
                  <a:gd name="T31" fmla="*/ 6390 h 9167"/>
                  <a:gd name="T32" fmla="*/ 6892 w 7919"/>
                  <a:gd name="T33" fmla="*/ 6337 h 9167"/>
                  <a:gd name="T34" fmla="*/ 7919 w 7919"/>
                  <a:gd name="T35" fmla="*/ 3794 h 9167"/>
                  <a:gd name="T36" fmla="*/ 7473 w 7919"/>
                  <a:gd name="T37" fmla="*/ 2050 h 9167"/>
                  <a:gd name="T38" fmla="*/ 3957 w 7919"/>
                  <a:gd name="T39" fmla="*/ 5349 h 9167"/>
                  <a:gd name="T40" fmla="*/ 2357 w 7919"/>
                  <a:gd name="T41" fmla="*/ 3816 h 9167"/>
                  <a:gd name="T42" fmla="*/ 3957 w 7919"/>
                  <a:gd name="T43" fmla="*/ 2283 h 9167"/>
                  <a:gd name="T44" fmla="*/ 5558 w 7919"/>
                  <a:gd name="T45" fmla="*/ 3816 h 9167"/>
                  <a:gd name="T46" fmla="*/ 3957 w 7919"/>
                  <a:gd name="T47" fmla="*/ 5349 h 9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919" h="9167">
                    <a:moveTo>
                      <a:pt x="7473" y="2050"/>
                    </a:moveTo>
                    <a:cubicBezTo>
                      <a:pt x="7454" y="1962"/>
                      <a:pt x="7409" y="1887"/>
                      <a:pt x="7341" y="1833"/>
                    </a:cubicBezTo>
                    <a:cubicBezTo>
                      <a:pt x="7052" y="1378"/>
                      <a:pt x="6672" y="981"/>
                      <a:pt x="6216" y="678"/>
                    </a:cubicBezTo>
                    <a:cubicBezTo>
                      <a:pt x="6206" y="669"/>
                      <a:pt x="6195" y="664"/>
                      <a:pt x="6185" y="656"/>
                    </a:cubicBezTo>
                    <a:cubicBezTo>
                      <a:pt x="6158" y="638"/>
                      <a:pt x="6129" y="622"/>
                      <a:pt x="6100" y="605"/>
                    </a:cubicBezTo>
                    <a:cubicBezTo>
                      <a:pt x="6093" y="602"/>
                      <a:pt x="6088" y="597"/>
                      <a:pt x="6081" y="594"/>
                    </a:cubicBezTo>
                    <a:cubicBezTo>
                      <a:pt x="5468" y="220"/>
                      <a:pt x="4742" y="0"/>
                      <a:pt x="3960" y="0"/>
                    </a:cubicBezTo>
                    <a:cubicBezTo>
                      <a:pt x="1773" y="0"/>
                      <a:pt x="0" y="1697"/>
                      <a:pt x="0" y="3793"/>
                    </a:cubicBezTo>
                    <a:cubicBezTo>
                      <a:pt x="0" y="4766"/>
                      <a:pt x="385" y="5649"/>
                      <a:pt x="1013" y="6320"/>
                    </a:cubicBezTo>
                    <a:cubicBezTo>
                      <a:pt x="1029" y="6342"/>
                      <a:pt x="1039" y="6368"/>
                      <a:pt x="1061" y="6388"/>
                    </a:cubicBezTo>
                    <a:lnTo>
                      <a:pt x="3658" y="8993"/>
                    </a:lnTo>
                    <a:cubicBezTo>
                      <a:pt x="3665" y="9000"/>
                      <a:pt x="3668" y="9010"/>
                      <a:pt x="3675" y="9016"/>
                    </a:cubicBezTo>
                    <a:cubicBezTo>
                      <a:pt x="3714" y="9054"/>
                      <a:pt x="3758" y="9081"/>
                      <a:pt x="3806" y="9100"/>
                    </a:cubicBezTo>
                    <a:cubicBezTo>
                      <a:pt x="3952" y="9167"/>
                      <a:pt x="4132" y="9145"/>
                      <a:pt x="4254" y="9029"/>
                    </a:cubicBezTo>
                    <a:cubicBezTo>
                      <a:pt x="4285" y="8999"/>
                      <a:pt x="4305" y="8963"/>
                      <a:pt x="4323" y="8928"/>
                    </a:cubicBezTo>
                    <a:lnTo>
                      <a:pt x="6855" y="6390"/>
                    </a:lnTo>
                    <a:cubicBezTo>
                      <a:pt x="6872" y="6373"/>
                      <a:pt x="6879" y="6354"/>
                      <a:pt x="6892" y="6337"/>
                    </a:cubicBezTo>
                    <a:cubicBezTo>
                      <a:pt x="7528" y="5664"/>
                      <a:pt x="7919" y="4774"/>
                      <a:pt x="7919" y="3794"/>
                    </a:cubicBezTo>
                    <a:cubicBezTo>
                      <a:pt x="7919" y="3164"/>
                      <a:pt x="7757" y="2572"/>
                      <a:pt x="7473" y="2050"/>
                    </a:cubicBezTo>
                    <a:close/>
                    <a:moveTo>
                      <a:pt x="3957" y="5349"/>
                    </a:moveTo>
                    <a:cubicBezTo>
                      <a:pt x="3074" y="5349"/>
                      <a:pt x="2357" y="4663"/>
                      <a:pt x="2357" y="3816"/>
                    </a:cubicBezTo>
                    <a:cubicBezTo>
                      <a:pt x="2357" y="2969"/>
                      <a:pt x="3074" y="2283"/>
                      <a:pt x="3957" y="2283"/>
                    </a:cubicBezTo>
                    <a:cubicBezTo>
                      <a:pt x="4842" y="2283"/>
                      <a:pt x="5558" y="2969"/>
                      <a:pt x="5558" y="3816"/>
                    </a:cubicBezTo>
                    <a:cubicBezTo>
                      <a:pt x="5558" y="4661"/>
                      <a:pt x="4841" y="5349"/>
                      <a:pt x="3957" y="5349"/>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66" name="íṡľíďè">
                <a:extLst>
                  <a:ext uri="{FF2B5EF4-FFF2-40B4-BE49-F238E27FC236}">
                    <a16:creationId xmlns:a16="http://schemas.microsoft.com/office/drawing/2014/main" id="{7ACCBAA7-BC01-96DC-E100-5B4E7FB35FBC}"/>
                  </a:ext>
                </a:extLst>
              </p:cNvPr>
              <p:cNvSpPr/>
              <p:nvPr/>
            </p:nvSpPr>
            <p:spPr>
              <a:xfrm>
                <a:off x="5230103" y="2740463"/>
                <a:ext cx="343412" cy="343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zh-CN" altLang="en-US" sz="1100" b="1" dirty="0">
                  <a:solidFill>
                    <a:schemeClr val="tx1">
                      <a:lumMod val="50000"/>
                      <a:lumOff val="50000"/>
                    </a:schemeClr>
                  </a:solidFill>
                </a:endParaRPr>
              </a:p>
            </p:txBody>
          </p:sp>
        </p:grpSp>
        <p:sp>
          <p:nvSpPr>
            <p:cNvPr id="43" name="ïSḻíḍê">
              <a:extLst>
                <a:ext uri="{FF2B5EF4-FFF2-40B4-BE49-F238E27FC236}">
                  <a16:creationId xmlns:a16="http://schemas.microsoft.com/office/drawing/2014/main" id="{ED3379AB-D47A-383A-0024-E47437523347}"/>
                </a:ext>
              </a:extLst>
            </p:cNvPr>
            <p:cNvSpPr txBox="1"/>
            <p:nvPr/>
          </p:nvSpPr>
          <p:spPr>
            <a:xfrm>
              <a:off x="10022807" y="4561472"/>
              <a:ext cx="1144731" cy="286183"/>
            </a:xfrm>
            <a:prstGeom prst="rect">
              <a:avLst/>
            </a:prstGeom>
            <a:noFill/>
          </p:spPr>
          <p:txBody>
            <a:bodyPr wrap="none" rtlCol="0">
              <a:spAutoFit/>
            </a:bodyPr>
            <a:lstStyle/>
            <a:p>
              <a:pPr algn="r"/>
              <a:r>
                <a:rPr lang="zh-CN" altLang="en-US" sz="1200" b="1" dirty="0">
                  <a:solidFill>
                    <a:schemeClr val="accent5">
                      <a:lumMod val="10000"/>
                      <a:alpha val="55000"/>
                    </a:schemeClr>
                  </a:solidFill>
                </a:rPr>
                <a:t>优化数据服务</a:t>
              </a:r>
              <a:endParaRPr lang="en-GB" altLang="zh-CN" sz="1200" b="1" dirty="0">
                <a:solidFill>
                  <a:schemeClr val="accent5">
                    <a:lumMod val="10000"/>
                    <a:alpha val="55000"/>
                  </a:schemeClr>
                </a:solidFill>
              </a:endParaRPr>
            </a:p>
          </p:txBody>
        </p:sp>
        <p:sp>
          <p:nvSpPr>
            <p:cNvPr id="44" name="îṩ1ïḑê">
              <a:extLst>
                <a:ext uri="{FF2B5EF4-FFF2-40B4-BE49-F238E27FC236}">
                  <a16:creationId xmlns:a16="http://schemas.microsoft.com/office/drawing/2014/main" id="{1316686B-2DA9-7F1B-B1B9-A5E74BF26F2C}"/>
                </a:ext>
              </a:extLst>
            </p:cNvPr>
            <p:cNvSpPr txBox="1"/>
            <p:nvPr/>
          </p:nvSpPr>
          <p:spPr>
            <a:xfrm>
              <a:off x="1664819" y="3962940"/>
              <a:ext cx="4839603" cy="1049337"/>
            </a:xfrm>
            <a:prstGeom prst="rect">
              <a:avLst/>
            </a:prstGeom>
            <a:noFill/>
          </p:spPr>
          <p:txBody>
            <a:bodyPr wrap="none" rtlCol="0">
              <a:spAutoFit/>
            </a:bodyPr>
            <a:lstStyle/>
            <a:p>
              <a:pPr marL="171450" indent="-171450">
                <a:buFont typeface="Wingdings" panose="05000000000000000000" pitchFamily="2" charset="2"/>
                <a:buChar char="v"/>
              </a:pPr>
              <a:r>
                <a:rPr lang="zh-CN" altLang="en-US" sz="1200" dirty="0">
                  <a:solidFill>
                    <a:schemeClr val="accent5">
                      <a:lumMod val="10000"/>
                      <a:alpha val="55000"/>
                    </a:schemeClr>
                  </a:solidFill>
                </a:rPr>
                <a:t>考虑评分体系是否帮助客户提供：</a:t>
              </a:r>
              <a:endParaRPr lang="en-GB" altLang="zh-CN" sz="1200" dirty="0">
                <a:solidFill>
                  <a:schemeClr val="accent5">
                    <a:lumMod val="10000"/>
                    <a:alpha val="55000"/>
                  </a:schemeClr>
                </a:solidFill>
              </a:endParaRPr>
            </a:p>
            <a:p>
              <a:pPr marL="628650" lvl="1" indent="-171450">
                <a:buFont typeface="Wingdings" panose="05000000000000000000" pitchFamily="2" charset="2"/>
                <a:buChar char="v"/>
              </a:pPr>
              <a:r>
                <a:rPr lang="zh-CN" altLang="en-US" sz="1200" dirty="0">
                  <a:solidFill>
                    <a:schemeClr val="accent5">
                      <a:lumMod val="10000"/>
                      <a:alpha val="55000"/>
                    </a:schemeClr>
                  </a:solidFill>
                </a:rPr>
                <a:t>流动性指标</a:t>
              </a:r>
              <a:endParaRPr lang="en-GB" altLang="zh-CN" sz="1200" dirty="0">
                <a:solidFill>
                  <a:schemeClr val="accent5">
                    <a:lumMod val="10000"/>
                    <a:alpha val="55000"/>
                  </a:schemeClr>
                </a:solidFill>
              </a:endParaRPr>
            </a:p>
            <a:p>
              <a:pPr marL="628650" lvl="1" indent="-171450">
                <a:buFont typeface="Wingdings" panose="05000000000000000000" pitchFamily="2" charset="2"/>
                <a:buChar char="v"/>
              </a:pPr>
              <a:r>
                <a:rPr lang="zh-CN" altLang="en-US" sz="1200" dirty="0">
                  <a:solidFill>
                    <a:schemeClr val="accent5">
                      <a:lumMod val="10000"/>
                      <a:alpha val="55000"/>
                    </a:schemeClr>
                  </a:solidFill>
                </a:rPr>
                <a:t>公允价值层次参考</a:t>
              </a:r>
              <a:endParaRPr lang="en-GB" altLang="zh-CN" sz="1200" dirty="0">
                <a:solidFill>
                  <a:schemeClr val="accent5">
                    <a:lumMod val="10000"/>
                    <a:alpha val="55000"/>
                  </a:schemeClr>
                </a:solidFill>
              </a:endParaRPr>
            </a:p>
            <a:p>
              <a:pPr marL="171450" indent="-171450">
                <a:buFont typeface="Wingdings" panose="05000000000000000000" pitchFamily="2" charset="2"/>
                <a:buChar char="v"/>
              </a:pPr>
              <a:r>
                <a:rPr lang="zh-CN" altLang="en-US" sz="1200" dirty="0">
                  <a:solidFill>
                    <a:schemeClr val="accent5">
                      <a:lumMod val="10000"/>
                      <a:alpha val="55000"/>
                    </a:schemeClr>
                  </a:solidFill>
                </a:rPr>
                <a:t>如何结合中证估值配套推出，“推荐价”如何与评分体系对标</a:t>
              </a:r>
              <a:endParaRPr lang="en-GB" altLang="zh-CN" sz="1200" dirty="0">
                <a:solidFill>
                  <a:schemeClr val="accent5">
                    <a:lumMod val="10000"/>
                    <a:alpha val="55000"/>
                  </a:schemeClr>
                </a:solidFill>
              </a:endParaRPr>
            </a:p>
            <a:p>
              <a:pPr marL="171450" indent="-171450">
                <a:buFont typeface="Wingdings" panose="05000000000000000000" pitchFamily="2" charset="2"/>
                <a:buChar char="v"/>
              </a:pPr>
              <a:r>
                <a:rPr lang="zh-CN" altLang="en-US" sz="1200" dirty="0">
                  <a:solidFill>
                    <a:schemeClr val="accent5">
                      <a:lumMod val="10000"/>
                      <a:alpha val="55000"/>
                    </a:schemeClr>
                  </a:solidFill>
                </a:rPr>
                <a:t>对于违约债等特殊估值的区间估值如何结合评分体系开展升级</a:t>
              </a:r>
              <a:endParaRPr lang="en-GB" altLang="zh-CN" sz="1200" dirty="0">
                <a:solidFill>
                  <a:schemeClr val="accent5">
                    <a:lumMod val="10000"/>
                    <a:alpha val="55000"/>
                  </a:schemeClr>
                </a:solidFill>
              </a:endParaRPr>
            </a:p>
          </p:txBody>
        </p:sp>
        <p:sp>
          <p:nvSpPr>
            <p:cNvPr id="45" name="îSļidê">
              <a:extLst>
                <a:ext uri="{FF2B5EF4-FFF2-40B4-BE49-F238E27FC236}">
                  <a16:creationId xmlns:a16="http://schemas.microsoft.com/office/drawing/2014/main" id="{CF021625-5B6E-CF11-C7DE-3C0542A64AB1}"/>
                </a:ext>
              </a:extLst>
            </p:cNvPr>
            <p:cNvSpPr txBox="1"/>
            <p:nvPr/>
          </p:nvSpPr>
          <p:spPr>
            <a:xfrm>
              <a:off x="8061788" y="2616524"/>
              <a:ext cx="4503404" cy="1049337"/>
            </a:xfrm>
            <a:prstGeom prst="rect">
              <a:avLst/>
            </a:prstGeom>
            <a:noFill/>
          </p:spPr>
          <p:txBody>
            <a:bodyPr wrap="none" rtlCol="0">
              <a:spAutoFit/>
            </a:bodyPr>
            <a:lstStyle/>
            <a:p>
              <a:pPr marL="171450" indent="-171450">
                <a:buFont typeface="Wingdings" panose="05000000000000000000" pitchFamily="2" charset="2"/>
                <a:buChar char="v"/>
              </a:pPr>
              <a:r>
                <a:rPr lang="zh-CN" altLang="en-US" sz="1200" dirty="0">
                  <a:solidFill>
                    <a:schemeClr val="accent5">
                      <a:lumMod val="10000"/>
                      <a:alpha val="55000"/>
                    </a:schemeClr>
                  </a:solidFill>
                </a:rPr>
                <a:t>分债券类型进行估值质量评分体系设计</a:t>
              </a:r>
              <a:endParaRPr lang="en-GB" altLang="zh-CN" sz="1200" dirty="0">
                <a:solidFill>
                  <a:schemeClr val="accent5">
                    <a:lumMod val="10000"/>
                    <a:alpha val="55000"/>
                  </a:schemeClr>
                </a:solidFill>
              </a:endParaRPr>
            </a:p>
            <a:p>
              <a:pPr marL="171450" indent="-171450">
                <a:buFont typeface="Wingdings" panose="05000000000000000000" pitchFamily="2" charset="2"/>
                <a:buChar char="v"/>
              </a:pPr>
              <a:r>
                <a:rPr lang="zh-CN" altLang="en-US" sz="1200" dirty="0">
                  <a:solidFill>
                    <a:schemeClr val="accent5">
                      <a:lumMod val="10000"/>
                      <a:alpha val="55000"/>
                    </a:schemeClr>
                  </a:solidFill>
                </a:rPr>
                <a:t>思考评分因素，包括数据点数量、来源、质量、分散程度等</a:t>
              </a:r>
              <a:endParaRPr lang="en-GB" altLang="zh-CN" sz="1200" dirty="0">
                <a:solidFill>
                  <a:schemeClr val="accent5">
                    <a:lumMod val="10000"/>
                    <a:alpha val="55000"/>
                  </a:schemeClr>
                </a:solidFill>
              </a:endParaRPr>
            </a:p>
            <a:p>
              <a:pPr marL="171450" indent="-171450">
                <a:buFont typeface="Wingdings" panose="05000000000000000000" pitchFamily="2" charset="2"/>
                <a:buChar char="v"/>
              </a:pPr>
              <a:r>
                <a:rPr lang="zh-CN" altLang="en-US" sz="1200" dirty="0">
                  <a:solidFill>
                    <a:schemeClr val="accent5">
                      <a:lumMod val="10000"/>
                      <a:alpha val="55000"/>
                    </a:schemeClr>
                  </a:solidFill>
                </a:rPr>
                <a:t>确定评分权重与计算逻辑</a:t>
              </a:r>
              <a:endParaRPr lang="en-GB" altLang="zh-CN" sz="1200" dirty="0">
                <a:solidFill>
                  <a:schemeClr val="accent5">
                    <a:lumMod val="10000"/>
                    <a:alpha val="55000"/>
                  </a:schemeClr>
                </a:solidFill>
              </a:endParaRPr>
            </a:p>
            <a:p>
              <a:pPr marL="171450" indent="-171450">
                <a:buFont typeface="Wingdings" panose="05000000000000000000" pitchFamily="2" charset="2"/>
                <a:buChar char="v"/>
              </a:pPr>
              <a:r>
                <a:rPr lang="zh-CN" altLang="en-US" sz="1200" dirty="0">
                  <a:solidFill>
                    <a:schemeClr val="accent5">
                      <a:lumMod val="10000"/>
                      <a:alpha val="55000"/>
                    </a:schemeClr>
                  </a:solidFill>
                </a:rPr>
                <a:t>进一步统一不同债券类型下的评分标尺</a:t>
              </a:r>
              <a:endParaRPr lang="en-GB" altLang="zh-CN" sz="1200" dirty="0">
                <a:solidFill>
                  <a:schemeClr val="accent5">
                    <a:lumMod val="10000"/>
                    <a:alpha val="55000"/>
                  </a:schemeClr>
                </a:solidFill>
              </a:endParaRPr>
            </a:p>
            <a:p>
              <a:pPr marL="171450" indent="-171450">
                <a:buFont typeface="Wingdings" panose="05000000000000000000" pitchFamily="2" charset="2"/>
                <a:buChar char="v"/>
              </a:pPr>
              <a:endParaRPr lang="en-GB" altLang="zh-CN" sz="1200" dirty="0">
                <a:solidFill>
                  <a:schemeClr val="accent5">
                    <a:lumMod val="10000"/>
                    <a:alpha val="55000"/>
                  </a:schemeClr>
                </a:solidFill>
              </a:endParaRPr>
            </a:p>
          </p:txBody>
        </p:sp>
        <p:sp>
          <p:nvSpPr>
            <p:cNvPr id="46" name="iSḻïďé">
              <a:extLst>
                <a:ext uri="{FF2B5EF4-FFF2-40B4-BE49-F238E27FC236}">
                  <a16:creationId xmlns:a16="http://schemas.microsoft.com/office/drawing/2014/main" id="{9A3D7ECA-23BA-4396-FE27-072713FAE921}"/>
                </a:ext>
              </a:extLst>
            </p:cNvPr>
            <p:cNvSpPr txBox="1"/>
            <p:nvPr/>
          </p:nvSpPr>
          <p:spPr>
            <a:xfrm>
              <a:off x="1670240" y="2679439"/>
              <a:ext cx="4084398" cy="476971"/>
            </a:xfrm>
            <a:prstGeom prst="rect">
              <a:avLst/>
            </a:prstGeom>
            <a:noFill/>
          </p:spPr>
          <p:txBody>
            <a:bodyPr wrap="none" rtlCol="0">
              <a:spAutoFit/>
            </a:bodyPr>
            <a:lstStyle/>
            <a:p>
              <a:pPr marL="171450" indent="-171450">
                <a:buFont typeface="Wingdings" panose="05000000000000000000" pitchFamily="2" charset="2"/>
                <a:buChar char="v"/>
              </a:pPr>
              <a:r>
                <a:rPr lang="zh-CN" altLang="en-US" sz="1200" dirty="0">
                  <a:solidFill>
                    <a:schemeClr val="accent5">
                      <a:lumMod val="10000"/>
                      <a:alpha val="55000"/>
                    </a:schemeClr>
                  </a:solidFill>
                </a:rPr>
                <a:t>重点优化含权债等重难点估值</a:t>
              </a:r>
              <a:endParaRPr lang="en-GB" altLang="zh-CN" sz="1200" dirty="0">
                <a:solidFill>
                  <a:schemeClr val="accent5">
                    <a:lumMod val="10000"/>
                    <a:alpha val="55000"/>
                  </a:schemeClr>
                </a:solidFill>
              </a:endParaRPr>
            </a:p>
            <a:p>
              <a:pPr marL="171450" indent="-171450">
                <a:buFont typeface="Wingdings" panose="05000000000000000000" pitchFamily="2" charset="2"/>
                <a:buChar char="v"/>
              </a:pPr>
              <a:r>
                <a:rPr lang="zh-CN" altLang="en-US" sz="1200" dirty="0">
                  <a:solidFill>
                    <a:schemeClr val="accent5">
                      <a:lumMod val="10000"/>
                      <a:alpha val="55000"/>
                    </a:schemeClr>
                  </a:solidFill>
                </a:rPr>
                <a:t>考虑通过</a:t>
              </a:r>
              <a:r>
                <a:rPr lang="en-GB" altLang="zh-CN" sz="1200" dirty="0">
                  <a:solidFill>
                    <a:schemeClr val="accent5">
                      <a:lumMod val="10000"/>
                      <a:alpha val="55000"/>
                    </a:schemeClr>
                  </a:solidFill>
                </a:rPr>
                <a:t>Hull-white</a:t>
              </a:r>
              <a:r>
                <a:rPr lang="zh-CN" altLang="en-US" sz="1200" dirty="0">
                  <a:solidFill>
                    <a:schemeClr val="accent5">
                      <a:lumMod val="10000"/>
                      <a:alpha val="55000"/>
                    </a:schemeClr>
                  </a:solidFill>
                </a:rPr>
                <a:t>等利率模型得出唯一估值的可行性</a:t>
              </a:r>
              <a:endParaRPr lang="en-US" altLang="zh-CN" sz="1200" dirty="0">
                <a:solidFill>
                  <a:schemeClr val="accent5">
                    <a:lumMod val="10000"/>
                    <a:alpha val="55000"/>
                  </a:schemeClr>
                </a:solidFill>
              </a:endParaRPr>
            </a:p>
          </p:txBody>
        </p:sp>
        <p:grpSp>
          <p:nvGrpSpPr>
            <p:cNvPr id="47" name="iṡļíḍé">
              <a:extLst>
                <a:ext uri="{FF2B5EF4-FFF2-40B4-BE49-F238E27FC236}">
                  <a16:creationId xmlns:a16="http://schemas.microsoft.com/office/drawing/2014/main" id="{3B6E174D-9B69-77EC-0B70-625A4FC42E12}"/>
                </a:ext>
              </a:extLst>
            </p:cNvPr>
            <p:cNvGrpSpPr/>
            <p:nvPr/>
          </p:nvGrpSpPr>
          <p:grpSpPr>
            <a:xfrm>
              <a:off x="6184903" y="3950061"/>
              <a:ext cx="180972" cy="180968"/>
              <a:chOff x="6184903" y="3950061"/>
              <a:chExt cx="180972" cy="180968"/>
            </a:xfrm>
          </p:grpSpPr>
          <p:sp>
            <p:nvSpPr>
              <p:cNvPr id="63" name="íŝlïḑé">
                <a:extLst>
                  <a:ext uri="{FF2B5EF4-FFF2-40B4-BE49-F238E27FC236}">
                    <a16:creationId xmlns:a16="http://schemas.microsoft.com/office/drawing/2014/main" id="{FCDEAE3F-B4BB-862C-4B65-9D9AA7F1ED4E}"/>
                  </a:ext>
                </a:extLst>
              </p:cNvPr>
              <p:cNvSpPr/>
              <p:nvPr/>
            </p:nvSpPr>
            <p:spPr>
              <a:xfrm>
                <a:off x="6184903" y="3950061"/>
                <a:ext cx="180972" cy="180968"/>
              </a:xfrm>
              <a:prstGeom prst="ellipse">
                <a:avLst/>
              </a:prstGeom>
              <a:solidFill>
                <a:schemeClr val="accent1">
                  <a:lumMod val="20000"/>
                  <a:lumOff val="80000"/>
                </a:schemeClr>
              </a:solidFill>
              <a:ln w="28575">
                <a:solidFill>
                  <a:schemeClr val="bg1">
                    <a:alpha val="7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ís1îḋè">
                <a:extLst>
                  <a:ext uri="{FF2B5EF4-FFF2-40B4-BE49-F238E27FC236}">
                    <a16:creationId xmlns:a16="http://schemas.microsoft.com/office/drawing/2014/main" id="{5B345889-906A-69E9-9381-C5BBD8046558}"/>
                  </a:ext>
                </a:extLst>
              </p:cNvPr>
              <p:cNvSpPr/>
              <p:nvPr/>
            </p:nvSpPr>
            <p:spPr>
              <a:xfrm>
                <a:off x="6235703" y="4000860"/>
                <a:ext cx="79372" cy="79370"/>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8" name="iśḷiḓê">
              <a:extLst>
                <a:ext uri="{FF2B5EF4-FFF2-40B4-BE49-F238E27FC236}">
                  <a16:creationId xmlns:a16="http://schemas.microsoft.com/office/drawing/2014/main" id="{23575E28-2B7A-E81F-28A3-63A57EAE74A3}"/>
                </a:ext>
              </a:extLst>
            </p:cNvPr>
            <p:cNvGrpSpPr/>
            <p:nvPr/>
          </p:nvGrpSpPr>
          <p:grpSpPr>
            <a:xfrm>
              <a:off x="9825614" y="5132778"/>
              <a:ext cx="180972" cy="180968"/>
              <a:chOff x="6184903" y="3950061"/>
              <a:chExt cx="180972" cy="180968"/>
            </a:xfrm>
          </p:grpSpPr>
          <p:sp>
            <p:nvSpPr>
              <p:cNvPr id="61" name="íṣlíḓe">
                <a:extLst>
                  <a:ext uri="{FF2B5EF4-FFF2-40B4-BE49-F238E27FC236}">
                    <a16:creationId xmlns:a16="http://schemas.microsoft.com/office/drawing/2014/main" id="{DA5A3FCC-407C-D16B-AFF0-9DF75FCC4C76}"/>
                  </a:ext>
                </a:extLst>
              </p:cNvPr>
              <p:cNvSpPr/>
              <p:nvPr/>
            </p:nvSpPr>
            <p:spPr>
              <a:xfrm>
                <a:off x="6184903" y="3950061"/>
                <a:ext cx="180972" cy="180968"/>
              </a:xfrm>
              <a:prstGeom prst="ellipse">
                <a:avLst/>
              </a:prstGeom>
              <a:solidFill>
                <a:schemeClr val="accent1">
                  <a:lumMod val="20000"/>
                  <a:lumOff val="80000"/>
                </a:schemeClr>
              </a:solidFill>
              <a:ln w="28575">
                <a:solidFill>
                  <a:schemeClr val="bg1">
                    <a:alpha val="7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îṡlîḍe">
                <a:extLst>
                  <a:ext uri="{FF2B5EF4-FFF2-40B4-BE49-F238E27FC236}">
                    <a16:creationId xmlns:a16="http://schemas.microsoft.com/office/drawing/2014/main" id="{E1CFA134-207C-F274-CEA8-741588FD3411}"/>
                  </a:ext>
                </a:extLst>
              </p:cNvPr>
              <p:cNvSpPr/>
              <p:nvPr/>
            </p:nvSpPr>
            <p:spPr>
              <a:xfrm>
                <a:off x="6235703" y="4000860"/>
                <a:ext cx="79372" cy="79370"/>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9" name="îṩḷîḋé">
              <a:extLst>
                <a:ext uri="{FF2B5EF4-FFF2-40B4-BE49-F238E27FC236}">
                  <a16:creationId xmlns:a16="http://schemas.microsoft.com/office/drawing/2014/main" id="{4080F47F-9F76-9579-1F86-6536AD2FE755}"/>
                </a:ext>
              </a:extLst>
            </p:cNvPr>
            <p:cNvGrpSpPr/>
            <p:nvPr/>
          </p:nvGrpSpPr>
          <p:grpSpPr>
            <a:xfrm>
              <a:off x="7758224" y="2953111"/>
              <a:ext cx="180972" cy="180968"/>
              <a:chOff x="6184903" y="3950061"/>
              <a:chExt cx="180972" cy="180968"/>
            </a:xfrm>
          </p:grpSpPr>
          <p:sp>
            <p:nvSpPr>
              <p:cNvPr id="59" name="iSḷíḑé">
                <a:extLst>
                  <a:ext uri="{FF2B5EF4-FFF2-40B4-BE49-F238E27FC236}">
                    <a16:creationId xmlns:a16="http://schemas.microsoft.com/office/drawing/2014/main" id="{8CD53D92-B53E-EF1E-1016-CCE34CDA238E}"/>
                  </a:ext>
                </a:extLst>
              </p:cNvPr>
              <p:cNvSpPr/>
              <p:nvPr/>
            </p:nvSpPr>
            <p:spPr>
              <a:xfrm>
                <a:off x="6184903" y="3950061"/>
                <a:ext cx="180972" cy="180968"/>
              </a:xfrm>
              <a:prstGeom prst="ellipse">
                <a:avLst/>
              </a:prstGeom>
              <a:solidFill>
                <a:schemeClr val="accent1">
                  <a:lumMod val="20000"/>
                  <a:lumOff val="80000"/>
                </a:schemeClr>
              </a:solidFill>
              <a:ln w="28575">
                <a:solidFill>
                  <a:schemeClr val="bg1">
                    <a:alpha val="7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îŝ1ïdè">
                <a:extLst>
                  <a:ext uri="{FF2B5EF4-FFF2-40B4-BE49-F238E27FC236}">
                    <a16:creationId xmlns:a16="http://schemas.microsoft.com/office/drawing/2014/main" id="{2C6D1636-34C9-CDF3-FA2C-F1D764FC5A4D}"/>
                  </a:ext>
                </a:extLst>
              </p:cNvPr>
              <p:cNvSpPr/>
              <p:nvPr/>
            </p:nvSpPr>
            <p:spPr>
              <a:xfrm>
                <a:off x="6235703" y="4000860"/>
                <a:ext cx="79372" cy="79370"/>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0" name="iSļíḓê">
              <a:extLst>
                <a:ext uri="{FF2B5EF4-FFF2-40B4-BE49-F238E27FC236}">
                  <a16:creationId xmlns:a16="http://schemas.microsoft.com/office/drawing/2014/main" id="{D81ED036-ABAD-2349-15E7-0B36BA353277}"/>
                </a:ext>
              </a:extLst>
            </p:cNvPr>
            <p:cNvGrpSpPr/>
            <p:nvPr/>
          </p:nvGrpSpPr>
          <p:grpSpPr>
            <a:xfrm>
              <a:off x="4856190" y="2586325"/>
              <a:ext cx="180972" cy="180968"/>
              <a:chOff x="6184903" y="3950061"/>
              <a:chExt cx="180972" cy="180968"/>
            </a:xfrm>
          </p:grpSpPr>
          <p:sp>
            <p:nvSpPr>
              <p:cNvPr id="57" name="iṣļíḑè">
                <a:extLst>
                  <a:ext uri="{FF2B5EF4-FFF2-40B4-BE49-F238E27FC236}">
                    <a16:creationId xmlns:a16="http://schemas.microsoft.com/office/drawing/2014/main" id="{47473A02-EF71-0803-E5EC-E6D3BA0C0DA4}"/>
                  </a:ext>
                </a:extLst>
              </p:cNvPr>
              <p:cNvSpPr/>
              <p:nvPr/>
            </p:nvSpPr>
            <p:spPr>
              <a:xfrm>
                <a:off x="6184903" y="3950061"/>
                <a:ext cx="180972" cy="180968"/>
              </a:xfrm>
              <a:prstGeom prst="ellipse">
                <a:avLst/>
              </a:prstGeom>
              <a:solidFill>
                <a:schemeClr val="bg1">
                  <a:lumMod val="85000"/>
                </a:schemeClr>
              </a:solidFill>
              <a:ln w="28575">
                <a:solidFill>
                  <a:schemeClr val="bg1">
                    <a:alpha val="7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íṩļïďè">
                <a:extLst>
                  <a:ext uri="{FF2B5EF4-FFF2-40B4-BE49-F238E27FC236}">
                    <a16:creationId xmlns:a16="http://schemas.microsoft.com/office/drawing/2014/main" id="{A517F6F8-8161-EB48-CC05-3E3C31BF56C7}"/>
                  </a:ext>
                </a:extLst>
              </p:cNvPr>
              <p:cNvSpPr/>
              <p:nvPr/>
            </p:nvSpPr>
            <p:spPr>
              <a:xfrm>
                <a:off x="6235703" y="4000860"/>
                <a:ext cx="79372" cy="79370"/>
              </a:xfrm>
              <a:prstGeom prst="ellipse">
                <a:avLst/>
              </a:prstGeom>
              <a:solidFill>
                <a:schemeClr val="tx1">
                  <a:lumMod val="50000"/>
                  <a:lumOff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íṣḷíḑè">
              <a:extLst>
                <a:ext uri="{FF2B5EF4-FFF2-40B4-BE49-F238E27FC236}">
                  <a16:creationId xmlns:a16="http://schemas.microsoft.com/office/drawing/2014/main" id="{F3E8A384-4776-672B-77D5-82493B8E4497}"/>
                </a:ext>
              </a:extLst>
            </p:cNvPr>
            <p:cNvGrpSpPr/>
            <p:nvPr/>
          </p:nvGrpSpPr>
          <p:grpSpPr>
            <a:xfrm>
              <a:off x="4155879" y="1828577"/>
              <a:ext cx="180972" cy="180968"/>
              <a:chOff x="6184903" y="3950061"/>
              <a:chExt cx="180972" cy="180968"/>
            </a:xfrm>
          </p:grpSpPr>
          <p:sp>
            <p:nvSpPr>
              <p:cNvPr id="55" name="íş1íḍè">
                <a:extLst>
                  <a:ext uri="{FF2B5EF4-FFF2-40B4-BE49-F238E27FC236}">
                    <a16:creationId xmlns:a16="http://schemas.microsoft.com/office/drawing/2014/main" id="{0273D1C1-256F-297B-8CCF-D706A880BAE9}"/>
                  </a:ext>
                </a:extLst>
              </p:cNvPr>
              <p:cNvSpPr/>
              <p:nvPr/>
            </p:nvSpPr>
            <p:spPr>
              <a:xfrm>
                <a:off x="6184903" y="3950061"/>
                <a:ext cx="180972" cy="180968"/>
              </a:xfrm>
              <a:prstGeom prst="ellipse">
                <a:avLst/>
              </a:prstGeom>
              <a:solidFill>
                <a:schemeClr val="bg1">
                  <a:lumMod val="85000"/>
                </a:schemeClr>
              </a:solidFill>
              <a:ln w="28575">
                <a:solidFill>
                  <a:schemeClr val="bg1">
                    <a:alpha val="7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ïSḷïde">
                <a:extLst>
                  <a:ext uri="{FF2B5EF4-FFF2-40B4-BE49-F238E27FC236}">
                    <a16:creationId xmlns:a16="http://schemas.microsoft.com/office/drawing/2014/main" id="{1C3ADA13-B40A-2E08-14E5-6558BF5BD0BC}"/>
                  </a:ext>
                </a:extLst>
              </p:cNvPr>
              <p:cNvSpPr/>
              <p:nvPr/>
            </p:nvSpPr>
            <p:spPr>
              <a:xfrm>
                <a:off x="6235703" y="4000860"/>
                <a:ext cx="79372" cy="79370"/>
              </a:xfrm>
              <a:prstGeom prst="ellipse">
                <a:avLst/>
              </a:prstGeom>
              <a:solidFill>
                <a:schemeClr val="tx1">
                  <a:lumMod val="50000"/>
                  <a:lumOff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 name="ïṣľíḋê">
              <a:extLst>
                <a:ext uri="{FF2B5EF4-FFF2-40B4-BE49-F238E27FC236}">
                  <a16:creationId xmlns:a16="http://schemas.microsoft.com/office/drawing/2014/main" id="{8541654A-1834-EA74-64E0-44A37916ACF2}"/>
                </a:ext>
              </a:extLst>
            </p:cNvPr>
            <p:cNvGrpSpPr/>
            <p:nvPr/>
          </p:nvGrpSpPr>
          <p:grpSpPr>
            <a:xfrm>
              <a:off x="5619257" y="2001454"/>
              <a:ext cx="180972" cy="180968"/>
              <a:chOff x="6184903" y="3950061"/>
              <a:chExt cx="180972" cy="180968"/>
            </a:xfrm>
          </p:grpSpPr>
          <p:sp>
            <p:nvSpPr>
              <p:cNvPr id="53" name="ïşľïḋé">
                <a:extLst>
                  <a:ext uri="{FF2B5EF4-FFF2-40B4-BE49-F238E27FC236}">
                    <a16:creationId xmlns:a16="http://schemas.microsoft.com/office/drawing/2014/main" id="{015AF5A0-E2FF-B937-7869-EB230016FCED}"/>
                  </a:ext>
                </a:extLst>
              </p:cNvPr>
              <p:cNvSpPr/>
              <p:nvPr/>
            </p:nvSpPr>
            <p:spPr>
              <a:xfrm>
                <a:off x="6184903" y="3950061"/>
                <a:ext cx="180972" cy="180968"/>
              </a:xfrm>
              <a:prstGeom prst="ellipse">
                <a:avLst/>
              </a:prstGeom>
              <a:solidFill>
                <a:schemeClr val="bg1">
                  <a:lumMod val="85000"/>
                </a:schemeClr>
              </a:solidFill>
              <a:ln w="28575">
                <a:solidFill>
                  <a:schemeClr val="bg1">
                    <a:alpha val="7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îşľïḑè">
                <a:extLst>
                  <a:ext uri="{FF2B5EF4-FFF2-40B4-BE49-F238E27FC236}">
                    <a16:creationId xmlns:a16="http://schemas.microsoft.com/office/drawing/2014/main" id="{91EF84CB-65F5-FD4E-1DDE-7EDA73CC8D47}"/>
                  </a:ext>
                </a:extLst>
              </p:cNvPr>
              <p:cNvSpPr/>
              <p:nvPr/>
            </p:nvSpPr>
            <p:spPr>
              <a:xfrm>
                <a:off x="6235703" y="4000860"/>
                <a:ext cx="79372" cy="79370"/>
              </a:xfrm>
              <a:prstGeom prst="ellipse">
                <a:avLst/>
              </a:prstGeom>
              <a:solidFill>
                <a:schemeClr val="tx1">
                  <a:lumMod val="50000"/>
                  <a:lumOff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77" name="iṡlïḍe">
            <a:extLst>
              <a:ext uri="{FF2B5EF4-FFF2-40B4-BE49-F238E27FC236}">
                <a16:creationId xmlns:a16="http://schemas.microsoft.com/office/drawing/2014/main" id="{2B87408B-E8AC-FCF1-079B-83906EA62E28}"/>
              </a:ext>
            </a:extLst>
          </p:cNvPr>
          <p:cNvSpPr/>
          <p:nvPr/>
        </p:nvSpPr>
        <p:spPr>
          <a:xfrm>
            <a:off x="9025616" y="5081178"/>
            <a:ext cx="2813460" cy="10798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marL="285750" indent="-285750">
              <a:buFont typeface="Wingdings" panose="05000000000000000000" pitchFamily="2" charset="2"/>
              <a:buChar char="v"/>
            </a:pPr>
            <a:r>
              <a:rPr lang="zh-CN" altLang="en-US" sz="1400" dirty="0">
                <a:solidFill>
                  <a:schemeClr val="accent5">
                    <a:lumMod val="10000"/>
                    <a:alpha val="55000"/>
                  </a:schemeClr>
                </a:solidFill>
              </a:rPr>
              <a:t>细化梳理市场数据来源、质量</a:t>
            </a:r>
            <a:endParaRPr lang="en-GB" altLang="zh-CN" sz="1400" dirty="0">
              <a:solidFill>
                <a:schemeClr val="accent5">
                  <a:lumMod val="10000"/>
                  <a:alpha val="55000"/>
                </a:schemeClr>
              </a:solidFill>
            </a:endParaRPr>
          </a:p>
          <a:p>
            <a:pPr marL="285750" indent="-285750">
              <a:buFont typeface="Wingdings" panose="05000000000000000000" pitchFamily="2" charset="2"/>
              <a:buChar char="v"/>
            </a:pPr>
            <a:r>
              <a:rPr lang="zh-CN" altLang="en-US" sz="1400" dirty="0">
                <a:solidFill>
                  <a:schemeClr val="accent5">
                    <a:lumMod val="10000"/>
                    <a:alpha val="55000"/>
                  </a:schemeClr>
                </a:solidFill>
              </a:rPr>
              <a:t>提供更丰富、透明的数据服务</a:t>
            </a:r>
            <a:endParaRPr lang="en-GB" altLang="zh-CN" sz="1400" dirty="0">
              <a:solidFill>
                <a:schemeClr val="accent5">
                  <a:lumMod val="10000"/>
                  <a:alpha val="55000"/>
                </a:schemeClr>
              </a:solidFill>
            </a:endParaRPr>
          </a:p>
          <a:p>
            <a:pPr marL="285750" indent="-285750">
              <a:buFont typeface="Wingdings" panose="05000000000000000000" pitchFamily="2" charset="2"/>
              <a:buChar char="v"/>
            </a:pPr>
            <a:r>
              <a:rPr lang="zh-CN" altLang="en-US" sz="1400" dirty="0">
                <a:solidFill>
                  <a:schemeClr val="accent5">
                    <a:lumMod val="10000"/>
                    <a:alpha val="55000"/>
                  </a:schemeClr>
                </a:solidFill>
              </a:rPr>
              <a:t>为评分机制提供数据基础</a:t>
            </a:r>
            <a:endParaRPr lang="en-GB" altLang="zh-CN" sz="1400" dirty="0">
              <a:solidFill>
                <a:schemeClr val="accent5">
                  <a:lumMod val="10000"/>
                  <a:alpha val="55000"/>
                </a:schemeClr>
              </a:solidFill>
            </a:endParaRPr>
          </a:p>
          <a:p>
            <a:pPr marL="285750" indent="-285750">
              <a:buFont typeface="Wingdings" panose="05000000000000000000" pitchFamily="2" charset="2"/>
              <a:buChar char="v"/>
            </a:pPr>
            <a:endParaRPr lang="en-US" altLang="zh-CN" sz="1400" dirty="0">
              <a:solidFill>
                <a:schemeClr val="accent5">
                  <a:lumMod val="10000"/>
                  <a:alpha val="55000"/>
                </a:schemeClr>
              </a:solidFill>
            </a:endParaRPr>
          </a:p>
        </p:txBody>
      </p:sp>
      <p:sp>
        <p:nvSpPr>
          <p:cNvPr id="78" name="ïSḻíḍê">
            <a:extLst>
              <a:ext uri="{FF2B5EF4-FFF2-40B4-BE49-F238E27FC236}">
                <a16:creationId xmlns:a16="http://schemas.microsoft.com/office/drawing/2014/main" id="{2F8E9F04-CAF9-2C3F-6C39-6610E247F82E}"/>
              </a:ext>
            </a:extLst>
          </p:cNvPr>
          <p:cNvSpPr txBox="1"/>
          <p:nvPr/>
        </p:nvSpPr>
        <p:spPr>
          <a:xfrm>
            <a:off x="749203" y="4076346"/>
            <a:ext cx="2339102" cy="276999"/>
          </a:xfrm>
          <a:prstGeom prst="rect">
            <a:avLst/>
          </a:prstGeom>
          <a:noFill/>
        </p:spPr>
        <p:txBody>
          <a:bodyPr wrap="none" rtlCol="0">
            <a:spAutoFit/>
          </a:bodyPr>
          <a:lstStyle/>
          <a:p>
            <a:r>
              <a:rPr lang="zh-CN" altLang="en-US" sz="1200" b="1" dirty="0">
                <a:solidFill>
                  <a:schemeClr val="accent5">
                    <a:lumMod val="10000"/>
                    <a:alpha val="55000"/>
                  </a:schemeClr>
                </a:solidFill>
              </a:rPr>
              <a:t>结合境内市场特点思考用户需求</a:t>
            </a:r>
            <a:endParaRPr lang="en-GB" altLang="zh-CN" sz="1200" b="1" dirty="0">
              <a:solidFill>
                <a:schemeClr val="accent5">
                  <a:lumMod val="10000"/>
                  <a:alpha val="55000"/>
                </a:schemeClr>
              </a:solidFill>
            </a:endParaRPr>
          </a:p>
        </p:txBody>
      </p:sp>
      <p:sp>
        <p:nvSpPr>
          <p:cNvPr id="79" name="ïSḻíḍê">
            <a:extLst>
              <a:ext uri="{FF2B5EF4-FFF2-40B4-BE49-F238E27FC236}">
                <a16:creationId xmlns:a16="http://schemas.microsoft.com/office/drawing/2014/main" id="{F700D5B8-F934-9D51-2738-40C4CAE01821}"/>
              </a:ext>
            </a:extLst>
          </p:cNvPr>
          <p:cNvSpPr txBox="1"/>
          <p:nvPr/>
        </p:nvSpPr>
        <p:spPr>
          <a:xfrm>
            <a:off x="6938422" y="2753276"/>
            <a:ext cx="1107996" cy="276999"/>
          </a:xfrm>
          <a:prstGeom prst="rect">
            <a:avLst/>
          </a:prstGeom>
          <a:noFill/>
        </p:spPr>
        <p:txBody>
          <a:bodyPr wrap="none" rtlCol="0">
            <a:spAutoFit/>
          </a:bodyPr>
          <a:lstStyle/>
          <a:p>
            <a:pPr algn="r"/>
            <a:r>
              <a:rPr lang="zh-CN" altLang="en-US" sz="1200" b="1" dirty="0">
                <a:solidFill>
                  <a:schemeClr val="accent5">
                    <a:lumMod val="10000"/>
                    <a:alpha val="55000"/>
                  </a:schemeClr>
                </a:solidFill>
              </a:rPr>
              <a:t>评分体系搭建</a:t>
            </a:r>
            <a:endParaRPr lang="en-GB" altLang="zh-CN" sz="1200" b="1" dirty="0">
              <a:solidFill>
                <a:schemeClr val="accent5">
                  <a:lumMod val="10000"/>
                  <a:alpha val="55000"/>
                </a:schemeClr>
              </a:solidFill>
            </a:endParaRPr>
          </a:p>
        </p:txBody>
      </p:sp>
      <p:sp>
        <p:nvSpPr>
          <p:cNvPr id="80" name="ïSḻíḍê">
            <a:extLst>
              <a:ext uri="{FF2B5EF4-FFF2-40B4-BE49-F238E27FC236}">
                <a16:creationId xmlns:a16="http://schemas.microsoft.com/office/drawing/2014/main" id="{2DF17B38-B8DA-45A6-53CE-F21F40A9FDA2}"/>
              </a:ext>
            </a:extLst>
          </p:cNvPr>
          <p:cNvSpPr txBox="1"/>
          <p:nvPr/>
        </p:nvSpPr>
        <p:spPr>
          <a:xfrm>
            <a:off x="749203" y="2830217"/>
            <a:ext cx="1415772" cy="276999"/>
          </a:xfrm>
          <a:prstGeom prst="rect">
            <a:avLst/>
          </a:prstGeom>
          <a:noFill/>
        </p:spPr>
        <p:txBody>
          <a:bodyPr wrap="none" rtlCol="0">
            <a:spAutoFit/>
          </a:bodyPr>
          <a:lstStyle/>
          <a:p>
            <a:r>
              <a:rPr lang="zh-CN" altLang="en-US" sz="1200" b="1" dirty="0">
                <a:solidFill>
                  <a:schemeClr val="accent5">
                    <a:lumMod val="10000"/>
                    <a:alpha val="55000"/>
                  </a:schemeClr>
                </a:solidFill>
              </a:rPr>
              <a:t>持续优化估值方案</a:t>
            </a:r>
            <a:endParaRPr lang="en-GB" altLang="zh-CN" sz="1200" b="1" dirty="0">
              <a:solidFill>
                <a:schemeClr val="accent5">
                  <a:lumMod val="10000"/>
                  <a:alpha val="55000"/>
                </a:schemeClr>
              </a:solidFill>
            </a:endParaRPr>
          </a:p>
        </p:txBody>
      </p:sp>
      <p:sp>
        <p:nvSpPr>
          <p:cNvPr id="81" name="ïSḻíḍê">
            <a:extLst>
              <a:ext uri="{FF2B5EF4-FFF2-40B4-BE49-F238E27FC236}">
                <a16:creationId xmlns:a16="http://schemas.microsoft.com/office/drawing/2014/main" id="{D61105E5-C4E1-FD3F-6742-005A5FD3082F}"/>
              </a:ext>
            </a:extLst>
          </p:cNvPr>
          <p:cNvSpPr txBox="1"/>
          <p:nvPr/>
        </p:nvSpPr>
        <p:spPr>
          <a:xfrm>
            <a:off x="5062207" y="1528026"/>
            <a:ext cx="1460656" cy="276999"/>
          </a:xfrm>
          <a:prstGeom prst="rect">
            <a:avLst/>
          </a:prstGeom>
          <a:noFill/>
        </p:spPr>
        <p:txBody>
          <a:bodyPr wrap="none" rtlCol="0">
            <a:spAutoFit/>
          </a:bodyPr>
          <a:lstStyle/>
          <a:p>
            <a:r>
              <a:rPr lang="zh-CN" altLang="en-US" sz="1200" b="1" dirty="0">
                <a:solidFill>
                  <a:schemeClr val="accent5">
                    <a:lumMod val="10000"/>
                    <a:alpha val="55000"/>
                  </a:schemeClr>
                </a:solidFill>
              </a:rPr>
              <a:t>数据终端模式探索</a:t>
            </a:r>
            <a:endParaRPr lang="en-GB" altLang="zh-CN" sz="1200" b="1" dirty="0">
              <a:solidFill>
                <a:schemeClr val="accent5">
                  <a:lumMod val="10000"/>
                  <a:alpha val="55000"/>
                </a:schemeClr>
              </a:solidFill>
            </a:endParaRPr>
          </a:p>
        </p:txBody>
      </p:sp>
      <p:sp>
        <p:nvSpPr>
          <p:cNvPr id="82" name="îSļidê">
            <a:extLst>
              <a:ext uri="{FF2B5EF4-FFF2-40B4-BE49-F238E27FC236}">
                <a16:creationId xmlns:a16="http://schemas.microsoft.com/office/drawing/2014/main" id="{D1A850A2-7BBA-23E8-9147-079000FA3ABC}"/>
              </a:ext>
            </a:extLst>
          </p:cNvPr>
          <p:cNvSpPr txBox="1"/>
          <p:nvPr/>
        </p:nvSpPr>
        <p:spPr>
          <a:xfrm>
            <a:off x="5150641" y="1766857"/>
            <a:ext cx="2357890" cy="276999"/>
          </a:xfrm>
          <a:prstGeom prst="rect">
            <a:avLst/>
          </a:prstGeom>
          <a:noFill/>
        </p:spPr>
        <p:txBody>
          <a:bodyPr wrap="none" rtlCol="0">
            <a:spAutoFit/>
          </a:bodyPr>
          <a:lstStyle/>
          <a:p>
            <a:pPr marL="171450" indent="-171450">
              <a:buFont typeface="Wingdings" panose="05000000000000000000" pitchFamily="2" charset="2"/>
              <a:buChar char="v"/>
            </a:pPr>
            <a:r>
              <a:rPr lang="zh-CN" altLang="en-US" sz="1200" dirty="0">
                <a:solidFill>
                  <a:schemeClr val="accent5">
                    <a:lumMod val="10000"/>
                    <a:alpha val="55000"/>
                  </a:schemeClr>
                </a:solidFill>
              </a:rPr>
              <a:t>对标</a:t>
            </a:r>
            <a:r>
              <a:rPr lang="en-GB" altLang="zh-CN" sz="1200" dirty="0">
                <a:solidFill>
                  <a:schemeClr val="accent5">
                    <a:lumMod val="10000"/>
                    <a:alpha val="55000"/>
                  </a:schemeClr>
                </a:solidFill>
              </a:rPr>
              <a:t>D</a:t>
            </a:r>
            <a:r>
              <a:rPr lang="en-US" altLang="zh-CN" sz="1200" dirty="0" err="1">
                <a:solidFill>
                  <a:schemeClr val="accent5">
                    <a:lumMod val="10000"/>
                    <a:alpha val="55000"/>
                  </a:schemeClr>
                </a:solidFill>
              </a:rPr>
              <a:t>r.Quant</a:t>
            </a:r>
            <a:r>
              <a:rPr lang="zh-CN" altLang="en-US" sz="1200" dirty="0">
                <a:solidFill>
                  <a:schemeClr val="accent5">
                    <a:lumMod val="10000"/>
                    <a:alpha val="55000"/>
                  </a:schemeClr>
                </a:solidFill>
              </a:rPr>
              <a:t>的数据终端产品</a:t>
            </a:r>
            <a:endParaRPr lang="en-GB" altLang="zh-CN" sz="1200" dirty="0">
              <a:solidFill>
                <a:schemeClr val="accent5">
                  <a:lumMod val="10000"/>
                  <a:alpha val="55000"/>
                </a:schemeClr>
              </a:solidFill>
            </a:endParaRPr>
          </a:p>
        </p:txBody>
      </p:sp>
    </p:spTree>
    <p:extLst>
      <p:ext uri="{BB962C8B-B14F-4D97-AF65-F5344CB8AC3E}">
        <p14:creationId xmlns:p14="http://schemas.microsoft.com/office/powerpoint/2010/main" val="3528414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B8EFF6A5-6B7C-D6E7-5A93-E331C0724226}"/>
              </a:ext>
            </a:extLst>
          </p:cNvPr>
          <p:cNvPicPr>
            <a:picLocks noChangeAspect="1"/>
          </p:cNvPicPr>
          <p:nvPr/>
        </p:nvPicPr>
        <p:blipFill>
          <a:blip r:embed="rId2" cstate="print">
            <a:alphaModFix amt="35000"/>
            <a:extLst>
              <a:ext uri="{28A0092B-C50C-407E-A947-70E740481C1C}">
                <a14:useLocalDpi xmlns:a14="http://schemas.microsoft.com/office/drawing/2010/main"/>
              </a:ext>
            </a:extLst>
          </a:blip>
          <a:srcRect t="-1" b="27399"/>
          <a:stretch>
            <a:fillRect/>
          </a:stretch>
        </p:blipFill>
        <p:spPr>
          <a:xfrm>
            <a:off x="1" y="0"/>
            <a:ext cx="12192000" cy="2257425"/>
          </a:xfrm>
          <a:prstGeom prst="rect">
            <a:avLst/>
          </a:prstGeom>
        </p:spPr>
      </p:pic>
      <p:grpSp>
        <p:nvGrpSpPr>
          <p:cNvPr id="28" name="组合 27">
            <a:extLst>
              <a:ext uri="{FF2B5EF4-FFF2-40B4-BE49-F238E27FC236}">
                <a16:creationId xmlns:a16="http://schemas.microsoft.com/office/drawing/2014/main" id="{CFA2F3EB-F1C0-CCDB-B75F-6C65E5C7D04C}"/>
              </a:ext>
            </a:extLst>
          </p:cNvPr>
          <p:cNvGrpSpPr/>
          <p:nvPr/>
        </p:nvGrpSpPr>
        <p:grpSpPr>
          <a:xfrm>
            <a:off x="578430" y="1628775"/>
            <a:ext cx="3127939" cy="706540"/>
            <a:chOff x="578430" y="2472122"/>
            <a:chExt cx="3127939" cy="706540"/>
          </a:xfrm>
        </p:grpSpPr>
        <p:sp>
          <p:nvSpPr>
            <p:cNvPr id="25" name="矩形 24">
              <a:extLst>
                <a:ext uri="{FF2B5EF4-FFF2-40B4-BE49-F238E27FC236}">
                  <a16:creationId xmlns:a16="http://schemas.microsoft.com/office/drawing/2014/main" id="{F3F934B0-B4AB-731B-31A2-ECAEF0A05EBB}"/>
                </a:ext>
              </a:extLst>
            </p:cNvPr>
            <p:cNvSpPr/>
            <p:nvPr/>
          </p:nvSpPr>
          <p:spPr>
            <a:xfrm>
              <a:off x="644537" y="2472122"/>
              <a:ext cx="3061832" cy="637222"/>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latin typeface="Arial" panose="020B0604020202020204" pitchFamily="34" charset="0"/>
                <a:ea typeface="黑体" panose="02010609060101010101" pitchFamily="49" charset="-122"/>
              </a:endParaRPr>
            </a:p>
          </p:txBody>
        </p:sp>
        <p:sp>
          <p:nvSpPr>
            <p:cNvPr id="26" name="矩形 25">
              <a:extLst>
                <a:ext uri="{FF2B5EF4-FFF2-40B4-BE49-F238E27FC236}">
                  <a16:creationId xmlns:a16="http://schemas.microsoft.com/office/drawing/2014/main" id="{201FDE6A-BECE-96D5-3B54-BF6EAE7D05F3}"/>
                </a:ext>
              </a:extLst>
            </p:cNvPr>
            <p:cNvSpPr/>
            <p:nvPr/>
          </p:nvSpPr>
          <p:spPr>
            <a:xfrm>
              <a:off x="619170" y="2876328"/>
              <a:ext cx="258445" cy="268612"/>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latin typeface="Arial" panose="020B0604020202020204" pitchFamily="34" charset="0"/>
                <a:ea typeface="黑体" panose="02010609060101010101" pitchFamily="49" charset="-122"/>
              </a:endParaRPr>
            </a:p>
          </p:txBody>
        </p:sp>
        <p:sp>
          <p:nvSpPr>
            <p:cNvPr id="27" name="矩形 26">
              <a:extLst>
                <a:ext uri="{FF2B5EF4-FFF2-40B4-BE49-F238E27FC236}">
                  <a16:creationId xmlns:a16="http://schemas.microsoft.com/office/drawing/2014/main" id="{351044A1-9CA5-3653-B0EF-2046C7204F43}"/>
                </a:ext>
              </a:extLst>
            </p:cNvPr>
            <p:cNvSpPr/>
            <p:nvPr/>
          </p:nvSpPr>
          <p:spPr>
            <a:xfrm>
              <a:off x="578430" y="2910050"/>
              <a:ext cx="258445" cy="268612"/>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latin typeface="Arial" panose="020B0604020202020204" pitchFamily="34" charset="0"/>
                <a:ea typeface="黑体" panose="02010609060101010101" pitchFamily="49" charset="-122"/>
              </a:endParaRPr>
            </a:p>
          </p:txBody>
        </p:sp>
      </p:grpSp>
      <p:sp>
        <p:nvSpPr>
          <p:cNvPr id="9" name="内容占位符 2">
            <a:extLst>
              <a:ext uri="{FF2B5EF4-FFF2-40B4-BE49-F238E27FC236}">
                <a16:creationId xmlns:a16="http://schemas.microsoft.com/office/drawing/2014/main" id="{F942F539-D4FA-D61D-208F-AC23B0229CD8}"/>
              </a:ext>
            </a:extLst>
          </p:cNvPr>
          <p:cNvSpPr txBox="1"/>
          <p:nvPr/>
        </p:nvSpPr>
        <p:spPr>
          <a:xfrm>
            <a:off x="1415304" y="1809406"/>
            <a:ext cx="1596296" cy="347911"/>
          </a:xfrm>
        </p:spPr>
        <p:txBody>
          <a:bodyPr lIns="0" tIns="0" rIns="0" bIns="0"/>
          <a:lstStyle>
            <a:lvl1pPr marL="0" indent="0" algn="just" defTabSz="914400" rtl="0" eaLnBrk="1" latinLnBrk="0" hangingPunct="1">
              <a:lnSpc>
                <a:spcPct val="11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1pPr>
            <a:lvl2pPr marL="0" indent="0" algn="just" defTabSz="914400" rtl="0" eaLnBrk="1" latinLnBrk="0" hangingPunct="1">
              <a:lnSpc>
                <a:spcPct val="10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2pPr>
            <a:lvl3pPr marL="180975"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3pPr>
            <a:lvl4pPr marL="36195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4pPr>
            <a:lvl5pPr marL="54864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5pPr>
            <a:lvl6pPr marL="73152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6pPr>
            <a:lvl7pPr marL="91440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7pPr>
            <a:lvl8pPr marL="109728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8pPr>
            <a:lvl9pPr marL="128016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9pPr>
          </a:lstStyle>
          <a:p>
            <a:pPr algn="ctr"/>
            <a:r>
              <a:rPr lang="zh-CN" altLang="en-US" sz="2000" b="1" dirty="0">
                <a:solidFill>
                  <a:schemeClr val="bg1"/>
                </a:solidFill>
                <a:latin typeface="+mj-ea"/>
                <a:ea typeface="+mj-ea"/>
              </a:rPr>
              <a:t>我们的理解</a:t>
            </a:r>
          </a:p>
        </p:txBody>
      </p:sp>
      <p:sp>
        <p:nvSpPr>
          <p:cNvPr id="2" name="标题 1">
            <a:extLst>
              <a:ext uri="{FF2B5EF4-FFF2-40B4-BE49-F238E27FC236}">
                <a16:creationId xmlns:a16="http://schemas.microsoft.com/office/drawing/2014/main" id="{B3E867B6-1412-8BAB-A311-C349E0C5E25B}"/>
              </a:ext>
            </a:extLst>
          </p:cNvPr>
          <p:cNvSpPr>
            <a:spLocks noGrp="1"/>
          </p:cNvSpPr>
          <p:nvPr>
            <p:ph type="title"/>
          </p:nvPr>
        </p:nvSpPr>
        <p:spPr/>
        <p:txBody>
          <a:bodyPr/>
          <a:lstStyle/>
          <a:p>
            <a:r>
              <a:rPr lang="zh-CN" altLang="en-US" dirty="0"/>
              <a:t>估值内控鉴证</a:t>
            </a:r>
          </a:p>
        </p:txBody>
      </p:sp>
      <p:sp>
        <p:nvSpPr>
          <p:cNvPr id="4" name="灯片编号占位符 3">
            <a:extLst>
              <a:ext uri="{FF2B5EF4-FFF2-40B4-BE49-F238E27FC236}">
                <a16:creationId xmlns:a16="http://schemas.microsoft.com/office/drawing/2014/main" id="{CE017F9E-D1AD-0C5B-783B-630483C797B9}"/>
              </a:ext>
            </a:extLst>
          </p:cNvPr>
          <p:cNvSpPr>
            <a:spLocks noGrp="1"/>
          </p:cNvSpPr>
          <p:nvPr>
            <p:ph type="sldNum" sz="quarter" idx="10"/>
          </p:nvPr>
        </p:nvSpPr>
        <p:spPr/>
        <p:txBody>
          <a:bodyPr/>
          <a:lstStyle/>
          <a:p>
            <a:fld id="{7870704B-CE94-48CC-AF30-84932A1262A7}" type="slidenum">
              <a:rPr lang="en-GB" smtClean="0"/>
              <a:pPr/>
              <a:t>6</a:t>
            </a:fld>
            <a:endParaRPr lang="en-GB"/>
          </a:p>
        </p:txBody>
      </p:sp>
      <p:sp>
        <p:nvSpPr>
          <p:cNvPr id="5" name="页脚占位符 4">
            <a:extLst>
              <a:ext uri="{FF2B5EF4-FFF2-40B4-BE49-F238E27FC236}">
                <a16:creationId xmlns:a16="http://schemas.microsoft.com/office/drawing/2014/main" id="{7378EF0C-30B7-155C-E5A7-79C619ACE591}"/>
              </a:ext>
            </a:extLst>
          </p:cNvPr>
          <p:cNvSpPr>
            <a:spLocks noGrp="1"/>
          </p:cNvSpPr>
          <p:nvPr>
            <p:ph type="ftr" sz="quarter" idx="13"/>
          </p:nvPr>
        </p:nvSpPr>
        <p:spPr/>
        <p:txBody>
          <a:bodyPr/>
          <a:lstStyle/>
          <a:p>
            <a:r>
              <a:rPr lang="en-US" altLang="zh-CN"/>
              <a:t>© </a:t>
            </a:r>
            <a:r>
              <a:rPr lang="zh-CN" altLang="en-US"/>
              <a:t>容诚会计师事务所（特殊普通合伙），</a:t>
            </a:r>
            <a:r>
              <a:rPr lang="en-US" altLang="zh-CN"/>
              <a:t>2026</a:t>
            </a:r>
            <a:endParaRPr lang="zh-CN" altLang="en-US"/>
          </a:p>
        </p:txBody>
      </p:sp>
      <p:sp>
        <p:nvSpPr>
          <p:cNvPr id="6" name="内容占位符 5">
            <a:extLst>
              <a:ext uri="{FF2B5EF4-FFF2-40B4-BE49-F238E27FC236}">
                <a16:creationId xmlns:a16="http://schemas.microsoft.com/office/drawing/2014/main" id="{12AB9A2C-06EA-E564-D0DA-1D6AB80E00E9}"/>
              </a:ext>
            </a:extLst>
          </p:cNvPr>
          <p:cNvSpPr>
            <a:spLocks noGrp="1"/>
          </p:cNvSpPr>
          <p:nvPr>
            <p:ph sz="quarter" idx="14"/>
          </p:nvPr>
        </p:nvSpPr>
        <p:spPr/>
        <p:txBody>
          <a:bodyPr/>
          <a:lstStyle/>
          <a:p>
            <a:r>
              <a:rPr lang="zh-CN" altLang="en-US" dirty="0"/>
              <a:t>需求背景</a:t>
            </a:r>
          </a:p>
        </p:txBody>
      </p:sp>
      <p:sp>
        <p:nvSpPr>
          <p:cNvPr id="10" name="矩形 9">
            <a:extLst>
              <a:ext uri="{FF2B5EF4-FFF2-40B4-BE49-F238E27FC236}">
                <a16:creationId xmlns:a16="http://schemas.microsoft.com/office/drawing/2014/main" id="{B4565A2E-ECEF-3C1D-4DC4-8B51E2FA3E20}"/>
              </a:ext>
            </a:extLst>
          </p:cNvPr>
          <p:cNvSpPr/>
          <p:nvPr/>
        </p:nvSpPr>
        <p:spPr>
          <a:xfrm>
            <a:off x="660400" y="2378512"/>
            <a:ext cx="10858500" cy="3858775"/>
          </a:xfrm>
          <a:prstGeom prst="rect">
            <a:avLst/>
          </a:prstGeom>
          <a:solidFill>
            <a:schemeClr val="accent1">
              <a:lumMod val="20000"/>
              <a:lumOff val="80000"/>
              <a:alpha val="40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latin typeface="Arial" panose="020B0604020202020204" pitchFamily="34" charset="0"/>
              <a:ea typeface="楷体" panose="02010609060101010101" pitchFamily="49" charset="-122"/>
            </a:endParaRPr>
          </a:p>
        </p:txBody>
      </p:sp>
      <p:sp>
        <p:nvSpPr>
          <p:cNvPr id="11" name="矩形 10">
            <a:extLst>
              <a:ext uri="{FF2B5EF4-FFF2-40B4-BE49-F238E27FC236}">
                <a16:creationId xmlns:a16="http://schemas.microsoft.com/office/drawing/2014/main" id="{7756B18E-333E-1CD9-C8C5-2DF1FF08AF13}"/>
              </a:ext>
            </a:extLst>
          </p:cNvPr>
          <p:cNvSpPr/>
          <p:nvPr/>
        </p:nvSpPr>
        <p:spPr>
          <a:xfrm>
            <a:off x="869219" y="2527947"/>
            <a:ext cx="10460769" cy="3558527"/>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latin typeface="Arial" panose="020B0604020202020204" pitchFamily="34" charset="0"/>
              <a:ea typeface="楷体" panose="02010609060101010101" pitchFamily="49" charset="-122"/>
            </a:endParaRPr>
          </a:p>
        </p:txBody>
      </p:sp>
      <p:sp>
        <p:nvSpPr>
          <p:cNvPr id="12" name="文本框 11">
            <a:extLst>
              <a:ext uri="{FF2B5EF4-FFF2-40B4-BE49-F238E27FC236}">
                <a16:creationId xmlns:a16="http://schemas.microsoft.com/office/drawing/2014/main" id="{14659F22-E47E-AF8A-FC49-935939F7CC9A}"/>
              </a:ext>
            </a:extLst>
          </p:cNvPr>
          <p:cNvSpPr txBox="1"/>
          <p:nvPr/>
        </p:nvSpPr>
        <p:spPr>
          <a:xfrm>
            <a:off x="1341839" y="2739224"/>
            <a:ext cx="4136664" cy="247632"/>
          </a:xfrm>
          <a:prstGeom prst="rect">
            <a:avLst/>
          </a:prstGeom>
          <a:noFill/>
        </p:spPr>
        <p:txBody>
          <a:bodyPr wrap="square" lIns="0" tIns="0" rIns="0" bIns="0" rtlCol="0">
            <a:spAutoFit/>
          </a:bodyPr>
          <a:lstStyle/>
          <a:p>
            <a:pPr defTabSz="914400">
              <a:lnSpc>
                <a:spcPct val="110000"/>
              </a:lnSpc>
              <a:spcAft>
                <a:spcPts val="300"/>
              </a:spcAft>
              <a:buClr>
                <a:schemeClr val="accent1">
                  <a:lumMod val="75000"/>
                </a:schemeClr>
              </a:buClr>
              <a:buSzPct val="80000"/>
            </a:pPr>
            <a:r>
              <a:rPr lang="en-US" altLang="zh-CN" sz="1600" b="1" dirty="0">
                <a:solidFill>
                  <a:schemeClr val="accent1"/>
                </a:solidFill>
                <a:latin typeface="Arial" panose="020B0604020202020204" pitchFamily="34" charset="0"/>
                <a:ea typeface="楷体" panose="02010609060101010101" pitchFamily="49" charset="-122"/>
              </a:rPr>
              <a:t>1. </a:t>
            </a:r>
            <a:r>
              <a:rPr lang="zh-CN" altLang="en-US" sz="1600" b="1" dirty="0">
                <a:solidFill>
                  <a:schemeClr val="accent1"/>
                </a:solidFill>
                <a:latin typeface="Arial" panose="020B0604020202020204" pitchFamily="34" charset="0"/>
                <a:ea typeface="楷体" panose="02010609060101010101" pitchFamily="49" charset="-122"/>
              </a:rPr>
              <a:t>监管规则和自律指引要求</a:t>
            </a:r>
          </a:p>
        </p:txBody>
      </p:sp>
      <p:sp>
        <p:nvSpPr>
          <p:cNvPr id="13" name="文本框 12">
            <a:extLst>
              <a:ext uri="{FF2B5EF4-FFF2-40B4-BE49-F238E27FC236}">
                <a16:creationId xmlns:a16="http://schemas.microsoft.com/office/drawing/2014/main" id="{8EF3AEF8-FB81-FDF6-4609-5B3693DFEB28}"/>
              </a:ext>
            </a:extLst>
          </p:cNvPr>
          <p:cNvSpPr txBox="1"/>
          <p:nvPr/>
        </p:nvSpPr>
        <p:spPr>
          <a:xfrm>
            <a:off x="1341839" y="3149075"/>
            <a:ext cx="9588099" cy="1555490"/>
          </a:xfrm>
          <a:prstGeom prst="rect">
            <a:avLst/>
          </a:prstGeom>
          <a:noFill/>
        </p:spPr>
        <p:txBody>
          <a:bodyPr wrap="square" lIns="0" tIns="0" rIns="0" bIns="0" rtlCol="0" anchor="t">
            <a:spAutoFit/>
          </a:bodyPr>
          <a:lstStyle/>
          <a:p>
            <a:pPr marL="285750" indent="-285750" algn="just">
              <a:lnSpc>
                <a:spcPct val="110000"/>
              </a:lnSpc>
              <a:spcAft>
                <a:spcPts val="300"/>
              </a:spcAft>
              <a:buClr>
                <a:schemeClr val="accent1">
                  <a:lumMod val="75000"/>
                </a:schemeClr>
              </a:buClr>
              <a:buSzPct val="80000"/>
              <a:buFont typeface="Wingdings" panose="05000000000000000000" pitchFamily="2" charset="2"/>
              <a:buChar char="n"/>
            </a:pPr>
            <a:r>
              <a:rPr lang="en-US" altLang="zh-CN" sz="1400" dirty="0">
                <a:solidFill>
                  <a:srgbClr val="333333"/>
                </a:solidFill>
                <a:latin typeface="Arial" panose="020B0604020202020204" pitchFamily="34" charset="0"/>
                <a:ea typeface="楷体" panose="02010609060101010101" pitchFamily="49" charset="-122"/>
                <a:cs typeface="Arial"/>
              </a:rPr>
              <a:t>《</a:t>
            </a:r>
            <a:r>
              <a:rPr lang="zh-CN" altLang="en-US" sz="1400" dirty="0">
                <a:solidFill>
                  <a:srgbClr val="333333"/>
                </a:solidFill>
                <a:latin typeface="Arial" panose="020B0604020202020204" pitchFamily="34" charset="0"/>
                <a:ea typeface="楷体" panose="02010609060101010101" pitchFamily="49" charset="-122"/>
                <a:cs typeface="Arial"/>
              </a:rPr>
              <a:t>银行间债券市场债券估值业务管理办法</a:t>
            </a:r>
            <a:r>
              <a:rPr lang="en-US" altLang="zh-CN" sz="1400" dirty="0">
                <a:solidFill>
                  <a:srgbClr val="333333"/>
                </a:solidFill>
                <a:latin typeface="Arial" panose="020B0604020202020204" pitchFamily="34" charset="0"/>
                <a:ea typeface="楷体" panose="02010609060101010101" pitchFamily="49" charset="-122"/>
                <a:cs typeface="Arial"/>
              </a:rPr>
              <a:t>》 </a:t>
            </a:r>
            <a:r>
              <a:rPr lang="zh-CN" altLang="en-US" sz="1400" dirty="0">
                <a:solidFill>
                  <a:srgbClr val="333333"/>
                </a:solidFill>
                <a:latin typeface="Arial" panose="020B0604020202020204" pitchFamily="34" charset="0"/>
                <a:ea typeface="楷体" panose="02010609060101010101" pitchFamily="49" charset="-122"/>
                <a:cs typeface="Arial"/>
              </a:rPr>
              <a:t>中国人民银行公告 （</a:t>
            </a:r>
            <a:r>
              <a:rPr lang="en-US" altLang="zh-CN" sz="1400" dirty="0">
                <a:solidFill>
                  <a:srgbClr val="333333"/>
                </a:solidFill>
                <a:latin typeface="Arial" panose="020B0604020202020204" pitchFamily="34" charset="0"/>
                <a:ea typeface="楷体" panose="02010609060101010101" pitchFamily="49" charset="-122"/>
                <a:cs typeface="Arial"/>
              </a:rPr>
              <a:t>〔2023〕</a:t>
            </a:r>
            <a:r>
              <a:rPr lang="zh-CN" altLang="en-US" sz="1400" dirty="0">
                <a:solidFill>
                  <a:srgbClr val="333333"/>
                </a:solidFill>
                <a:latin typeface="Arial" panose="020B0604020202020204" pitchFamily="34" charset="0"/>
                <a:ea typeface="楷体" panose="02010609060101010101" pitchFamily="49" charset="-122"/>
                <a:cs typeface="Arial"/>
              </a:rPr>
              <a:t>第</a:t>
            </a:r>
            <a:r>
              <a:rPr lang="en-US" altLang="zh-CN" sz="1400" dirty="0">
                <a:solidFill>
                  <a:srgbClr val="333333"/>
                </a:solidFill>
                <a:latin typeface="Arial" panose="020B0604020202020204" pitchFamily="34" charset="0"/>
                <a:ea typeface="楷体" panose="02010609060101010101" pitchFamily="49" charset="-122"/>
                <a:cs typeface="Arial"/>
              </a:rPr>
              <a:t>19</a:t>
            </a:r>
            <a:r>
              <a:rPr lang="zh-CN" altLang="en-US" sz="1400" dirty="0">
                <a:solidFill>
                  <a:srgbClr val="333333"/>
                </a:solidFill>
                <a:latin typeface="Arial" panose="020B0604020202020204" pitchFamily="34" charset="0"/>
                <a:ea typeface="楷体" panose="02010609060101010101" pitchFamily="49" charset="-122"/>
                <a:cs typeface="Arial"/>
              </a:rPr>
              <a:t>号）：</a:t>
            </a:r>
          </a:p>
          <a:p>
            <a:pPr marL="568800" indent="-285750" algn="just">
              <a:lnSpc>
                <a:spcPct val="110000"/>
              </a:lnSpc>
              <a:spcAft>
                <a:spcPts val="300"/>
              </a:spcAft>
              <a:buSzPct val="100000"/>
              <a:buFont typeface="Arial" panose="020B0604020202020204" pitchFamily="34" charset="0"/>
              <a:buChar char="-"/>
            </a:pPr>
            <a:r>
              <a:rPr lang="zh-CN" altLang="en-US" sz="1400" dirty="0">
                <a:solidFill>
                  <a:srgbClr val="333333"/>
                </a:solidFill>
                <a:latin typeface="Arial" panose="020B0604020202020204" pitchFamily="34" charset="0"/>
                <a:ea typeface="楷体" panose="02010609060101010101" pitchFamily="49" charset="-122"/>
                <a:cs typeface="Arial"/>
              </a:rPr>
              <a:t>鼓励估值机构聘请独立且具有丰富经验和能力的审计机构，在充分防范利益冲突的前提下，对估值机构内控机制、估值产品编制流程等的遵循情况进行定期评估。</a:t>
            </a:r>
          </a:p>
          <a:p>
            <a:pPr marL="285750" indent="-285750" algn="just">
              <a:lnSpc>
                <a:spcPct val="110000"/>
              </a:lnSpc>
              <a:spcAft>
                <a:spcPts val="300"/>
              </a:spcAft>
              <a:buClr>
                <a:schemeClr val="accent1">
                  <a:lumMod val="75000"/>
                </a:schemeClr>
              </a:buClr>
              <a:buSzPct val="80000"/>
              <a:buFont typeface="Wingdings" panose="05000000000000000000" pitchFamily="2" charset="2"/>
              <a:buChar char="n"/>
            </a:pPr>
            <a:r>
              <a:rPr lang="en-US" altLang="zh-CN" sz="1400" dirty="0">
                <a:solidFill>
                  <a:srgbClr val="333333"/>
                </a:solidFill>
                <a:latin typeface="Arial" panose="020B0604020202020204" pitchFamily="34" charset="0"/>
                <a:ea typeface="楷体" panose="02010609060101010101" pitchFamily="49" charset="-122"/>
                <a:cs typeface="Arial"/>
              </a:rPr>
              <a:t>《</a:t>
            </a:r>
            <a:r>
              <a:rPr lang="zh-CN" altLang="en-US" sz="1400" dirty="0">
                <a:solidFill>
                  <a:srgbClr val="333333"/>
                </a:solidFill>
                <a:latin typeface="Arial" panose="020B0604020202020204" pitchFamily="34" charset="0"/>
                <a:ea typeface="楷体" panose="02010609060101010101" pitchFamily="49" charset="-122"/>
                <a:cs typeface="Arial"/>
              </a:rPr>
              <a:t>银行间债券市场债券估值业务自律指引（试行）</a:t>
            </a:r>
            <a:r>
              <a:rPr lang="en-US" altLang="zh-CN" sz="1400" dirty="0">
                <a:solidFill>
                  <a:srgbClr val="333333"/>
                </a:solidFill>
                <a:latin typeface="Arial" panose="020B0604020202020204" pitchFamily="34" charset="0"/>
                <a:ea typeface="楷体" panose="02010609060101010101" pitchFamily="49" charset="-122"/>
                <a:cs typeface="Arial"/>
              </a:rPr>
              <a:t>》</a:t>
            </a:r>
            <a:r>
              <a:rPr lang="zh-CN" altLang="en-US" sz="1400" dirty="0">
                <a:solidFill>
                  <a:srgbClr val="333333"/>
                </a:solidFill>
                <a:latin typeface="Arial" panose="020B0604020202020204" pitchFamily="34" charset="0"/>
                <a:ea typeface="楷体" panose="02010609060101010101" pitchFamily="49" charset="-122"/>
                <a:cs typeface="Arial"/>
              </a:rPr>
              <a:t>中国银行间市场交易商协会发布（</a:t>
            </a:r>
            <a:r>
              <a:rPr lang="en-US" altLang="zh-CN" sz="1400" dirty="0">
                <a:solidFill>
                  <a:srgbClr val="333333"/>
                </a:solidFill>
                <a:latin typeface="Arial" panose="020B0604020202020204" pitchFamily="34" charset="0"/>
                <a:ea typeface="楷体" panose="02010609060101010101" pitchFamily="49" charset="-122"/>
                <a:cs typeface="Arial"/>
              </a:rPr>
              <a:t>2025</a:t>
            </a:r>
            <a:r>
              <a:rPr lang="zh-CN" altLang="en-US" sz="1400" dirty="0">
                <a:solidFill>
                  <a:srgbClr val="333333"/>
                </a:solidFill>
                <a:latin typeface="Arial" panose="020B0604020202020204" pitchFamily="34" charset="0"/>
                <a:ea typeface="楷体" panose="02010609060101010101" pitchFamily="49" charset="-122"/>
                <a:cs typeface="Arial"/>
              </a:rPr>
              <a:t>）</a:t>
            </a:r>
          </a:p>
          <a:p>
            <a:pPr marL="568800" indent="-285750" algn="just">
              <a:lnSpc>
                <a:spcPct val="110000"/>
              </a:lnSpc>
              <a:spcAft>
                <a:spcPts val="300"/>
              </a:spcAft>
              <a:buSzPct val="100000"/>
              <a:buFont typeface="Arial" panose="020B0604020202020204" pitchFamily="34" charset="0"/>
              <a:buChar char="-"/>
            </a:pPr>
            <a:r>
              <a:rPr lang="zh-CN" altLang="en-US" sz="1400" dirty="0">
                <a:solidFill>
                  <a:srgbClr val="333333"/>
                </a:solidFill>
                <a:latin typeface="Arial" panose="020B0604020202020204" pitchFamily="34" charset="0"/>
                <a:ea typeface="楷体" panose="02010609060101010101" pitchFamily="49" charset="-122"/>
                <a:cs typeface="Arial"/>
              </a:rPr>
              <a:t>鼓励估值机构聘请独立的审计机构对其估值业务开展及本指引的遵循情况进行定期评估。</a:t>
            </a:r>
          </a:p>
          <a:p>
            <a:pPr marL="285750" indent="-285750" algn="just">
              <a:lnSpc>
                <a:spcPct val="110000"/>
              </a:lnSpc>
              <a:spcAft>
                <a:spcPts val="300"/>
              </a:spcAft>
              <a:buClr>
                <a:schemeClr val="accent1">
                  <a:lumMod val="75000"/>
                </a:schemeClr>
              </a:buClr>
              <a:buSzPct val="80000"/>
              <a:buFont typeface="Wingdings" panose="05000000000000000000" pitchFamily="2" charset="2"/>
              <a:buChar char="n"/>
            </a:pPr>
            <a:r>
              <a:rPr lang="zh-CN" altLang="en-US" sz="1400" dirty="0">
                <a:solidFill>
                  <a:schemeClr val="accent1"/>
                </a:solidFill>
                <a:latin typeface="Arial" panose="020B0604020202020204" pitchFamily="34" charset="0"/>
                <a:ea typeface="楷体" panose="02010609060101010101" pitchFamily="49" charset="-122"/>
                <a:cs typeface="Arial"/>
              </a:rPr>
              <a:t>作为中国银行间市场最为重要的估值业务服务机构，开展内控鉴证正面回应人行和协会要求</a:t>
            </a:r>
          </a:p>
        </p:txBody>
      </p:sp>
      <p:sp>
        <p:nvSpPr>
          <p:cNvPr id="29" name="文本框 28">
            <a:extLst>
              <a:ext uri="{FF2B5EF4-FFF2-40B4-BE49-F238E27FC236}">
                <a16:creationId xmlns:a16="http://schemas.microsoft.com/office/drawing/2014/main" id="{B6E952CD-0C02-6FBA-934A-FE78AB596E0A}"/>
              </a:ext>
            </a:extLst>
          </p:cNvPr>
          <p:cNvSpPr txBox="1"/>
          <p:nvPr/>
        </p:nvSpPr>
        <p:spPr>
          <a:xfrm>
            <a:off x="1341839" y="4969987"/>
            <a:ext cx="9796918" cy="518475"/>
          </a:xfrm>
          <a:prstGeom prst="rect">
            <a:avLst/>
          </a:prstGeom>
          <a:noFill/>
        </p:spPr>
        <p:txBody>
          <a:bodyPr wrap="square" lIns="0" tIns="0" rIns="0" bIns="0" rtlCol="0">
            <a:spAutoFit/>
          </a:bodyPr>
          <a:lstStyle/>
          <a:p>
            <a:pPr algn="just" defTabSz="914400">
              <a:lnSpc>
                <a:spcPct val="110000"/>
              </a:lnSpc>
              <a:spcAft>
                <a:spcPts val="300"/>
              </a:spcAft>
              <a:buClr>
                <a:schemeClr val="accent1">
                  <a:lumMod val="75000"/>
                </a:schemeClr>
              </a:buClr>
              <a:buSzPct val="80000"/>
            </a:pPr>
            <a:r>
              <a:rPr lang="en-US" altLang="zh-CN" sz="1600" b="1" dirty="0">
                <a:solidFill>
                  <a:schemeClr val="accent1"/>
                </a:solidFill>
                <a:latin typeface="Arial" panose="020B0604020202020204" pitchFamily="34" charset="0"/>
                <a:ea typeface="楷体" panose="02010609060101010101" pitchFamily="49" charset="-122"/>
              </a:rPr>
              <a:t>2. </a:t>
            </a:r>
            <a:r>
              <a:rPr lang="zh-CN" altLang="en-US" sz="1600" b="1" dirty="0">
                <a:solidFill>
                  <a:schemeClr val="accent1"/>
                </a:solidFill>
                <a:latin typeface="Arial" panose="020B0604020202020204" pitchFamily="34" charset="0"/>
                <a:ea typeface="楷体" panose="02010609060101010101" pitchFamily="49" charset="-122"/>
              </a:rPr>
              <a:t>近年来中诚信等估值机构推出针对二永债、永续债等估值平滑方案，资管行业面临业绩压力，部分管理人在估值事项上选择失当。</a:t>
            </a:r>
          </a:p>
        </p:txBody>
      </p:sp>
      <p:sp>
        <p:nvSpPr>
          <p:cNvPr id="30" name="文本框 29">
            <a:extLst>
              <a:ext uri="{FF2B5EF4-FFF2-40B4-BE49-F238E27FC236}">
                <a16:creationId xmlns:a16="http://schemas.microsoft.com/office/drawing/2014/main" id="{F61A9E5E-55C3-23A3-8532-BB469C264FFC}"/>
              </a:ext>
            </a:extLst>
          </p:cNvPr>
          <p:cNvSpPr txBox="1"/>
          <p:nvPr/>
        </p:nvSpPr>
        <p:spPr>
          <a:xfrm>
            <a:off x="1341839" y="5585051"/>
            <a:ext cx="9588099" cy="216662"/>
          </a:xfrm>
          <a:prstGeom prst="rect">
            <a:avLst/>
          </a:prstGeom>
          <a:noFill/>
        </p:spPr>
        <p:txBody>
          <a:bodyPr wrap="square" lIns="0" tIns="0" rIns="0" bIns="0" rtlCol="0" anchor="t">
            <a:spAutoFit/>
          </a:bodyPr>
          <a:lstStyle/>
          <a:p>
            <a:pPr marL="285750" indent="-285750" algn="just">
              <a:lnSpc>
                <a:spcPct val="110000"/>
              </a:lnSpc>
              <a:spcAft>
                <a:spcPts val="300"/>
              </a:spcAft>
              <a:buClr>
                <a:schemeClr val="accent1">
                  <a:lumMod val="75000"/>
                </a:schemeClr>
              </a:buClr>
              <a:buSzPct val="80000"/>
              <a:buFont typeface="Wingdings" panose="05000000000000000000" pitchFamily="2" charset="2"/>
              <a:buChar char="n"/>
            </a:pPr>
            <a:r>
              <a:rPr lang="zh-CN" altLang="en-US" sz="1400" dirty="0">
                <a:solidFill>
                  <a:schemeClr val="accent1"/>
                </a:solidFill>
                <a:latin typeface="Arial" panose="020B0604020202020204" pitchFamily="34" charset="0"/>
                <a:ea typeface="楷体" panose="02010609060101010101" pitchFamily="49" charset="-122"/>
                <a:cs typeface="Arial"/>
              </a:rPr>
              <a:t>开展内控鉴证有助于树立行业标杆</a:t>
            </a:r>
          </a:p>
        </p:txBody>
      </p:sp>
    </p:spTree>
    <p:extLst>
      <p:ext uri="{BB962C8B-B14F-4D97-AF65-F5344CB8AC3E}">
        <p14:creationId xmlns:p14="http://schemas.microsoft.com/office/powerpoint/2010/main" val="3328725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09BC8-7EAC-5EB1-181A-0B199F5BAFCF}"/>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9A080724-37D3-F51A-81F8-2917EF6F565B}"/>
              </a:ext>
            </a:extLst>
          </p:cNvPr>
          <p:cNvPicPr>
            <a:picLocks noChangeAspect="1"/>
          </p:cNvPicPr>
          <p:nvPr/>
        </p:nvPicPr>
        <p:blipFill>
          <a:blip r:embed="rId2" cstate="print">
            <a:alphaModFix amt="35000"/>
            <a:extLst>
              <a:ext uri="{28A0092B-C50C-407E-A947-70E740481C1C}">
                <a14:useLocalDpi xmlns:a14="http://schemas.microsoft.com/office/drawing/2010/main"/>
              </a:ext>
            </a:extLst>
          </a:blip>
          <a:srcRect t="-1" b="27399"/>
          <a:stretch>
            <a:fillRect/>
          </a:stretch>
        </p:blipFill>
        <p:spPr>
          <a:xfrm>
            <a:off x="1" y="0"/>
            <a:ext cx="12192000" cy="2257425"/>
          </a:xfrm>
          <a:prstGeom prst="rect">
            <a:avLst/>
          </a:prstGeom>
        </p:spPr>
      </p:pic>
      <p:sp>
        <p:nvSpPr>
          <p:cNvPr id="2" name="标题 1">
            <a:extLst>
              <a:ext uri="{FF2B5EF4-FFF2-40B4-BE49-F238E27FC236}">
                <a16:creationId xmlns:a16="http://schemas.microsoft.com/office/drawing/2014/main" id="{67BB1B39-C962-4F8C-7B76-1ECD11F62FF8}"/>
              </a:ext>
            </a:extLst>
          </p:cNvPr>
          <p:cNvSpPr>
            <a:spLocks noGrp="1"/>
          </p:cNvSpPr>
          <p:nvPr>
            <p:ph type="title"/>
          </p:nvPr>
        </p:nvSpPr>
        <p:spPr/>
        <p:txBody>
          <a:bodyPr/>
          <a:lstStyle/>
          <a:p>
            <a:r>
              <a:rPr lang="zh-CN" altLang="en-US" dirty="0"/>
              <a:t>估值内控鉴证</a:t>
            </a:r>
          </a:p>
        </p:txBody>
      </p:sp>
      <p:sp>
        <p:nvSpPr>
          <p:cNvPr id="4" name="灯片编号占位符 3">
            <a:extLst>
              <a:ext uri="{FF2B5EF4-FFF2-40B4-BE49-F238E27FC236}">
                <a16:creationId xmlns:a16="http://schemas.microsoft.com/office/drawing/2014/main" id="{5686B689-6E25-7689-D688-36C0943C9F71}"/>
              </a:ext>
            </a:extLst>
          </p:cNvPr>
          <p:cNvSpPr>
            <a:spLocks noGrp="1"/>
          </p:cNvSpPr>
          <p:nvPr>
            <p:ph type="sldNum" sz="quarter" idx="10"/>
          </p:nvPr>
        </p:nvSpPr>
        <p:spPr/>
        <p:txBody>
          <a:bodyPr/>
          <a:lstStyle/>
          <a:p>
            <a:fld id="{7870704B-CE94-48CC-AF30-84932A1262A7}" type="slidenum">
              <a:rPr lang="en-GB" smtClean="0"/>
              <a:pPr/>
              <a:t>7</a:t>
            </a:fld>
            <a:endParaRPr lang="en-GB"/>
          </a:p>
        </p:txBody>
      </p:sp>
      <p:sp>
        <p:nvSpPr>
          <p:cNvPr id="5" name="页脚占位符 4">
            <a:extLst>
              <a:ext uri="{FF2B5EF4-FFF2-40B4-BE49-F238E27FC236}">
                <a16:creationId xmlns:a16="http://schemas.microsoft.com/office/drawing/2014/main" id="{699A4C4D-85A4-18ED-58CE-2C1576FB9A86}"/>
              </a:ext>
            </a:extLst>
          </p:cNvPr>
          <p:cNvSpPr>
            <a:spLocks noGrp="1"/>
          </p:cNvSpPr>
          <p:nvPr>
            <p:ph type="ftr" sz="quarter" idx="13"/>
          </p:nvPr>
        </p:nvSpPr>
        <p:spPr/>
        <p:txBody>
          <a:bodyPr/>
          <a:lstStyle/>
          <a:p>
            <a:r>
              <a:rPr lang="en-US" altLang="zh-CN"/>
              <a:t>© </a:t>
            </a:r>
            <a:r>
              <a:rPr lang="zh-CN" altLang="en-US"/>
              <a:t>容诚会计师事务所（特殊普通合伙），</a:t>
            </a:r>
            <a:r>
              <a:rPr lang="en-US" altLang="zh-CN"/>
              <a:t>2026</a:t>
            </a:r>
            <a:endParaRPr lang="zh-CN" altLang="en-US"/>
          </a:p>
        </p:txBody>
      </p:sp>
      <p:sp>
        <p:nvSpPr>
          <p:cNvPr id="6" name="内容占位符 5">
            <a:extLst>
              <a:ext uri="{FF2B5EF4-FFF2-40B4-BE49-F238E27FC236}">
                <a16:creationId xmlns:a16="http://schemas.microsoft.com/office/drawing/2014/main" id="{E616468C-8DD1-C72B-BB2B-04AEDDFEA7D4}"/>
              </a:ext>
            </a:extLst>
          </p:cNvPr>
          <p:cNvSpPr>
            <a:spLocks noGrp="1"/>
          </p:cNvSpPr>
          <p:nvPr>
            <p:ph sz="quarter" idx="14"/>
          </p:nvPr>
        </p:nvSpPr>
        <p:spPr/>
        <p:txBody>
          <a:bodyPr/>
          <a:lstStyle/>
          <a:p>
            <a:r>
              <a:rPr lang="zh-CN" altLang="en-US" dirty="0"/>
              <a:t>整体建议</a:t>
            </a:r>
          </a:p>
        </p:txBody>
      </p:sp>
      <p:sp>
        <p:nvSpPr>
          <p:cNvPr id="17" name="矩形 16">
            <a:extLst>
              <a:ext uri="{FF2B5EF4-FFF2-40B4-BE49-F238E27FC236}">
                <a16:creationId xmlns:a16="http://schemas.microsoft.com/office/drawing/2014/main" id="{71AFF5D2-9CD0-A3EA-E4FE-E337CB4821B4}"/>
              </a:ext>
            </a:extLst>
          </p:cNvPr>
          <p:cNvSpPr/>
          <p:nvPr/>
        </p:nvSpPr>
        <p:spPr>
          <a:xfrm>
            <a:off x="673100" y="1620203"/>
            <a:ext cx="10845800" cy="637222"/>
          </a:xfrm>
          <a:prstGeom prst="rect">
            <a:avLst/>
          </a:prstGeom>
          <a:solidFill>
            <a:schemeClr val="accent6"/>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latin typeface="Arial" panose="020B0604020202020204" pitchFamily="34" charset="0"/>
              <a:ea typeface="黑体" panose="02010609060101010101" pitchFamily="49" charset="-122"/>
            </a:endParaRPr>
          </a:p>
        </p:txBody>
      </p:sp>
      <p:sp>
        <p:nvSpPr>
          <p:cNvPr id="20" name="内容占位符 2">
            <a:extLst>
              <a:ext uri="{FF2B5EF4-FFF2-40B4-BE49-F238E27FC236}">
                <a16:creationId xmlns:a16="http://schemas.microsoft.com/office/drawing/2014/main" id="{B61ACC77-2688-0E18-A562-44D8BDA9B8F6}"/>
              </a:ext>
            </a:extLst>
          </p:cNvPr>
          <p:cNvSpPr txBox="1"/>
          <p:nvPr/>
        </p:nvSpPr>
        <p:spPr>
          <a:xfrm>
            <a:off x="529409" y="1802212"/>
            <a:ext cx="6390552" cy="303894"/>
          </a:xfrm>
        </p:spPr>
        <p:txBody>
          <a:bodyPr lIns="0" tIns="0" rIns="0" bIns="0"/>
          <a:lstStyle>
            <a:lvl1pPr marL="0" indent="0" algn="just" defTabSz="914400" rtl="0" eaLnBrk="1" latinLnBrk="0" hangingPunct="1">
              <a:lnSpc>
                <a:spcPct val="11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1pPr>
            <a:lvl2pPr marL="0" indent="0" algn="just" defTabSz="914400" rtl="0" eaLnBrk="1" latinLnBrk="0" hangingPunct="1">
              <a:lnSpc>
                <a:spcPct val="10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2pPr>
            <a:lvl3pPr marL="180975"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3pPr>
            <a:lvl4pPr marL="36195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4pPr>
            <a:lvl5pPr marL="54864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5pPr>
            <a:lvl6pPr marL="73152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6pPr>
            <a:lvl7pPr marL="91440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7pPr>
            <a:lvl8pPr marL="109728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8pPr>
            <a:lvl9pPr marL="128016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9pPr>
          </a:lstStyle>
          <a:p>
            <a:pPr algn="ctr"/>
            <a:r>
              <a:rPr lang="zh-CN" altLang="en-US" sz="2000" b="1" dirty="0">
                <a:solidFill>
                  <a:schemeClr val="bg1"/>
                </a:solidFill>
              </a:rPr>
              <a:t>对比案例：国内指数业务</a:t>
            </a:r>
            <a:r>
              <a:rPr lang="en-US" altLang="zh-CN" sz="2000" b="1" dirty="0">
                <a:solidFill>
                  <a:schemeClr val="bg1"/>
                </a:solidFill>
              </a:rPr>
              <a:t>IOSCO</a:t>
            </a:r>
            <a:r>
              <a:rPr lang="zh-CN" altLang="en-US" sz="2000" b="1" dirty="0">
                <a:solidFill>
                  <a:schemeClr val="bg1"/>
                </a:solidFill>
              </a:rPr>
              <a:t>准则遵循鉴证</a:t>
            </a:r>
          </a:p>
        </p:txBody>
      </p:sp>
      <p:sp>
        <p:nvSpPr>
          <p:cNvPr id="21" name="矩形 20">
            <a:extLst>
              <a:ext uri="{FF2B5EF4-FFF2-40B4-BE49-F238E27FC236}">
                <a16:creationId xmlns:a16="http://schemas.microsoft.com/office/drawing/2014/main" id="{A872452B-3987-6DDD-04A6-695C840F7296}"/>
              </a:ext>
            </a:extLst>
          </p:cNvPr>
          <p:cNvSpPr/>
          <p:nvPr/>
        </p:nvSpPr>
        <p:spPr>
          <a:xfrm>
            <a:off x="660401" y="2378512"/>
            <a:ext cx="10858500" cy="3858775"/>
          </a:xfrm>
          <a:prstGeom prst="rect">
            <a:avLst/>
          </a:prstGeom>
          <a:solidFill>
            <a:schemeClr val="accent6">
              <a:lumMod val="10000"/>
              <a:lumOff val="90000"/>
              <a:alpha val="40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latin typeface="Arial" panose="020B0604020202020204" pitchFamily="34" charset="0"/>
              <a:ea typeface="楷体" panose="02010609060101010101" pitchFamily="49" charset="-122"/>
            </a:endParaRPr>
          </a:p>
        </p:txBody>
      </p:sp>
      <p:sp>
        <p:nvSpPr>
          <p:cNvPr id="22" name="矩形 21">
            <a:extLst>
              <a:ext uri="{FF2B5EF4-FFF2-40B4-BE49-F238E27FC236}">
                <a16:creationId xmlns:a16="http://schemas.microsoft.com/office/drawing/2014/main" id="{C98BAFE9-DE60-4739-7694-F9A8BADC6D5C}"/>
              </a:ext>
            </a:extLst>
          </p:cNvPr>
          <p:cNvSpPr/>
          <p:nvPr/>
        </p:nvSpPr>
        <p:spPr>
          <a:xfrm>
            <a:off x="862642" y="2527947"/>
            <a:ext cx="10460137" cy="3558527"/>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latin typeface="Arial" panose="020B0604020202020204" pitchFamily="34" charset="0"/>
              <a:ea typeface="楷体" panose="02010609060101010101" pitchFamily="49" charset="-122"/>
            </a:endParaRPr>
          </a:p>
        </p:txBody>
      </p:sp>
      <p:sp>
        <p:nvSpPr>
          <p:cNvPr id="23" name="文本框 22">
            <a:extLst>
              <a:ext uri="{FF2B5EF4-FFF2-40B4-BE49-F238E27FC236}">
                <a16:creationId xmlns:a16="http://schemas.microsoft.com/office/drawing/2014/main" id="{9888708C-907C-5EB6-69A5-E8FE90B4FCF5}"/>
              </a:ext>
            </a:extLst>
          </p:cNvPr>
          <p:cNvSpPr txBox="1"/>
          <p:nvPr/>
        </p:nvSpPr>
        <p:spPr>
          <a:xfrm>
            <a:off x="1086929" y="2739223"/>
            <a:ext cx="9956458" cy="2695803"/>
          </a:xfrm>
          <a:prstGeom prst="rect">
            <a:avLst/>
          </a:prstGeom>
          <a:noFill/>
        </p:spPr>
        <p:txBody>
          <a:bodyPr wrap="square" lIns="0" tIns="0" rIns="0" bIns="0" rtlCol="0" anchor="t">
            <a:spAutoFit/>
          </a:bodyPr>
          <a:lstStyle/>
          <a:p>
            <a:pPr marL="285750" indent="-285750" algn="just">
              <a:lnSpc>
                <a:spcPct val="110000"/>
              </a:lnSpc>
              <a:spcAft>
                <a:spcPts val="300"/>
              </a:spcAft>
              <a:buClr>
                <a:schemeClr val="accent1">
                  <a:lumMod val="75000"/>
                </a:schemeClr>
              </a:buClr>
              <a:buSzPct val="80000"/>
              <a:buFont typeface="Wingdings" panose="05000000000000000000" pitchFamily="2" charset="2"/>
              <a:buChar char="n"/>
            </a:pPr>
            <a:r>
              <a:rPr lang="zh-CN" altLang="en-US" sz="1400" dirty="0">
                <a:solidFill>
                  <a:srgbClr val="333333"/>
                </a:solidFill>
                <a:latin typeface="Arial" panose="020B0604020202020204" pitchFamily="34" charset="0"/>
                <a:ea typeface="楷体" panose="02010609060101010101" pitchFamily="49" charset="-122"/>
                <a:cs typeface="Arial"/>
              </a:rPr>
              <a:t>如今鉴证服务机构对指数业务了解愈浅：</a:t>
            </a:r>
          </a:p>
          <a:p>
            <a:pPr marL="568800" indent="-285750" algn="just">
              <a:lnSpc>
                <a:spcPct val="110000"/>
              </a:lnSpc>
              <a:spcAft>
                <a:spcPts val="300"/>
              </a:spcAft>
              <a:buClr>
                <a:schemeClr val="accent1">
                  <a:lumMod val="75000"/>
                </a:schemeClr>
              </a:buClr>
              <a:buSzPct val="100000"/>
              <a:buFont typeface="Arial" panose="020B0604020202020204" pitchFamily="34" charset="0"/>
              <a:buChar char="-"/>
            </a:pPr>
            <a:r>
              <a:rPr lang="zh-CN" altLang="en-US" sz="1400" dirty="0">
                <a:solidFill>
                  <a:srgbClr val="333333"/>
                </a:solidFill>
                <a:latin typeface="Arial" panose="020B0604020202020204" pitchFamily="34" charset="0"/>
                <a:ea typeface="楷体" panose="02010609060101010101" pitchFamily="49" charset="-122"/>
                <a:cs typeface="Arial"/>
              </a:rPr>
              <a:t>不利于指数服务机构的持续优化</a:t>
            </a:r>
          </a:p>
          <a:p>
            <a:pPr marL="568800" indent="-285750" algn="just">
              <a:lnSpc>
                <a:spcPct val="110000"/>
              </a:lnSpc>
              <a:spcAft>
                <a:spcPts val="300"/>
              </a:spcAft>
              <a:buClr>
                <a:schemeClr val="accent1">
                  <a:lumMod val="75000"/>
                </a:schemeClr>
              </a:buClr>
              <a:buSzPct val="100000"/>
              <a:buFont typeface="Arial" panose="020B0604020202020204" pitchFamily="34" charset="0"/>
              <a:buChar char="-"/>
            </a:pPr>
            <a:r>
              <a:rPr lang="zh-CN" altLang="en-US" sz="1400" dirty="0">
                <a:solidFill>
                  <a:srgbClr val="333333"/>
                </a:solidFill>
                <a:latin typeface="Arial" panose="020B0604020202020204" pitchFamily="34" charset="0"/>
                <a:ea typeface="楷体" panose="02010609060101010101" pitchFamily="49" charset="-122"/>
                <a:cs typeface="Arial"/>
              </a:rPr>
              <a:t>也逐渐降低了鉴证报告的增信作用</a:t>
            </a:r>
          </a:p>
          <a:p>
            <a:pPr marL="285750" indent="-285750" algn="just">
              <a:lnSpc>
                <a:spcPct val="110000"/>
              </a:lnSpc>
              <a:spcAft>
                <a:spcPts val="300"/>
              </a:spcAft>
              <a:buClr>
                <a:schemeClr val="accent1">
                  <a:lumMod val="75000"/>
                </a:schemeClr>
              </a:buClr>
              <a:buSzPct val="80000"/>
              <a:buFont typeface="Wingdings" panose="05000000000000000000" pitchFamily="2" charset="2"/>
              <a:buChar char="n"/>
            </a:pPr>
            <a:r>
              <a:rPr lang="zh-CN" altLang="en-US" sz="1400" dirty="0">
                <a:solidFill>
                  <a:srgbClr val="333333"/>
                </a:solidFill>
                <a:latin typeface="Arial" panose="020B0604020202020204" pitchFamily="34" charset="0"/>
                <a:ea typeface="楷体" panose="02010609060101010101" pitchFamily="49" charset="-122"/>
                <a:cs typeface="Arial"/>
              </a:rPr>
              <a:t>究其原因：</a:t>
            </a:r>
          </a:p>
          <a:p>
            <a:pPr marL="568800" indent="-285750" algn="just">
              <a:lnSpc>
                <a:spcPct val="110000"/>
              </a:lnSpc>
              <a:spcAft>
                <a:spcPts val="300"/>
              </a:spcAft>
              <a:buClr>
                <a:schemeClr val="accent1">
                  <a:lumMod val="75000"/>
                </a:schemeClr>
              </a:buClr>
              <a:buSzPct val="100000"/>
              <a:buFont typeface="Arial" panose="020B0604020202020204" pitchFamily="34" charset="0"/>
              <a:buChar char="-"/>
            </a:pPr>
            <a:r>
              <a:rPr lang="en-US" altLang="zh-CN" sz="1400" dirty="0">
                <a:solidFill>
                  <a:srgbClr val="333333"/>
                </a:solidFill>
                <a:latin typeface="Arial" panose="020B0604020202020204" pitchFamily="34" charset="0"/>
                <a:ea typeface="楷体" panose="02010609060101010101" pitchFamily="49" charset="-122"/>
                <a:cs typeface="Arial"/>
              </a:rPr>
              <a:t>IOSCO</a:t>
            </a:r>
            <a:r>
              <a:rPr lang="zh-CN" altLang="en-US" sz="1400" dirty="0">
                <a:solidFill>
                  <a:srgbClr val="333333"/>
                </a:solidFill>
                <a:latin typeface="Arial" panose="020B0604020202020204" pitchFamily="34" charset="0"/>
                <a:ea typeface="楷体" panose="02010609060101010101" pitchFamily="49" charset="-122"/>
                <a:cs typeface="Arial"/>
              </a:rPr>
              <a:t>内控鉴证测试趋于制度流程层面的穿行测试和工作档案审阅</a:t>
            </a:r>
          </a:p>
          <a:p>
            <a:pPr marL="568800" indent="-285750" algn="just">
              <a:lnSpc>
                <a:spcPct val="110000"/>
              </a:lnSpc>
              <a:spcAft>
                <a:spcPts val="300"/>
              </a:spcAft>
              <a:buClr>
                <a:schemeClr val="accent1">
                  <a:lumMod val="75000"/>
                </a:schemeClr>
              </a:buClr>
              <a:buSzPct val="100000"/>
              <a:buFont typeface="Arial" panose="020B0604020202020204" pitchFamily="34" charset="0"/>
              <a:buChar char="-"/>
            </a:pPr>
            <a:r>
              <a:rPr lang="zh-CN" altLang="en-US" sz="1400" dirty="0">
                <a:solidFill>
                  <a:srgbClr val="333333"/>
                </a:solidFill>
                <a:latin typeface="Arial" panose="020B0604020202020204" pitchFamily="34" charset="0"/>
                <a:ea typeface="楷体" panose="02010609060101010101" pitchFamily="49" charset="-122"/>
                <a:cs typeface="Arial"/>
              </a:rPr>
              <a:t>对指数设计、编制等专业领域涉足减少</a:t>
            </a:r>
          </a:p>
          <a:p>
            <a:pPr marL="568800" indent="-285750" algn="just">
              <a:lnSpc>
                <a:spcPct val="110000"/>
              </a:lnSpc>
              <a:spcAft>
                <a:spcPts val="300"/>
              </a:spcAft>
              <a:buClr>
                <a:schemeClr val="accent1">
                  <a:lumMod val="75000"/>
                </a:schemeClr>
              </a:buClr>
              <a:buSzPct val="100000"/>
              <a:buFont typeface="Arial" panose="020B0604020202020204" pitchFamily="34" charset="0"/>
              <a:buChar char="-"/>
            </a:pPr>
            <a:r>
              <a:rPr lang="zh-CN" altLang="en-US" sz="1400" dirty="0">
                <a:solidFill>
                  <a:srgbClr val="333333"/>
                </a:solidFill>
                <a:latin typeface="Arial" panose="020B0604020202020204" pitchFamily="34" charset="0"/>
                <a:ea typeface="楷体" panose="02010609060101010101" pitchFamily="49" charset="-122"/>
                <a:cs typeface="Arial"/>
              </a:rPr>
              <a:t>对鉴证报告报告缺乏评判者</a:t>
            </a:r>
          </a:p>
          <a:p>
            <a:pPr marL="285750" indent="-285750" algn="just">
              <a:lnSpc>
                <a:spcPct val="110000"/>
              </a:lnSpc>
              <a:spcAft>
                <a:spcPts val="300"/>
              </a:spcAft>
              <a:buClr>
                <a:schemeClr val="accent1">
                  <a:lumMod val="75000"/>
                </a:schemeClr>
              </a:buClr>
              <a:buSzPct val="80000"/>
              <a:buFont typeface="Wingdings" panose="05000000000000000000" pitchFamily="2" charset="2"/>
              <a:buChar char="n"/>
            </a:pPr>
            <a:r>
              <a:rPr lang="zh-CN" altLang="en-US" sz="1400" dirty="0">
                <a:solidFill>
                  <a:srgbClr val="333333"/>
                </a:solidFill>
                <a:latin typeface="Arial" panose="020B0604020202020204" pitchFamily="34" charset="0"/>
                <a:ea typeface="楷体" panose="02010609060101010101" pitchFamily="49" charset="-122"/>
                <a:cs typeface="Arial"/>
              </a:rPr>
              <a:t>因此我们建议：</a:t>
            </a:r>
          </a:p>
          <a:p>
            <a:pPr marL="568800" indent="-285750" algn="just">
              <a:lnSpc>
                <a:spcPct val="110000"/>
              </a:lnSpc>
              <a:spcAft>
                <a:spcPts val="300"/>
              </a:spcAft>
              <a:buClr>
                <a:schemeClr val="accent1">
                  <a:lumMod val="75000"/>
                </a:schemeClr>
              </a:buClr>
              <a:buSzPct val="100000"/>
              <a:buFont typeface="Arial" panose="020B0604020202020204" pitchFamily="34" charset="0"/>
              <a:buChar char="-"/>
            </a:pPr>
            <a:r>
              <a:rPr lang="zh-CN" altLang="en-US" sz="1400" dirty="0">
                <a:solidFill>
                  <a:srgbClr val="333333"/>
                </a:solidFill>
                <a:latin typeface="Arial" panose="020B0604020202020204" pitchFamily="34" charset="0"/>
                <a:ea typeface="楷体" panose="02010609060101010101" pitchFamily="49" charset="-122"/>
                <a:cs typeface="Arial"/>
              </a:rPr>
              <a:t>估值内控鉴证方案需要涉及估值技术的实质评估，测试计算量和覆盖面需要与中证业务量和影响力相适应</a:t>
            </a:r>
          </a:p>
          <a:p>
            <a:pPr marL="568800" indent="-285750" algn="just">
              <a:lnSpc>
                <a:spcPct val="110000"/>
              </a:lnSpc>
              <a:spcAft>
                <a:spcPts val="300"/>
              </a:spcAft>
              <a:buClr>
                <a:schemeClr val="accent1">
                  <a:lumMod val="75000"/>
                </a:schemeClr>
              </a:buClr>
              <a:buSzPct val="100000"/>
              <a:buFont typeface="Arial" panose="020B0604020202020204" pitchFamily="34" charset="0"/>
              <a:buChar char="-"/>
            </a:pPr>
            <a:r>
              <a:rPr lang="zh-CN" altLang="en-US" sz="1400" dirty="0">
                <a:solidFill>
                  <a:srgbClr val="333333"/>
                </a:solidFill>
                <a:latin typeface="Arial" panose="020B0604020202020204" pitchFamily="34" charset="0"/>
                <a:ea typeface="楷体" panose="02010609060101010101" pitchFamily="49" charset="-122"/>
                <a:cs typeface="Arial"/>
              </a:rPr>
              <a:t>考虑主动寻求交易商协会参与，形成出具估值内控鉴证报告需要协会首肯的行业惯例</a:t>
            </a:r>
          </a:p>
        </p:txBody>
      </p:sp>
    </p:spTree>
    <p:extLst>
      <p:ext uri="{BB962C8B-B14F-4D97-AF65-F5344CB8AC3E}">
        <p14:creationId xmlns:p14="http://schemas.microsoft.com/office/powerpoint/2010/main" val="2057907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1DBF960D-6C20-C1EE-4F24-0B146B54B723}"/>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l="49872"/>
          <a:stretch>
            <a:fillRect/>
          </a:stretch>
        </p:blipFill>
        <p:spPr>
          <a:xfrm>
            <a:off x="6080412" y="0"/>
            <a:ext cx="6111588" cy="6858000"/>
          </a:xfrm>
          <a:prstGeom prst="rect">
            <a:avLst/>
          </a:prstGeom>
        </p:spPr>
      </p:pic>
      <p:sp>
        <p:nvSpPr>
          <p:cNvPr id="10" name="矩形 9">
            <a:extLst>
              <a:ext uri="{FF2B5EF4-FFF2-40B4-BE49-F238E27FC236}">
                <a16:creationId xmlns:a16="http://schemas.microsoft.com/office/drawing/2014/main" id="{E0D057EB-63E4-1A38-F862-9144AE7A21EF}"/>
              </a:ext>
            </a:extLst>
          </p:cNvPr>
          <p:cNvSpPr/>
          <p:nvPr/>
        </p:nvSpPr>
        <p:spPr>
          <a:xfrm>
            <a:off x="6080412" y="1819276"/>
            <a:ext cx="6111588" cy="3409950"/>
          </a:xfrm>
          <a:prstGeom prst="rect">
            <a:avLst/>
          </a:prstGeom>
          <a:solidFill>
            <a:schemeClr val="bg1">
              <a:alpha val="80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2" name="标题 1">
            <a:extLst>
              <a:ext uri="{FF2B5EF4-FFF2-40B4-BE49-F238E27FC236}">
                <a16:creationId xmlns:a16="http://schemas.microsoft.com/office/drawing/2014/main" id="{F4DF5AF5-F4D2-0E07-5C21-F8EB5B9FA81F}"/>
              </a:ext>
            </a:extLst>
          </p:cNvPr>
          <p:cNvSpPr>
            <a:spLocks noGrp="1"/>
          </p:cNvSpPr>
          <p:nvPr>
            <p:ph type="title"/>
          </p:nvPr>
        </p:nvSpPr>
        <p:spPr/>
        <p:txBody>
          <a:bodyPr/>
          <a:lstStyle/>
          <a:p>
            <a:r>
              <a:rPr lang="zh-CN" altLang="en-US" dirty="0"/>
              <a:t>估值内控鉴证</a:t>
            </a:r>
          </a:p>
        </p:txBody>
      </p:sp>
      <p:sp>
        <p:nvSpPr>
          <p:cNvPr id="4" name="灯片编号占位符 3">
            <a:extLst>
              <a:ext uri="{FF2B5EF4-FFF2-40B4-BE49-F238E27FC236}">
                <a16:creationId xmlns:a16="http://schemas.microsoft.com/office/drawing/2014/main" id="{3CDD5A23-ECCC-A752-E97C-1F49F598CB29}"/>
              </a:ext>
            </a:extLst>
          </p:cNvPr>
          <p:cNvSpPr>
            <a:spLocks noGrp="1"/>
          </p:cNvSpPr>
          <p:nvPr>
            <p:ph type="sldNum" sz="quarter" idx="10"/>
          </p:nvPr>
        </p:nvSpPr>
        <p:spPr/>
        <p:txBody>
          <a:bodyPr/>
          <a:lstStyle/>
          <a:p>
            <a:fld id="{7870704B-CE94-48CC-AF30-84932A1262A7}" type="slidenum">
              <a:rPr lang="en-GB" smtClean="0"/>
              <a:pPr/>
              <a:t>8</a:t>
            </a:fld>
            <a:endParaRPr lang="en-GB">
              <a:ea typeface="楷体" panose="02010609060101010101" pitchFamily="49" charset="-122"/>
            </a:endParaRPr>
          </a:p>
        </p:txBody>
      </p:sp>
      <p:sp>
        <p:nvSpPr>
          <p:cNvPr id="5" name="页脚占位符 4">
            <a:extLst>
              <a:ext uri="{FF2B5EF4-FFF2-40B4-BE49-F238E27FC236}">
                <a16:creationId xmlns:a16="http://schemas.microsoft.com/office/drawing/2014/main" id="{A96E94C3-558B-611A-9A41-A02C349FDDD5}"/>
              </a:ext>
            </a:extLst>
          </p:cNvPr>
          <p:cNvSpPr>
            <a:spLocks noGrp="1"/>
          </p:cNvSpPr>
          <p:nvPr>
            <p:ph type="ftr" sz="quarter" idx="13"/>
          </p:nvPr>
        </p:nvSpPr>
        <p:spPr/>
        <p:txBody>
          <a:bodyPr/>
          <a:lstStyle/>
          <a:p>
            <a:r>
              <a:rPr lang="en-US" altLang="zh-CN"/>
              <a:t>© </a:t>
            </a:r>
            <a:r>
              <a:rPr lang="zh-CN" altLang="en-US"/>
              <a:t>容诚会计师事务所（特殊普通合伙），</a:t>
            </a:r>
            <a:r>
              <a:rPr lang="en-US" altLang="zh-CN"/>
              <a:t>2026</a:t>
            </a:r>
            <a:endParaRPr lang="zh-CN" altLang="en-US">
              <a:ea typeface="楷体" panose="02010609060101010101" pitchFamily="49" charset="-122"/>
            </a:endParaRPr>
          </a:p>
        </p:txBody>
      </p:sp>
      <p:sp>
        <p:nvSpPr>
          <p:cNvPr id="6" name="内容占位符 5">
            <a:extLst>
              <a:ext uri="{FF2B5EF4-FFF2-40B4-BE49-F238E27FC236}">
                <a16:creationId xmlns:a16="http://schemas.microsoft.com/office/drawing/2014/main" id="{529D4D8B-DD1B-681B-2F65-6C580E4AB8FB}"/>
              </a:ext>
            </a:extLst>
          </p:cNvPr>
          <p:cNvSpPr>
            <a:spLocks noGrp="1"/>
          </p:cNvSpPr>
          <p:nvPr>
            <p:ph sz="quarter" idx="14"/>
          </p:nvPr>
        </p:nvSpPr>
        <p:spPr/>
        <p:txBody>
          <a:bodyPr/>
          <a:lstStyle/>
          <a:p>
            <a:r>
              <a:rPr lang="zh-CN" altLang="en-US" dirty="0"/>
              <a:t>协会参与</a:t>
            </a:r>
          </a:p>
        </p:txBody>
      </p:sp>
      <p:sp>
        <p:nvSpPr>
          <p:cNvPr id="13" name="文本框 12">
            <a:extLst>
              <a:ext uri="{FF2B5EF4-FFF2-40B4-BE49-F238E27FC236}">
                <a16:creationId xmlns:a16="http://schemas.microsoft.com/office/drawing/2014/main" id="{4AF0835F-D34D-D1F1-84B9-5CACA9CDF608}"/>
              </a:ext>
            </a:extLst>
          </p:cNvPr>
          <p:cNvSpPr txBox="1"/>
          <p:nvPr/>
        </p:nvSpPr>
        <p:spPr>
          <a:xfrm>
            <a:off x="660400" y="2213313"/>
            <a:ext cx="4895850" cy="2128724"/>
          </a:xfrm>
          <a:prstGeom prst="rect">
            <a:avLst/>
          </a:prstGeom>
          <a:noFill/>
        </p:spPr>
        <p:txBody>
          <a:bodyPr wrap="square" lIns="0" tIns="0" rIns="0" bIns="0" rtlCol="0" anchor="t">
            <a:spAutoFit/>
          </a:bodyPr>
          <a:lstStyle/>
          <a:p>
            <a:pPr algn="just">
              <a:lnSpc>
                <a:spcPct val="120000"/>
              </a:lnSpc>
              <a:spcAft>
                <a:spcPts val="600"/>
              </a:spcAft>
              <a:buClr>
                <a:schemeClr val="accent1">
                  <a:lumMod val="75000"/>
                </a:schemeClr>
              </a:buClr>
              <a:buSzPct val="80000"/>
            </a:pPr>
            <a:r>
              <a:rPr lang="zh-CN" altLang="en-US" sz="1600" b="1" dirty="0">
                <a:solidFill>
                  <a:schemeClr val="accent1"/>
                </a:solidFill>
                <a:latin typeface="Arial" panose="020B0604020202020204" pitchFamily="34" charset="0"/>
                <a:ea typeface="楷体" panose="02010609060101010101" pitchFamily="49" charset="-122"/>
                <a:cs typeface="Arial"/>
              </a:rPr>
              <a:t>交易商协会可能乐于参与的动因：</a:t>
            </a:r>
          </a:p>
          <a:p>
            <a:pPr marL="285750" indent="-285750" algn="just">
              <a:lnSpc>
                <a:spcPct val="120000"/>
              </a:lnSpc>
              <a:spcAft>
                <a:spcPts val="600"/>
              </a:spcAft>
              <a:buClr>
                <a:schemeClr val="accent1">
                  <a:lumMod val="75000"/>
                </a:schemeClr>
              </a:buClr>
              <a:buSzPct val="80000"/>
              <a:buFont typeface="Wingdings" panose="05000000000000000000" pitchFamily="2" charset="2"/>
              <a:buChar char="n"/>
            </a:pPr>
            <a:r>
              <a:rPr lang="zh-CN" altLang="en-US" sz="1400" dirty="0">
                <a:solidFill>
                  <a:srgbClr val="333333"/>
                </a:solidFill>
                <a:latin typeface="Arial" panose="020B0604020202020204" pitchFamily="34" charset="0"/>
                <a:ea typeface="楷体" panose="02010609060101010101" pitchFamily="49" charset="-122"/>
                <a:cs typeface="Arial"/>
              </a:rPr>
              <a:t>高质量的首份鉴证报告是协会制定自律指引的工作成果</a:t>
            </a:r>
          </a:p>
          <a:p>
            <a:pPr marL="285750" indent="-285750" algn="just">
              <a:lnSpc>
                <a:spcPct val="120000"/>
              </a:lnSpc>
              <a:spcAft>
                <a:spcPts val="600"/>
              </a:spcAft>
              <a:buClr>
                <a:schemeClr val="accent1">
                  <a:lumMod val="75000"/>
                </a:schemeClr>
              </a:buClr>
              <a:buSzPct val="80000"/>
              <a:buFont typeface="Wingdings" panose="05000000000000000000" pitchFamily="2" charset="2"/>
              <a:buChar char="n"/>
            </a:pPr>
            <a:r>
              <a:rPr lang="zh-CN" altLang="en-US" sz="1400" dirty="0">
                <a:solidFill>
                  <a:srgbClr val="333333"/>
                </a:solidFill>
                <a:latin typeface="Arial" panose="020B0604020202020204" pitchFamily="34" charset="0"/>
                <a:ea typeface="楷体" panose="02010609060101010101" pitchFamily="49" charset="-122"/>
                <a:cs typeface="Arial"/>
              </a:rPr>
              <a:t>协会指引明文规定协会有权过问评估结果：</a:t>
            </a:r>
          </a:p>
          <a:p>
            <a:pPr marL="284400" algn="just">
              <a:lnSpc>
                <a:spcPct val="120000"/>
              </a:lnSpc>
              <a:spcAft>
                <a:spcPts val="600"/>
              </a:spcAft>
              <a:buClr>
                <a:schemeClr val="accent1">
                  <a:lumMod val="75000"/>
                </a:schemeClr>
              </a:buClr>
              <a:buSzPct val="80000"/>
            </a:pPr>
            <a:r>
              <a:rPr lang="zh-CN" altLang="en-US" sz="1400" dirty="0">
                <a:solidFill>
                  <a:srgbClr val="333333"/>
                </a:solidFill>
                <a:latin typeface="Arial" panose="020B0604020202020204" pitchFamily="34" charset="0"/>
                <a:ea typeface="楷体" panose="02010609060101010101" pitchFamily="49" charset="-122"/>
                <a:cs typeface="Arial"/>
              </a:rPr>
              <a:t>估值机构聘请审计机构的，交易商协会可了解审计机构对估值机构的评估结果，包括但不限于内控机制、估值产品编制流程等。 </a:t>
            </a:r>
          </a:p>
          <a:p>
            <a:pPr marL="284400" algn="just">
              <a:lnSpc>
                <a:spcPct val="120000"/>
              </a:lnSpc>
              <a:spcAft>
                <a:spcPts val="600"/>
              </a:spcAft>
              <a:buClr>
                <a:schemeClr val="accent1">
                  <a:lumMod val="75000"/>
                </a:schemeClr>
              </a:buClr>
              <a:buSzPct val="80000"/>
            </a:pPr>
            <a:r>
              <a:rPr lang="en-US" altLang="zh-CN" sz="1400" dirty="0">
                <a:solidFill>
                  <a:srgbClr val="333333"/>
                </a:solidFill>
                <a:latin typeface="Arial" panose="020B0604020202020204" pitchFamily="34" charset="0"/>
                <a:ea typeface="楷体" panose="02010609060101010101" pitchFamily="49" charset="-122"/>
                <a:cs typeface="Arial"/>
              </a:rPr>
              <a:t>——《</a:t>
            </a:r>
            <a:r>
              <a:rPr lang="zh-CN" altLang="en-US" sz="1400" dirty="0">
                <a:solidFill>
                  <a:srgbClr val="333333"/>
                </a:solidFill>
                <a:latin typeface="Arial" panose="020B0604020202020204" pitchFamily="34" charset="0"/>
                <a:ea typeface="楷体" panose="02010609060101010101" pitchFamily="49" charset="-122"/>
                <a:cs typeface="Arial"/>
              </a:rPr>
              <a:t>银行间债券市场债券估值业务自律指引（试行）</a:t>
            </a:r>
            <a:r>
              <a:rPr lang="en-US" altLang="zh-CN" sz="1400" dirty="0">
                <a:solidFill>
                  <a:srgbClr val="333333"/>
                </a:solidFill>
                <a:latin typeface="Arial" panose="020B0604020202020204" pitchFamily="34" charset="0"/>
                <a:ea typeface="楷体" panose="02010609060101010101" pitchFamily="49" charset="-122"/>
                <a:cs typeface="Arial"/>
              </a:rPr>
              <a:t>》</a:t>
            </a:r>
          </a:p>
        </p:txBody>
      </p:sp>
      <p:sp>
        <p:nvSpPr>
          <p:cNvPr id="14" name="文本框 13">
            <a:extLst>
              <a:ext uri="{FF2B5EF4-FFF2-40B4-BE49-F238E27FC236}">
                <a16:creationId xmlns:a16="http://schemas.microsoft.com/office/drawing/2014/main" id="{A01FB0A7-59EC-109F-EFB2-FD30F3117518}"/>
              </a:ext>
            </a:extLst>
          </p:cNvPr>
          <p:cNvSpPr txBox="1"/>
          <p:nvPr/>
        </p:nvSpPr>
        <p:spPr>
          <a:xfrm>
            <a:off x="6361112" y="2213313"/>
            <a:ext cx="5157788" cy="2827377"/>
          </a:xfrm>
          <a:prstGeom prst="rect">
            <a:avLst/>
          </a:prstGeom>
          <a:noFill/>
        </p:spPr>
        <p:txBody>
          <a:bodyPr wrap="square" lIns="0" tIns="0" rIns="0" bIns="0" rtlCol="0" anchor="t">
            <a:spAutoFit/>
          </a:bodyPr>
          <a:lstStyle/>
          <a:p>
            <a:pPr algn="just">
              <a:lnSpc>
                <a:spcPct val="120000"/>
              </a:lnSpc>
              <a:spcAft>
                <a:spcPts val="600"/>
              </a:spcAft>
              <a:buClr>
                <a:schemeClr val="accent1">
                  <a:lumMod val="75000"/>
                </a:schemeClr>
              </a:buClr>
              <a:buSzPct val="80000"/>
            </a:pPr>
            <a:r>
              <a:rPr lang="zh-CN" altLang="en-US" sz="1600" b="1" dirty="0">
                <a:solidFill>
                  <a:schemeClr val="accent1"/>
                </a:solidFill>
                <a:latin typeface="Arial" panose="020B0604020202020204" pitchFamily="34" charset="0"/>
                <a:ea typeface="楷体" panose="02010609060101010101" pitchFamily="49" charset="-122"/>
                <a:cs typeface="Arial"/>
              </a:rPr>
              <a:t>交易商协会对于估值工作的关注重点：</a:t>
            </a:r>
          </a:p>
          <a:p>
            <a:pPr marL="285750" indent="-285750" algn="just">
              <a:lnSpc>
                <a:spcPct val="120000"/>
              </a:lnSpc>
              <a:spcAft>
                <a:spcPts val="600"/>
              </a:spcAft>
              <a:buClr>
                <a:schemeClr val="accent1">
                  <a:lumMod val="75000"/>
                </a:schemeClr>
              </a:buClr>
              <a:buSzPct val="80000"/>
              <a:buFont typeface="Wingdings" panose="05000000000000000000" pitchFamily="2" charset="2"/>
              <a:buChar char="n"/>
            </a:pPr>
            <a:r>
              <a:rPr lang="zh-CN" altLang="en-US" sz="1400" dirty="0">
                <a:solidFill>
                  <a:srgbClr val="333333"/>
                </a:solidFill>
                <a:latin typeface="Arial" panose="020B0604020202020204" pitchFamily="34" charset="0"/>
                <a:ea typeface="楷体" panose="02010609060101010101" pitchFamily="49" charset="-122"/>
                <a:cs typeface="Arial"/>
              </a:rPr>
              <a:t>估值逆周期</a:t>
            </a:r>
            <a:r>
              <a:rPr lang="en-US" altLang="zh-CN" sz="1400" dirty="0">
                <a:solidFill>
                  <a:srgbClr val="333333"/>
                </a:solidFill>
                <a:latin typeface="Arial" panose="020B0604020202020204" pitchFamily="34" charset="0"/>
                <a:ea typeface="楷体" panose="02010609060101010101" pitchFamily="49" charset="-122"/>
                <a:cs typeface="Arial"/>
              </a:rPr>
              <a:t>/</a:t>
            </a:r>
            <a:r>
              <a:rPr lang="zh-CN" altLang="en-US" sz="1400" dirty="0">
                <a:solidFill>
                  <a:srgbClr val="333333"/>
                </a:solidFill>
                <a:latin typeface="Arial" panose="020B0604020202020204" pitchFamily="34" charset="0"/>
                <a:ea typeface="楷体" panose="02010609060101010101" pitchFamily="49" charset="-122"/>
                <a:cs typeface="Arial"/>
              </a:rPr>
              <a:t>负反馈机制：由于市场以中证、中债的债券估值为风向标，市场估值变动高度同质。</a:t>
            </a:r>
            <a:r>
              <a:rPr lang="zh-CN" altLang="en-US" sz="1400" b="1" dirty="0">
                <a:solidFill>
                  <a:srgbClr val="333333"/>
                </a:solidFill>
                <a:latin typeface="Arial" panose="020B0604020202020204" pitchFamily="34" charset="0"/>
                <a:ea typeface="楷体" panose="02010609060101010101" pitchFamily="49" charset="-122"/>
                <a:cs typeface="Arial"/>
              </a:rPr>
              <a:t>人行对于风险时点的踩踏风险尤为担心，协会交易部制定自律规范时反复提出逆周期调整机制。</a:t>
            </a:r>
          </a:p>
          <a:p>
            <a:pPr marL="285750" indent="-285750" algn="just">
              <a:lnSpc>
                <a:spcPct val="120000"/>
              </a:lnSpc>
              <a:spcAft>
                <a:spcPts val="600"/>
              </a:spcAft>
              <a:buClr>
                <a:schemeClr val="accent1">
                  <a:lumMod val="75000"/>
                </a:schemeClr>
              </a:buClr>
              <a:buSzPct val="80000"/>
              <a:buFont typeface="Wingdings" panose="05000000000000000000" pitchFamily="2" charset="2"/>
              <a:buChar char="n"/>
            </a:pPr>
            <a:r>
              <a:rPr lang="zh-CN" altLang="en-US" sz="1400" b="1" dirty="0">
                <a:solidFill>
                  <a:srgbClr val="333333"/>
                </a:solidFill>
                <a:latin typeface="Arial" panose="020B0604020202020204" pitchFamily="34" charset="0"/>
                <a:ea typeface="楷体" panose="02010609060101010101" pitchFamily="49" charset="-122"/>
                <a:cs typeface="Arial"/>
              </a:rPr>
              <a:t>斟酌之下，最终在指引中的体现是“应急处理机制”：</a:t>
            </a:r>
          </a:p>
          <a:p>
            <a:pPr marL="284400" algn="just">
              <a:lnSpc>
                <a:spcPct val="120000"/>
              </a:lnSpc>
              <a:spcAft>
                <a:spcPts val="600"/>
              </a:spcAft>
              <a:buClr>
                <a:schemeClr val="accent1">
                  <a:lumMod val="75000"/>
                </a:schemeClr>
              </a:buClr>
              <a:buSzPct val="80000"/>
            </a:pPr>
            <a:r>
              <a:rPr lang="zh-CN" altLang="en-US" sz="1400" dirty="0">
                <a:solidFill>
                  <a:srgbClr val="333333"/>
                </a:solidFill>
                <a:latin typeface="Arial" panose="020B0604020202020204" pitchFamily="34" charset="0"/>
                <a:ea typeface="楷体" panose="02010609060101010101" pitchFamily="49" charset="-122"/>
                <a:cs typeface="Arial"/>
              </a:rPr>
              <a:t>估值机构应建立应急处理机制，当市场价格发生剧烈变动时，综合考虑成交规模和成交目的、市场流动性、信用风险变化等因素对公允价值的影响，审慎确定适当的市场价格时间范围，避免偶发或极端价格的干扰，确保市场价格的合理性和适用性。</a:t>
            </a:r>
          </a:p>
        </p:txBody>
      </p:sp>
      <p:grpSp>
        <p:nvGrpSpPr>
          <p:cNvPr id="16" name="组合 15">
            <a:extLst>
              <a:ext uri="{FF2B5EF4-FFF2-40B4-BE49-F238E27FC236}">
                <a16:creationId xmlns:a16="http://schemas.microsoft.com/office/drawing/2014/main" id="{051B01AE-CC84-4BCB-8B47-CD304739938C}"/>
              </a:ext>
            </a:extLst>
          </p:cNvPr>
          <p:cNvGrpSpPr/>
          <p:nvPr/>
        </p:nvGrpSpPr>
        <p:grpSpPr>
          <a:xfrm>
            <a:off x="578430" y="5400675"/>
            <a:ext cx="10924605" cy="706540"/>
            <a:chOff x="578430" y="2472122"/>
            <a:chExt cx="10924605" cy="706540"/>
          </a:xfrm>
        </p:grpSpPr>
        <p:sp>
          <p:nvSpPr>
            <p:cNvPr id="17" name="矩形 16">
              <a:extLst>
                <a:ext uri="{FF2B5EF4-FFF2-40B4-BE49-F238E27FC236}">
                  <a16:creationId xmlns:a16="http://schemas.microsoft.com/office/drawing/2014/main" id="{246188FC-A77A-CCE0-A866-0ED0DA289B6D}"/>
                </a:ext>
              </a:extLst>
            </p:cNvPr>
            <p:cNvSpPr/>
            <p:nvPr/>
          </p:nvSpPr>
          <p:spPr>
            <a:xfrm>
              <a:off x="644536" y="2472122"/>
              <a:ext cx="10858499" cy="637222"/>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latin typeface="Arial" panose="020B0604020202020204" pitchFamily="34" charset="0"/>
                <a:ea typeface="黑体" panose="02010609060101010101" pitchFamily="49" charset="-122"/>
              </a:endParaRPr>
            </a:p>
          </p:txBody>
        </p:sp>
        <p:sp>
          <p:nvSpPr>
            <p:cNvPr id="18" name="矩形 17">
              <a:extLst>
                <a:ext uri="{FF2B5EF4-FFF2-40B4-BE49-F238E27FC236}">
                  <a16:creationId xmlns:a16="http://schemas.microsoft.com/office/drawing/2014/main" id="{93C55F3A-B258-D575-995C-42D17B84300C}"/>
                </a:ext>
              </a:extLst>
            </p:cNvPr>
            <p:cNvSpPr/>
            <p:nvPr/>
          </p:nvSpPr>
          <p:spPr>
            <a:xfrm>
              <a:off x="619170" y="2876328"/>
              <a:ext cx="258445" cy="268612"/>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latin typeface="Arial" panose="020B0604020202020204" pitchFamily="34" charset="0"/>
                <a:ea typeface="黑体" panose="02010609060101010101" pitchFamily="49" charset="-122"/>
              </a:endParaRPr>
            </a:p>
          </p:txBody>
        </p:sp>
        <p:sp>
          <p:nvSpPr>
            <p:cNvPr id="19" name="矩形 18">
              <a:extLst>
                <a:ext uri="{FF2B5EF4-FFF2-40B4-BE49-F238E27FC236}">
                  <a16:creationId xmlns:a16="http://schemas.microsoft.com/office/drawing/2014/main" id="{AB37ADA2-17D8-3732-385B-8784F5AA2A66}"/>
                </a:ext>
              </a:extLst>
            </p:cNvPr>
            <p:cNvSpPr/>
            <p:nvPr/>
          </p:nvSpPr>
          <p:spPr>
            <a:xfrm>
              <a:off x="578430" y="2910050"/>
              <a:ext cx="258445" cy="268612"/>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latin typeface="Arial" panose="020B0604020202020204" pitchFamily="34" charset="0"/>
                <a:ea typeface="黑体" panose="02010609060101010101" pitchFamily="49" charset="-122"/>
              </a:endParaRPr>
            </a:p>
          </p:txBody>
        </p:sp>
      </p:grpSp>
      <p:sp>
        <p:nvSpPr>
          <p:cNvPr id="20" name="内容占位符 2">
            <a:extLst>
              <a:ext uri="{FF2B5EF4-FFF2-40B4-BE49-F238E27FC236}">
                <a16:creationId xmlns:a16="http://schemas.microsoft.com/office/drawing/2014/main" id="{61BB7C20-E764-E0B5-3AE4-5FB0EE43FD54}"/>
              </a:ext>
            </a:extLst>
          </p:cNvPr>
          <p:cNvSpPr txBox="1"/>
          <p:nvPr/>
        </p:nvSpPr>
        <p:spPr>
          <a:xfrm>
            <a:off x="1032323" y="5538592"/>
            <a:ext cx="10016819" cy="383647"/>
          </a:xfrm>
        </p:spPr>
        <p:txBody>
          <a:bodyPr lIns="0" tIns="0" rIns="0" bIns="0"/>
          <a:lstStyle>
            <a:lvl1pPr marL="0" indent="0" algn="just" defTabSz="914400" rtl="0" eaLnBrk="1" latinLnBrk="0" hangingPunct="1">
              <a:lnSpc>
                <a:spcPct val="11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1pPr>
            <a:lvl2pPr marL="0" indent="0" algn="just" defTabSz="914400" rtl="0" eaLnBrk="1" latinLnBrk="0" hangingPunct="1">
              <a:lnSpc>
                <a:spcPct val="10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2pPr>
            <a:lvl3pPr marL="180975"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3pPr>
            <a:lvl4pPr marL="36195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4pPr>
            <a:lvl5pPr marL="54864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5pPr>
            <a:lvl6pPr marL="73152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6pPr>
            <a:lvl7pPr marL="91440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7pPr>
            <a:lvl8pPr marL="109728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8pPr>
            <a:lvl9pPr marL="1280160" indent="0" algn="just" defTabSz="914400"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9pPr>
          </a:lstStyle>
          <a:p>
            <a:pPr algn="ctr"/>
            <a:r>
              <a:rPr lang="zh-CN" altLang="en-US" sz="2000" b="1" dirty="0">
                <a:solidFill>
                  <a:schemeClr val="bg1"/>
                </a:solidFill>
                <a:latin typeface="+mj-ea"/>
                <a:ea typeface="+mj-ea"/>
              </a:rPr>
              <a:t>我们与协会指引制订部门关系良好，也可协助一并沟通</a:t>
            </a:r>
          </a:p>
        </p:txBody>
      </p:sp>
    </p:spTree>
    <p:extLst>
      <p:ext uri="{BB962C8B-B14F-4D97-AF65-F5344CB8AC3E}">
        <p14:creationId xmlns:p14="http://schemas.microsoft.com/office/powerpoint/2010/main" val="1103401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9E619-11C0-F5DC-F357-5471DF436522}"/>
            </a:ext>
          </a:extLst>
        </p:cNvPr>
        <p:cNvGrpSpPr/>
        <p:nvPr/>
      </p:nvGrpSpPr>
      <p:grpSpPr>
        <a:xfrm>
          <a:off x="0" y="0"/>
          <a:ext cx="0" cy="0"/>
          <a:chOff x="0" y="0"/>
          <a:chExt cx="0" cy="0"/>
        </a:xfrm>
      </p:grpSpPr>
      <p:pic>
        <p:nvPicPr>
          <p:cNvPr id="12" name="图片 11" descr="图片包含 户外, 水, 建筑, 灯光&#10;&#10;描述已自动生成">
            <a:extLst>
              <a:ext uri="{FF2B5EF4-FFF2-40B4-BE49-F238E27FC236}">
                <a16:creationId xmlns:a16="http://schemas.microsoft.com/office/drawing/2014/main" id="{47F25656-C5E4-0E36-996C-77AC29012D58}"/>
              </a:ext>
            </a:extLst>
          </p:cNvPr>
          <p:cNvPicPr>
            <a:picLocks noChangeAspect="1"/>
          </p:cNvPicPr>
          <p:nvPr/>
        </p:nvPicPr>
        <p:blipFill>
          <a:blip r:embed="rId2" cstate="print">
            <a:extLst>
              <a:ext uri="{28A0092B-C50C-407E-A947-70E740481C1C}">
                <a14:useLocalDpi xmlns:a14="http://schemas.microsoft.com/office/drawing/2010/main"/>
              </a:ext>
            </a:extLst>
          </a:blip>
          <a:srcRect l="20959" r="35649"/>
          <a:stretch/>
        </p:blipFill>
        <p:spPr>
          <a:xfrm>
            <a:off x="0" y="0"/>
            <a:ext cx="4463721" cy="6858000"/>
          </a:xfrm>
          <a:prstGeom prst="rect">
            <a:avLst/>
          </a:prstGeom>
        </p:spPr>
      </p:pic>
      <p:grpSp>
        <p:nvGrpSpPr>
          <p:cNvPr id="7" name="组合 6">
            <a:extLst>
              <a:ext uri="{FF2B5EF4-FFF2-40B4-BE49-F238E27FC236}">
                <a16:creationId xmlns:a16="http://schemas.microsoft.com/office/drawing/2014/main" id="{3BA18658-2093-1EE0-108E-42BF752D16A7}"/>
              </a:ext>
            </a:extLst>
          </p:cNvPr>
          <p:cNvGrpSpPr/>
          <p:nvPr/>
        </p:nvGrpSpPr>
        <p:grpSpPr>
          <a:xfrm>
            <a:off x="1" y="0"/>
            <a:ext cx="12191999" cy="6858000"/>
            <a:chOff x="0" y="0"/>
            <a:chExt cx="14715310" cy="6858000"/>
          </a:xfrm>
        </p:grpSpPr>
        <p:sp>
          <p:nvSpPr>
            <p:cNvPr id="8" name="矩形 7">
              <a:extLst>
                <a:ext uri="{FF2B5EF4-FFF2-40B4-BE49-F238E27FC236}">
                  <a16:creationId xmlns:a16="http://schemas.microsoft.com/office/drawing/2014/main" id="{07610F17-6F0C-A314-46B5-B677E9754992}"/>
                </a:ext>
              </a:extLst>
            </p:cNvPr>
            <p:cNvSpPr/>
            <p:nvPr/>
          </p:nvSpPr>
          <p:spPr>
            <a:xfrm>
              <a:off x="0" y="0"/>
              <a:ext cx="5387553" cy="6858000"/>
            </a:xfrm>
            <a:prstGeom prst="rect">
              <a:avLst/>
            </a:prstGeom>
            <a:solidFill>
              <a:schemeClr val="accent6">
                <a:alpha val="60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9" name="矩形 8">
              <a:extLst>
                <a:ext uri="{FF2B5EF4-FFF2-40B4-BE49-F238E27FC236}">
                  <a16:creationId xmlns:a16="http://schemas.microsoft.com/office/drawing/2014/main" id="{FFF43722-F4BE-1786-E42A-84E4F46BA76B}"/>
                </a:ext>
              </a:extLst>
            </p:cNvPr>
            <p:cNvSpPr/>
            <p:nvPr/>
          </p:nvSpPr>
          <p:spPr>
            <a:xfrm>
              <a:off x="0" y="2216198"/>
              <a:ext cx="5387552" cy="1304925"/>
            </a:xfrm>
            <a:prstGeom prst="rect">
              <a:avLst/>
            </a:prstGeom>
            <a:solidFill>
              <a:schemeClr val="accent1">
                <a:alpha val="80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10" name="矩形 9">
              <a:extLst>
                <a:ext uri="{FF2B5EF4-FFF2-40B4-BE49-F238E27FC236}">
                  <a16:creationId xmlns:a16="http://schemas.microsoft.com/office/drawing/2014/main" id="{B00C1429-33B2-B4B4-D892-F51F89C45F03}"/>
                </a:ext>
              </a:extLst>
            </p:cNvPr>
            <p:cNvSpPr/>
            <p:nvPr/>
          </p:nvSpPr>
          <p:spPr>
            <a:xfrm>
              <a:off x="5387552" y="2216198"/>
              <a:ext cx="9327758" cy="1304925"/>
            </a:xfrm>
            <a:prstGeom prst="rect">
              <a:avLst/>
            </a:prstGeom>
            <a:solidFill>
              <a:schemeClr val="accent1">
                <a:lumMod val="20000"/>
                <a:lumOff val="80000"/>
                <a:alpha val="80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grpSp>
      <p:sp>
        <p:nvSpPr>
          <p:cNvPr id="11" name="内容占位符 9">
            <a:extLst>
              <a:ext uri="{FF2B5EF4-FFF2-40B4-BE49-F238E27FC236}">
                <a16:creationId xmlns:a16="http://schemas.microsoft.com/office/drawing/2014/main" id="{648E2F38-BA9C-BF05-E750-69E9629AFE57}"/>
              </a:ext>
            </a:extLst>
          </p:cNvPr>
          <p:cNvSpPr txBox="1">
            <a:spLocks/>
          </p:cNvSpPr>
          <p:nvPr/>
        </p:nvSpPr>
        <p:spPr>
          <a:xfrm>
            <a:off x="660401" y="2556625"/>
            <a:ext cx="3455988" cy="719199"/>
          </a:xfrm>
        </p:spPr>
        <p:txBody>
          <a:bodyPr lIns="0" tIns="0" rIns="0" bIns="0"/>
          <a:lstStyle>
            <a:lvl1pPr marL="0" indent="0" algn="just" defTabSz="914486" rtl="0" eaLnBrk="1" latinLnBrk="0" hangingPunct="1">
              <a:lnSpc>
                <a:spcPct val="11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1pPr>
            <a:lvl2pPr marL="0" indent="0" algn="just" defTabSz="914486" rtl="0" eaLnBrk="1" latinLnBrk="0" hangingPunct="1">
              <a:lnSpc>
                <a:spcPct val="10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2pPr>
            <a:lvl3pPr marL="180992"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3pPr>
            <a:lvl4pPr marL="361983"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4pPr>
            <a:lvl5pPr marL="548690"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5pPr>
            <a:lvl6pPr marL="731587"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6pPr>
            <a:lvl7pPr marL="914486"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7pPr>
            <a:lvl8pPr marL="1097384"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8pPr>
            <a:lvl9pPr marL="1280280"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9pPr>
          </a:lstStyle>
          <a:p>
            <a:pPr marL="285750" indent="-285750" algn="l">
              <a:buSzPct val="80000"/>
              <a:buFont typeface="Wingdings" panose="05000000000000000000" pitchFamily="2" charset="2"/>
              <a:buChar char="n"/>
            </a:pPr>
            <a:r>
              <a:rPr lang="en-US" altLang="zh-CN" sz="1800" dirty="0">
                <a:solidFill>
                  <a:schemeClr val="bg1"/>
                </a:solidFill>
              </a:rPr>
              <a:t>ISAE 3402</a:t>
            </a:r>
            <a:r>
              <a:rPr lang="zh-CN" altLang="en-US" sz="1800" dirty="0">
                <a:solidFill>
                  <a:schemeClr val="bg1"/>
                </a:solidFill>
              </a:rPr>
              <a:t>报告：国际审计准则内部控制鉴证</a:t>
            </a:r>
          </a:p>
        </p:txBody>
      </p:sp>
      <p:sp>
        <p:nvSpPr>
          <p:cNvPr id="2" name="标题 1">
            <a:extLst>
              <a:ext uri="{FF2B5EF4-FFF2-40B4-BE49-F238E27FC236}">
                <a16:creationId xmlns:a16="http://schemas.microsoft.com/office/drawing/2014/main" id="{E6B7D9EA-787B-6DA0-1189-9927D99C457E}"/>
              </a:ext>
            </a:extLst>
          </p:cNvPr>
          <p:cNvSpPr>
            <a:spLocks noGrp="1"/>
          </p:cNvSpPr>
          <p:nvPr>
            <p:ph type="title"/>
          </p:nvPr>
        </p:nvSpPr>
        <p:spPr>
          <a:xfrm>
            <a:off x="5129212" y="330400"/>
            <a:ext cx="6389687" cy="596911"/>
          </a:xfrm>
        </p:spPr>
        <p:txBody>
          <a:bodyPr/>
          <a:lstStyle/>
          <a:p>
            <a:r>
              <a:rPr lang="zh-CN" altLang="en-US" dirty="0"/>
              <a:t>估值内控鉴证</a:t>
            </a:r>
          </a:p>
        </p:txBody>
      </p:sp>
      <p:sp>
        <p:nvSpPr>
          <p:cNvPr id="4" name="灯片编号占位符 3">
            <a:extLst>
              <a:ext uri="{FF2B5EF4-FFF2-40B4-BE49-F238E27FC236}">
                <a16:creationId xmlns:a16="http://schemas.microsoft.com/office/drawing/2014/main" id="{3E3ACC46-CBC0-8E6F-D1E3-3E1826A989B6}"/>
              </a:ext>
            </a:extLst>
          </p:cNvPr>
          <p:cNvSpPr>
            <a:spLocks noGrp="1"/>
          </p:cNvSpPr>
          <p:nvPr>
            <p:ph type="sldNum" sz="quarter" idx="10"/>
          </p:nvPr>
        </p:nvSpPr>
        <p:spPr/>
        <p:txBody>
          <a:bodyPr/>
          <a:lstStyle/>
          <a:p>
            <a:fld id="{7870704B-CE94-48CC-AF30-84932A1262A7}" type="slidenum">
              <a:rPr lang="en-GB" smtClean="0"/>
              <a:pPr/>
              <a:t>9</a:t>
            </a:fld>
            <a:endParaRPr lang="en-GB">
              <a:ea typeface="楷体" panose="02010609060101010101" pitchFamily="49" charset="-122"/>
            </a:endParaRPr>
          </a:p>
        </p:txBody>
      </p:sp>
      <p:sp>
        <p:nvSpPr>
          <p:cNvPr id="5" name="页脚占位符 4">
            <a:extLst>
              <a:ext uri="{FF2B5EF4-FFF2-40B4-BE49-F238E27FC236}">
                <a16:creationId xmlns:a16="http://schemas.microsoft.com/office/drawing/2014/main" id="{BD315256-2409-79E4-BD54-0D30C010BC1F}"/>
              </a:ext>
            </a:extLst>
          </p:cNvPr>
          <p:cNvSpPr>
            <a:spLocks noGrp="1"/>
          </p:cNvSpPr>
          <p:nvPr>
            <p:ph type="ftr" sz="quarter" idx="13"/>
          </p:nvPr>
        </p:nvSpPr>
        <p:spPr/>
        <p:txBody>
          <a:bodyPr/>
          <a:lstStyle/>
          <a:p>
            <a:r>
              <a:rPr lang="en-US" altLang="zh-CN">
                <a:solidFill>
                  <a:schemeClr val="bg1"/>
                </a:solidFill>
              </a:rPr>
              <a:t>© </a:t>
            </a:r>
            <a:r>
              <a:rPr lang="zh-CN" altLang="en-US">
                <a:solidFill>
                  <a:schemeClr val="bg1"/>
                </a:solidFill>
              </a:rPr>
              <a:t>容诚会计师事务所（特殊普通合伙），</a:t>
            </a:r>
            <a:r>
              <a:rPr lang="en-US" altLang="zh-CN">
                <a:solidFill>
                  <a:schemeClr val="bg1"/>
                </a:solidFill>
              </a:rPr>
              <a:t>2026</a:t>
            </a:r>
            <a:endParaRPr lang="zh-CN" altLang="en-US">
              <a:solidFill>
                <a:schemeClr val="bg1"/>
              </a:solidFill>
              <a:ea typeface="楷体" panose="02010609060101010101" pitchFamily="49" charset="-122"/>
            </a:endParaRPr>
          </a:p>
        </p:txBody>
      </p:sp>
      <p:sp>
        <p:nvSpPr>
          <p:cNvPr id="6" name="内容占位符 5">
            <a:extLst>
              <a:ext uri="{FF2B5EF4-FFF2-40B4-BE49-F238E27FC236}">
                <a16:creationId xmlns:a16="http://schemas.microsoft.com/office/drawing/2014/main" id="{BF97990A-08AE-47D7-0340-EBE3ADACD22C}"/>
              </a:ext>
            </a:extLst>
          </p:cNvPr>
          <p:cNvSpPr>
            <a:spLocks noGrp="1"/>
          </p:cNvSpPr>
          <p:nvPr>
            <p:ph sz="quarter" idx="14"/>
          </p:nvPr>
        </p:nvSpPr>
        <p:spPr>
          <a:xfrm>
            <a:off x="5129212" y="923400"/>
            <a:ext cx="6389687" cy="596900"/>
          </a:xfrm>
        </p:spPr>
        <p:txBody>
          <a:bodyPr/>
          <a:lstStyle/>
          <a:p>
            <a:r>
              <a:rPr lang="zh-CN" altLang="en-US" dirty="0"/>
              <a:t>报告形式</a:t>
            </a:r>
          </a:p>
        </p:txBody>
      </p:sp>
      <p:grpSp>
        <p:nvGrpSpPr>
          <p:cNvPr id="13" name="组合 1">
            <a:extLst>
              <a:ext uri="{FF2B5EF4-FFF2-40B4-BE49-F238E27FC236}">
                <a16:creationId xmlns:a16="http://schemas.microsoft.com/office/drawing/2014/main" id="{1D8C12BC-0E93-45BF-56DE-18FDBDC063FC}"/>
              </a:ext>
            </a:extLst>
          </p:cNvPr>
          <p:cNvGrpSpPr/>
          <p:nvPr/>
        </p:nvGrpSpPr>
        <p:grpSpPr>
          <a:xfrm>
            <a:off x="4463721" y="447875"/>
            <a:ext cx="407988" cy="248569"/>
            <a:chOff x="1542824" y="1640663"/>
            <a:chExt cx="817198" cy="273425"/>
          </a:xfrm>
        </p:grpSpPr>
        <p:sp>
          <p:nvSpPr>
            <p:cNvPr id="14" name="矩形 2">
              <a:extLst>
                <a:ext uri="{FF2B5EF4-FFF2-40B4-BE49-F238E27FC236}">
                  <a16:creationId xmlns:a16="http://schemas.microsoft.com/office/drawing/2014/main" id="{ED1C5EA2-2977-D9FF-4EF8-78F02409C7C6}"/>
                </a:ext>
              </a:extLst>
            </p:cNvPr>
            <p:cNvSpPr/>
            <p:nvPr/>
          </p:nvSpPr>
          <p:spPr>
            <a:xfrm>
              <a:off x="1542824" y="1640663"/>
              <a:ext cx="62535" cy="273425"/>
            </a:xfrm>
            <a:prstGeom prst="rect">
              <a:avLst/>
            </a:prstGeom>
            <a:solidFill>
              <a:srgbClr val="8D8D8E"/>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15" name="矩形 4">
              <a:extLst>
                <a:ext uri="{FF2B5EF4-FFF2-40B4-BE49-F238E27FC236}">
                  <a16:creationId xmlns:a16="http://schemas.microsoft.com/office/drawing/2014/main" id="{29892800-EE7F-FF92-E905-19472A853833}"/>
                </a:ext>
              </a:extLst>
            </p:cNvPr>
            <p:cNvSpPr/>
            <p:nvPr/>
          </p:nvSpPr>
          <p:spPr>
            <a:xfrm>
              <a:off x="1634970" y="1640663"/>
              <a:ext cx="165462" cy="273425"/>
            </a:xfrm>
            <a:prstGeom prst="rect">
              <a:avLst/>
            </a:prstGeom>
            <a:solidFill>
              <a:srgbClr val="45B035"/>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16" name="矩形 5">
              <a:extLst>
                <a:ext uri="{FF2B5EF4-FFF2-40B4-BE49-F238E27FC236}">
                  <a16:creationId xmlns:a16="http://schemas.microsoft.com/office/drawing/2014/main" id="{190A50F2-B4CC-BBA7-75C9-43D6720290A7}"/>
                </a:ext>
              </a:extLst>
            </p:cNvPr>
            <p:cNvSpPr/>
            <p:nvPr/>
          </p:nvSpPr>
          <p:spPr>
            <a:xfrm>
              <a:off x="1840547" y="1640663"/>
              <a:ext cx="519475" cy="273425"/>
            </a:xfrm>
            <a:prstGeom prst="rect">
              <a:avLst/>
            </a:prstGeom>
            <a:solidFill>
              <a:srgbClr val="00A3DF"/>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grpSp>
      <p:grpSp>
        <p:nvGrpSpPr>
          <p:cNvPr id="35" name="组合 34">
            <a:extLst>
              <a:ext uri="{FF2B5EF4-FFF2-40B4-BE49-F238E27FC236}">
                <a16:creationId xmlns:a16="http://schemas.microsoft.com/office/drawing/2014/main" id="{F9AD1ECE-DFB8-699D-358C-83169366ED94}"/>
              </a:ext>
            </a:extLst>
          </p:cNvPr>
          <p:cNvGrpSpPr/>
          <p:nvPr/>
        </p:nvGrpSpPr>
        <p:grpSpPr>
          <a:xfrm>
            <a:off x="4679152" y="1819275"/>
            <a:ext cx="6839566" cy="4115325"/>
            <a:chOff x="4679152" y="1819275"/>
            <a:chExt cx="6839566" cy="4115325"/>
          </a:xfrm>
        </p:grpSpPr>
        <p:grpSp>
          <p:nvGrpSpPr>
            <p:cNvPr id="17" name="组合 16">
              <a:extLst>
                <a:ext uri="{FF2B5EF4-FFF2-40B4-BE49-F238E27FC236}">
                  <a16:creationId xmlns:a16="http://schemas.microsoft.com/office/drawing/2014/main" id="{FDBA3759-A5AA-DCEE-B8BD-E3DF4B43EE6E}"/>
                </a:ext>
              </a:extLst>
            </p:cNvPr>
            <p:cNvGrpSpPr/>
            <p:nvPr/>
          </p:nvGrpSpPr>
          <p:grpSpPr>
            <a:xfrm>
              <a:off x="4679152" y="1819275"/>
              <a:ext cx="2198688" cy="4115325"/>
              <a:chOff x="4612360" y="1819275"/>
              <a:chExt cx="2340366" cy="4115325"/>
            </a:xfrm>
          </p:grpSpPr>
          <p:sp>
            <p:nvSpPr>
              <p:cNvPr id="18" name="矩形 17">
                <a:extLst>
                  <a:ext uri="{FF2B5EF4-FFF2-40B4-BE49-F238E27FC236}">
                    <a16:creationId xmlns:a16="http://schemas.microsoft.com/office/drawing/2014/main" id="{9A423034-E2B9-7C25-3330-AC5DF2A02E1A}"/>
                  </a:ext>
                </a:extLst>
              </p:cNvPr>
              <p:cNvSpPr/>
              <p:nvPr/>
            </p:nvSpPr>
            <p:spPr>
              <a:xfrm>
                <a:off x="4612360" y="1819275"/>
                <a:ext cx="2340366" cy="4115325"/>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19" name="内容占位符 9">
                <a:extLst>
                  <a:ext uri="{FF2B5EF4-FFF2-40B4-BE49-F238E27FC236}">
                    <a16:creationId xmlns:a16="http://schemas.microsoft.com/office/drawing/2014/main" id="{920B2AEC-8359-C1D6-1F93-562B620C092B}"/>
                  </a:ext>
                </a:extLst>
              </p:cNvPr>
              <p:cNvSpPr txBox="1">
                <a:spLocks/>
              </p:cNvSpPr>
              <p:nvPr/>
            </p:nvSpPr>
            <p:spPr>
              <a:xfrm>
                <a:off x="4816233" y="2876722"/>
                <a:ext cx="1932621" cy="2792558"/>
              </a:xfrm>
            </p:spPr>
            <p:txBody>
              <a:bodyPr lIns="0" tIns="0" rIns="0" bIns="0"/>
              <a:lstStyle>
                <a:lvl1pPr marL="0" indent="0" algn="just" defTabSz="914486" rtl="0" eaLnBrk="1" latinLnBrk="0" hangingPunct="1">
                  <a:lnSpc>
                    <a:spcPct val="11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1pPr>
                <a:lvl2pPr marL="0" indent="0" algn="just" defTabSz="914486" rtl="0" eaLnBrk="1" latinLnBrk="0" hangingPunct="1">
                  <a:lnSpc>
                    <a:spcPct val="10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2pPr>
                <a:lvl3pPr marL="180992"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3pPr>
                <a:lvl4pPr marL="361983"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4pPr>
                <a:lvl5pPr marL="548690"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5pPr>
                <a:lvl6pPr marL="731587"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6pPr>
                <a:lvl7pPr marL="914486"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7pPr>
                <a:lvl8pPr marL="1097384"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8pPr>
                <a:lvl9pPr marL="1280280"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9pPr>
              </a:lstStyle>
              <a:p>
                <a:pPr marL="285750" indent="-285750">
                  <a:buClr>
                    <a:schemeClr val="accent1">
                      <a:lumMod val="75000"/>
                    </a:schemeClr>
                  </a:buClr>
                  <a:buSzPct val="80000"/>
                  <a:buFont typeface="Wingdings" panose="05000000000000000000" pitchFamily="2" charset="2"/>
                  <a:buChar char="n"/>
                </a:pPr>
                <a:r>
                  <a:rPr lang="zh-CN" altLang="en-US" sz="1400" dirty="0">
                    <a:solidFill>
                      <a:srgbClr val="333333"/>
                    </a:solidFill>
                  </a:rPr>
                  <a:t>当一项服务对于使用该服务的用户的财务报表具有重大影响，服务机构获得内控鉴证有利于降低用户的合规和审计成本</a:t>
                </a:r>
              </a:p>
            </p:txBody>
          </p:sp>
          <p:sp>
            <p:nvSpPr>
              <p:cNvPr id="20" name="内容占位符 9">
                <a:extLst>
                  <a:ext uri="{FF2B5EF4-FFF2-40B4-BE49-F238E27FC236}">
                    <a16:creationId xmlns:a16="http://schemas.microsoft.com/office/drawing/2014/main" id="{1F021945-F2F1-390B-07EE-C2DAAC22573D}"/>
                  </a:ext>
                </a:extLst>
              </p:cNvPr>
              <p:cNvSpPr txBox="1">
                <a:spLocks/>
              </p:cNvSpPr>
              <p:nvPr/>
            </p:nvSpPr>
            <p:spPr>
              <a:xfrm>
                <a:off x="4816233" y="2113304"/>
                <a:ext cx="1932621" cy="489501"/>
              </a:xfrm>
            </p:spPr>
            <p:txBody>
              <a:bodyPr lIns="0" tIns="0" rIns="0" bIns="0"/>
              <a:lstStyle>
                <a:lvl1pPr marL="0" indent="0" algn="just" defTabSz="914486" rtl="0" eaLnBrk="1" latinLnBrk="0" hangingPunct="1">
                  <a:lnSpc>
                    <a:spcPct val="11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1pPr>
                <a:lvl2pPr marL="0" indent="0" algn="just" defTabSz="914486" rtl="0" eaLnBrk="1" latinLnBrk="0" hangingPunct="1">
                  <a:lnSpc>
                    <a:spcPct val="10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2pPr>
                <a:lvl3pPr marL="180992"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3pPr>
                <a:lvl4pPr marL="361983"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4pPr>
                <a:lvl5pPr marL="548690"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5pPr>
                <a:lvl6pPr marL="731587"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6pPr>
                <a:lvl7pPr marL="914486"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7pPr>
                <a:lvl8pPr marL="1097384"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8pPr>
                <a:lvl9pPr marL="1280280"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9pPr>
              </a:lstStyle>
              <a:p>
                <a:pPr algn="ctr">
                  <a:buClr>
                    <a:schemeClr val="accent1">
                      <a:lumMod val="75000"/>
                    </a:schemeClr>
                  </a:buClr>
                  <a:buSzPct val="80000"/>
                </a:pPr>
                <a:r>
                  <a:rPr lang="zh-CN" altLang="en-US" sz="2000" b="1" dirty="0">
                    <a:solidFill>
                      <a:schemeClr val="accent1"/>
                    </a:solidFill>
                  </a:rPr>
                  <a:t>报告适用场景</a:t>
                </a:r>
              </a:p>
            </p:txBody>
          </p:sp>
          <p:sp>
            <p:nvSpPr>
              <p:cNvPr id="21" name="矩形 20">
                <a:extLst>
                  <a:ext uri="{FF2B5EF4-FFF2-40B4-BE49-F238E27FC236}">
                    <a16:creationId xmlns:a16="http://schemas.microsoft.com/office/drawing/2014/main" id="{8C44A7DE-BDE1-8447-1EC0-191674CAE414}"/>
                  </a:ext>
                </a:extLst>
              </p:cNvPr>
              <p:cNvSpPr/>
              <p:nvPr/>
            </p:nvSpPr>
            <p:spPr>
              <a:xfrm>
                <a:off x="4612360" y="2602403"/>
                <a:ext cx="2340366" cy="45719"/>
              </a:xfrm>
              <a:prstGeom prst="rect">
                <a:avLst/>
              </a:prstGeom>
              <a:solidFill>
                <a:schemeClr val="accent5"/>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22" name="矩形 21">
                <a:extLst>
                  <a:ext uri="{FF2B5EF4-FFF2-40B4-BE49-F238E27FC236}">
                    <a16:creationId xmlns:a16="http://schemas.microsoft.com/office/drawing/2014/main" id="{83D54317-30DC-1B1E-2B1E-59096F565830}"/>
                  </a:ext>
                </a:extLst>
              </p:cNvPr>
              <p:cNvSpPr/>
              <p:nvPr/>
            </p:nvSpPr>
            <p:spPr>
              <a:xfrm>
                <a:off x="5242543" y="2602403"/>
                <a:ext cx="1080000" cy="45719"/>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grpSp>
        <p:grpSp>
          <p:nvGrpSpPr>
            <p:cNvPr id="23" name="组合 22">
              <a:extLst>
                <a:ext uri="{FF2B5EF4-FFF2-40B4-BE49-F238E27FC236}">
                  <a16:creationId xmlns:a16="http://schemas.microsoft.com/office/drawing/2014/main" id="{8F78D67F-4B69-72E8-4EBE-A7ADBEDB37E0}"/>
                </a:ext>
              </a:extLst>
            </p:cNvPr>
            <p:cNvGrpSpPr/>
            <p:nvPr/>
          </p:nvGrpSpPr>
          <p:grpSpPr>
            <a:xfrm>
              <a:off x="6999591" y="1819275"/>
              <a:ext cx="2198688" cy="4115325"/>
              <a:chOff x="4612360" y="1819275"/>
              <a:chExt cx="2340366" cy="4115325"/>
            </a:xfrm>
          </p:grpSpPr>
          <p:sp>
            <p:nvSpPr>
              <p:cNvPr id="24" name="矩形 23">
                <a:extLst>
                  <a:ext uri="{FF2B5EF4-FFF2-40B4-BE49-F238E27FC236}">
                    <a16:creationId xmlns:a16="http://schemas.microsoft.com/office/drawing/2014/main" id="{F3215BDF-E367-0294-4050-7277A2CB81CD}"/>
                  </a:ext>
                </a:extLst>
              </p:cNvPr>
              <p:cNvSpPr/>
              <p:nvPr/>
            </p:nvSpPr>
            <p:spPr>
              <a:xfrm>
                <a:off x="4612360" y="1819275"/>
                <a:ext cx="2340366" cy="4115325"/>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25" name="内容占位符 9">
                <a:extLst>
                  <a:ext uri="{FF2B5EF4-FFF2-40B4-BE49-F238E27FC236}">
                    <a16:creationId xmlns:a16="http://schemas.microsoft.com/office/drawing/2014/main" id="{50DFDF76-EF0A-A978-790E-BD1E5ED430A6}"/>
                  </a:ext>
                </a:extLst>
              </p:cNvPr>
              <p:cNvSpPr txBox="1">
                <a:spLocks/>
              </p:cNvSpPr>
              <p:nvPr/>
            </p:nvSpPr>
            <p:spPr>
              <a:xfrm>
                <a:off x="4816233" y="2876722"/>
                <a:ext cx="1932621" cy="2792558"/>
              </a:xfrm>
            </p:spPr>
            <p:txBody>
              <a:bodyPr lIns="0" tIns="0" rIns="0" bIns="0"/>
              <a:lstStyle>
                <a:lvl1pPr marL="0" indent="0" algn="just" defTabSz="914486" rtl="0" eaLnBrk="1" latinLnBrk="0" hangingPunct="1">
                  <a:lnSpc>
                    <a:spcPct val="11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1pPr>
                <a:lvl2pPr marL="0" indent="0" algn="just" defTabSz="914486" rtl="0" eaLnBrk="1" latinLnBrk="0" hangingPunct="1">
                  <a:lnSpc>
                    <a:spcPct val="10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2pPr>
                <a:lvl3pPr marL="180992"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3pPr>
                <a:lvl4pPr marL="361983"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4pPr>
                <a:lvl5pPr marL="548690"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5pPr>
                <a:lvl6pPr marL="731587"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6pPr>
                <a:lvl7pPr marL="914486"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7pPr>
                <a:lvl8pPr marL="1097384"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8pPr>
                <a:lvl9pPr marL="1280280"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9pPr>
              </a:lstStyle>
              <a:p>
                <a:pPr marL="285750" indent="-285750">
                  <a:buClr>
                    <a:schemeClr val="accent1">
                      <a:lumMod val="75000"/>
                    </a:schemeClr>
                  </a:buClr>
                  <a:buSzPct val="80000"/>
                  <a:buFont typeface="Wingdings" panose="05000000000000000000" pitchFamily="2" charset="2"/>
                  <a:buChar char="n"/>
                </a:pPr>
                <a:r>
                  <a:rPr lang="zh-CN" altLang="en-US" sz="1400" dirty="0">
                    <a:solidFill>
                      <a:srgbClr val="333333"/>
                    </a:solidFill>
                  </a:rPr>
                  <a:t>服务用户的审计师在审计用户财报时，内控测试程序中可以依赖</a:t>
                </a:r>
                <a:r>
                  <a:rPr lang="en-US" altLang="zh-CN" sz="1400" dirty="0">
                    <a:solidFill>
                      <a:srgbClr val="333333"/>
                    </a:solidFill>
                  </a:rPr>
                  <a:t>ISAE3402</a:t>
                </a:r>
                <a:br>
                  <a:rPr lang="en-US" altLang="zh-CN" sz="1400" dirty="0">
                    <a:solidFill>
                      <a:srgbClr val="333333"/>
                    </a:solidFill>
                  </a:rPr>
                </a:br>
                <a:r>
                  <a:rPr lang="zh-CN" altLang="en-US" sz="1400" dirty="0">
                    <a:solidFill>
                      <a:srgbClr val="333333"/>
                    </a:solidFill>
                  </a:rPr>
                  <a:t>报告</a:t>
                </a:r>
              </a:p>
              <a:p>
                <a:pPr marL="285750" indent="-285750">
                  <a:buClr>
                    <a:schemeClr val="accent1">
                      <a:lumMod val="75000"/>
                    </a:schemeClr>
                  </a:buClr>
                  <a:buSzPct val="80000"/>
                  <a:buFont typeface="Wingdings" panose="05000000000000000000" pitchFamily="2" charset="2"/>
                  <a:buChar char="n"/>
                </a:pPr>
                <a:r>
                  <a:rPr lang="zh-CN" altLang="en-US" sz="1400" dirty="0">
                    <a:solidFill>
                      <a:srgbClr val="333333"/>
                    </a:solidFill>
                  </a:rPr>
                  <a:t>从审计程序的角度来说，</a:t>
                </a:r>
                <a:r>
                  <a:rPr lang="en-US" altLang="zh-CN" sz="1400" dirty="0">
                    <a:solidFill>
                      <a:srgbClr val="333333"/>
                    </a:solidFill>
                  </a:rPr>
                  <a:t>ISAE 3402</a:t>
                </a:r>
                <a:r>
                  <a:rPr lang="zh-CN" altLang="en-US" sz="1400" dirty="0">
                    <a:solidFill>
                      <a:srgbClr val="333333"/>
                    </a:solidFill>
                  </a:rPr>
                  <a:t>报告比协会备案更说明估值产品作为财务估值参考的可用性</a:t>
                </a:r>
              </a:p>
            </p:txBody>
          </p:sp>
          <p:sp>
            <p:nvSpPr>
              <p:cNvPr id="26" name="内容占位符 9">
                <a:extLst>
                  <a:ext uri="{FF2B5EF4-FFF2-40B4-BE49-F238E27FC236}">
                    <a16:creationId xmlns:a16="http://schemas.microsoft.com/office/drawing/2014/main" id="{3AE79A3B-EEC9-0B62-CEC6-2567AE6F6AE6}"/>
                  </a:ext>
                </a:extLst>
              </p:cNvPr>
              <p:cNvSpPr txBox="1">
                <a:spLocks/>
              </p:cNvSpPr>
              <p:nvPr/>
            </p:nvSpPr>
            <p:spPr>
              <a:xfrm>
                <a:off x="4816233" y="2113304"/>
                <a:ext cx="1932621" cy="489501"/>
              </a:xfrm>
            </p:spPr>
            <p:txBody>
              <a:bodyPr lIns="0" tIns="0" rIns="0" bIns="0"/>
              <a:lstStyle>
                <a:lvl1pPr marL="0" indent="0" algn="just" defTabSz="914486" rtl="0" eaLnBrk="1" latinLnBrk="0" hangingPunct="1">
                  <a:lnSpc>
                    <a:spcPct val="11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1pPr>
                <a:lvl2pPr marL="0" indent="0" algn="just" defTabSz="914486" rtl="0" eaLnBrk="1" latinLnBrk="0" hangingPunct="1">
                  <a:lnSpc>
                    <a:spcPct val="10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2pPr>
                <a:lvl3pPr marL="180992"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3pPr>
                <a:lvl4pPr marL="361983"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4pPr>
                <a:lvl5pPr marL="548690"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5pPr>
                <a:lvl6pPr marL="731587"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6pPr>
                <a:lvl7pPr marL="914486"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7pPr>
                <a:lvl8pPr marL="1097384"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8pPr>
                <a:lvl9pPr marL="1280280"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9pPr>
              </a:lstStyle>
              <a:p>
                <a:pPr algn="ctr">
                  <a:buClr>
                    <a:schemeClr val="accent1">
                      <a:lumMod val="75000"/>
                    </a:schemeClr>
                  </a:buClr>
                  <a:buSzPct val="80000"/>
                </a:pPr>
                <a:r>
                  <a:rPr lang="zh-CN" altLang="en-US" sz="2000" b="1" dirty="0">
                    <a:solidFill>
                      <a:schemeClr val="accent1"/>
                    </a:solidFill>
                  </a:rPr>
                  <a:t>报告的实际效果</a:t>
                </a:r>
              </a:p>
            </p:txBody>
          </p:sp>
          <p:sp>
            <p:nvSpPr>
              <p:cNvPr id="27" name="矩形 26">
                <a:extLst>
                  <a:ext uri="{FF2B5EF4-FFF2-40B4-BE49-F238E27FC236}">
                    <a16:creationId xmlns:a16="http://schemas.microsoft.com/office/drawing/2014/main" id="{A52830BD-CF46-D6F7-471C-B35A8E3F3292}"/>
                  </a:ext>
                </a:extLst>
              </p:cNvPr>
              <p:cNvSpPr/>
              <p:nvPr/>
            </p:nvSpPr>
            <p:spPr>
              <a:xfrm>
                <a:off x="4612360" y="2602403"/>
                <a:ext cx="2340366" cy="45719"/>
              </a:xfrm>
              <a:prstGeom prst="rect">
                <a:avLst/>
              </a:prstGeom>
              <a:solidFill>
                <a:schemeClr val="accent5"/>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28" name="矩形 27">
                <a:extLst>
                  <a:ext uri="{FF2B5EF4-FFF2-40B4-BE49-F238E27FC236}">
                    <a16:creationId xmlns:a16="http://schemas.microsoft.com/office/drawing/2014/main" id="{96EB56EE-407A-530A-F1DC-D6FF760C4EB3}"/>
                  </a:ext>
                </a:extLst>
              </p:cNvPr>
              <p:cNvSpPr/>
              <p:nvPr/>
            </p:nvSpPr>
            <p:spPr>
              <a:xfrm>
                <a:off x="5242543" y="2602403"/>
                <a:ext cx="1080000" cy="45719"/>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grpSp>
        <p:grpSp>
          <p:nvGrpSpPr>
            <p:cNvPr id="29" name="组合 28">
              <a:extLst>
                <a:ext uri="{FF2B5EF4-FFF2-40B4-BE49-F238E27FC236}">
                  <a16:creationId xmlns:a16="http://schemas.microsoft.com/office/drawing/2014/main" id="{6A813EE9-D084-ABAD-1D4C-52546D780FFD}"/>
                </a:ext>
              </a:extLst>
            </p:cNvPr>
            <p:cNvGrpSpPr/>
            <p:nvPr/>
          </p:nvGrpSpPr>
          <p:grpSpPr>
            <a:xfrm>
              <a:off x="9320030" y="1819275"/>
              <a:ext cx="2198688" cy="4115325"/>
              <a:chOff x="4612360" y="1819275"/>
              <a:chExt cx="2340366" cy="4115325"/>
            </a:xfrm>
          </p:grpSpPr>
          <p:sp>
            <p:nvSpPr>
              <p:cNvPr id="30" name="矩形 29">
                <a:extLst>
                  <a:ext uri="{FF2B5EF4-FFF2-40B4-BE49-F238E27FC236}">
                    <a16:creationId xmlns:a16="http://schemas.microsoft.com/office/drawing/2014/main" id="{733F7161-75D8-6C87-0CE3-50C7D289B262}"/>
                  </a:ext>
                </a:extLst>
              </p:cNvPr>
              <p:cNvSpPr/>
              <p:nvPr/>
            </p:nvSpPr>
            <p:spPr>
              <a:xfrm>
                <a:off x="4612360" y="1819275"/>
                <a:ext cx="2340366" cy="4115325"/>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31" name="内容占位符 9">
                <a:extLst>
                  <a:ext uri="{FF2B5EF4-FFF2-40B4-BE49-F238E27FC236}">
                    <a16:creationId xmlns:a16="http://schemas.microsoft.com/office/drawing/2014/main" id="{F5224BAC-4D66-B05F-1368-63C931CBEDC4}"/>
                  </a:ext>
                </a:extLst>
              </p:cNvPr>
              <p:cNvSpPr txBox="1">
                <a:spLocks/>
              </p:cNvSpPr>
              <p:nvPr/>
            </p:nvSpPr>
            <p:spPr>
              <a:xfrm>
                <a:off x="4816233" y="2876722"/>
                <a:ext cx="1932621" cy="2792558"/>
              </a:xfrm>
            </p:spPr>
            <p:txBody>
              <a:bodyPr lIns="0" tIns="0" rIns="0" bIns="0"/>
              <a:lstStyle>
                <a:lvl1pPr marL="0" indent="0" algn="just" defTabSz="914486" rtl="0" eaLnBrk="1" latinLnBrk="0" hangingPunct="1">
                  <a:lnSpc>
                    <a:spcPct val="11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1pPr>
                <a:lvl2pPr marL="0" indent="0" algn="just" defTabSz="914486" rtl="0" eaLnBrk="1" latinLnBrk="0" hangingPunct="1">
                  <a:lnSpc>
                    <a:spcPct val="10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2pPr>
                <a:lvl3pPr marL="180992"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3pPr>
                <a:lvl4pPr marL="361983"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4pPr>
                <a:lvl5pPr marL="548690"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5pPr>
                <a:lvl6pPr marL="731587"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6pPr>
                <a:lvl7pPr marL="914486"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7pPr>
                <a:lvl8pPr marL="1097384"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8pPr>
                <a:lvl9pPr marL="1280280"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9pPr>
              </a:lstStyle>
              <a:p>
                <a:pPr marL="285750" indent="-285750" algn="l">
                  <a:buClr>
                    <a:schemeClr val="accent1">
                      <a:lumMod val="75000"/>
                    </a:schemeClr>
                  </a:buClr>
                  <a:buSzPct val="80000"/>
                  <a:buFont typeface="Wingdings" panose="05000000000000000000" pitchFamily="2" charset="2"/>
                  <a:buChar char="n"/>
                </a:pPr>
                <a:r>
                  <a:rPr lang="zh-CN" altLang="en-US" sz="1400" dirty="0">
                    <a:solidFill>
                      <a:srgbClr val="333333"/>
                    </a:solidFill>
                  </a:rPr>
                  <a:t>首次评估</a:t>
                </a:r>
                <a:br>
                  <a:rPr lang="en-US" altLang="zh-CN" sz="1400" dirty="0">
                    <a:solidFill>
                      <a:srgbClr val="333333"/>
                    </a:solidFill>
                  </a:rPr>
                </a:br>
                <a:r>
                  <a:rPr lang="en-US" altLang="zh-CN" sz="1400" dirty="0">
                    <a:solidFill>
                      <a:srgbClr val="333333"/>
                    </a:solidFill>
                  </a:rPr>
                  <a:t>——</a:t>
                </a:r>
                <a:r>
                  <a:rPr lang="zh-CN" altLang="en-US" sz="1400" dirty="0">
                    <a:solidFill>
                      <a:srgbClr val="333333"/>
                    </a:solidFill>
                  </a:rPr>
                  <a:t>时点测试</a:t>
                </a:r>
              </a:p>
              <a:p>
                <a:pPr marL="561600" indent="-285750" algn="l">
                  <a:buSzPct val="100000"/>
                  <a:buFont typeface="Arial" panose="020B0604020202020204" pitchFamily="34" charset="0"/>
                  <a:buChar char="-"/>
                </a:pPr>
                <a:r>
                  <a:rPr lang="zh-CN" altLang="en-US" dirty="0">
                    <a:solidFill>
                      <a:srgbClr val="333333"/>
                    </a:solidFill>
                  </a:rPr>
                  <a:t>指数业务</a:t>
                </a:r>
                <a:r>
                  <a:rPr lang="en-US" altLang="zh-CN" dirty="0">
                    <a:solidFill>
                      <a:srgbClr val="333333"/>
                    </a:solidFill>
                  </a:rPr>
                  <a:t>IOSCO</a:t>
                </a:r>
                <a:r>
                  <a:rPr lang="zh-CN" altLang="en-US" dirty="0">
                    <a:solidFill>
                      <a:srgbClr val="333333"/>
                    </a:solidFill>
                  </a:rPr>
                  <a:t>准则鉴证中，通常每年基于</a:t>
                </a:r>
                <a:r>
                  <a:rPr lang="en-US" altLang="zh-CN" dirty="0">
                    <a:solidFill>
                      <a:srgbClr val="333333"/>
                    </a:solidFill>
                  </a:rPr>
                  <a:t>6</a:t>
                </a:r>
                <a:r>
                  <a:rPr lang="zh-CN" altLang="en-US" dirty="0">
                    <a:solidFill>
                      <a:srgbClr val="333333"/>
                    </a:solidFill>
                  </a:rPr>
                  <a:t>月</a:t>
                </a:r>
                <a:r>
                  <a:rPr lang="en-US" altLang="zh-CN" dirty="0">
                    <a:solidFill>
                      <a:srgbClr val="333333"/>
                    </a:solidFill>
                  </a:rPr>
                  <a:t>30</a:t>
                </a:r>
                <a:r>
                  <a:rPr lang="zh-CN" altLang="en-US" dirty="0">
                    <a:solidFill>
                      <a:srgbClr val="333333"/>
                    </a:solidFill>
                  </a:rPr>
                  <a:t>日完成新指数的首次评估</a:t>
                </a:r>
              </a:p>
              <a:p>
                <a:pPr marL="561600" indent="-285750" algn="l">
                  <a:buSzPct val="100000"/>
                  <a:buFont typeface="Arial" panose="020B0604020202020204" pitchFamily="34" charset="0"/>
                  <a:buChar char="-"/>
                </a:pPr>
                <a:r>
                  <a:rPr lang="zh-CN" altLang="en-US" dirty="0">
                    <a:solidFill>
                      <a:srgbClr val="333333"/>
                    </a:solidFill>
                  </a:rPr>
                  <a:t>估值内控鉴证下可每年逐步纳入估值产品</a:t>
                </a:r>
              </a:p>
              <a:p>
                <a:pPr marL="285750" indent="-285750" algn="l">
                  <a:buClr>
                    <a:schemeClr val="accent1">
                      <a:lumMod val="75000"/>
                    </a:schemeClr>
                  </a:buClr>
                  <a:buSzPct val="80000"/>
                  <a:buFont typeface="Wingdings" panose="05000000000000000000" pitchFamily="2" charset="2"/>
                  <a:buChar char="n"/>
                </a:pPr>
                <a:r>
                  <a:rPr lang="zh-CN" altLang="en-US" sz="1400" dirty="0">
                    <a:solidFill>
                      <a:srgbClr val="333333"/>
                    </a:solidFill>
                  </a:rPr>
                  <a:t>持续评估</a:t>
                </a:r>
                <a:br>
                  <a:rPr lang="en-US" altLang="zh-CN" sz="1400" dirty="0">
                    <a:solidFill>
                      <a:srgbClr val="333333"/>
                    </a:solidFill>
                  </a:rPr>
                </a:br>
                <a:r>
                  <a:rPr lang="en-US" altLang="zh-CN" sz="1400" dirty="0">
                    <a:solidFill>
                      <a:srgbClr val="333333"/>
                    </a:solidFill>
                  </a:rPr>
                  <a:t>——</a:t>
                </a:r>
                <a:r>
                  <a:rPr lang="zh-CN" altLang="en-US" sz="1400" dirty="0">
                    <a:solidFill>
                      <a:srgbClr val="333333"/>
                    </a:solidFill>
                  </a:rPr>
                  <a:t>期间测试</a:t>
                </a:r>
              </a:p>
            </p:txBody>
          </p:sp>
          <p:sp>
            <p:nvSpPr>
              <p:cNvPr id="32" name="内容占位符 9">
                <a:extLst>
                  <a:ext uri="{FF2B5EF4-FFF2-40B4-BE49-F238E27FC236}">
                    <a16:creationId xmlns:a16="http://schemas.microsoft.com/office/drawing/2014/main" id="{AED63711-74E4-0212-B966-9FFB6A370523}"/>
                  </a:ext>
                </a:extLst>
              </p:cNvPr>
              <p:cNvSpPr txBox="1">
                <a:spLocks/>
              </p:cNvSpPr>
              <p:nvPr/>
            </p:nvSpPr>
            <p:spPr>
              <a:xfrm>
                <a:off x="4816233" y="2113304"/>
                <a:ext cx="1932621" cy="489501"/>
              </a:xfrm>
            </p:spPr>
            <p:txBody>
              <a:bodyPr lIns="0" tIns="0" rIns="0" bIns="0"/>
              <a:lstStyle>
                <a:lvl1pPr marL="0" indent="0" algn="just" defTabSz="914486" rtl="0" eaLnBrk="1" latinLnBrk="0" hangingPunct="1">
                  <a:lnSpc>
                    <a:spcPct val="11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1pPr>
                <a:lvl2pPr marL="0" indent="0" algn="just" defTabSz="914486" rtl="0" eaLnBrk="1" latinLnBrk="0" hangingPunct="1">
                  <a:lnSpc>
                    <a:spcPct val="100000"/>
                  </a:lnSpc>
                  <a:spcBef>
                    <a:spcPts val="0"/>
                  </a:spcBef>
                  <a:spcAft>
                    <a:spcPts val="600"/>
                  </a:spcAft>
                  <a:buFont typeface="Arial" panose="020B0604020202020204" pitchFamily="34" charset="0"/>
                  <a:buNone/>
                  <a:defRPr sz="1200" b="0" kern="1200" baseline="0">
                    <a:solidFill>
                      <a:schemeClr val="tx1"/>
                    </a:solidFill>
                    <a:latin typeface="Arial" panose="020B0604020202020204" pitchFamily="34" charset="0"/>
                    <a:ea typeface="楷体" panose="02010609060101010101" pitchFamily="49" charset="-122"/>
                    <a:cs typeface="+mn-cs"/>
                  </a:defRPr>
                </a:lvl2pPr>
                <a:lvl3pPr marL="180992"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3pPr>
                <a:lvl4pPr marL="361983"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4pPr>
                <a:lvl5pPr marL="548690"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5pPr>
                <a:lvl6pPr marL="731587"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6pPr>
                <a:lvl7pPr marL="914486"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7pPr>
                <a:lvl8pPr marL="1097384"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8pPr>
                <a:lvl9pPr marL="1280280" indent="0" algn="just" defTabSz="914486" rtl="0" eaLnBrk="1" latinLnBrk="0" hangingPunct="1">
                  <a:lnSpc>
                    <a:spcPct val="100000"/>
                  </a:lnSpc>
                  <a:spcBef>
                    <a:spcPts val="0"/>
                  </a:spcBef>
                  <a:spcAft>
                    <a:spcPts val="600"/>
                  </a:spcAft>
                  <a:buFont typeface="Arial" panose="020B0604020202020204" pitchFamily="34" charset="0"/>
                  <a:buChar char="•"/>
                  <a:defRPr sz="1200" b="0" kern="1200" baseline="0">
                    <a:solidFill>
                      <a:schemeClr val="tx1"/>
                    </a:solidFill>
                    <a:latin typeface="Arial" panose="020B0604020202020204" pitchFamily="34" charset="0"/>
                    <a:ea typeface="楷体" panose="02010609060101010101" pitchFamily="49" charset="-122"/>
                    <a:cs typeface="+mn-cs"/>
                  </a:defRPr>
                </a:lvl9pPr>
              </a:lstStyle>
              <a:p>
                <a:pPr algn="ctr">
                  <a:buClr>
                    <a:schemeClr val="accent1">
                      <a:lumMod val="75000"/>
                    </a:schemeClr>
                  </a:buClr>
                  <a:buSzPct val="80000"/>
                </a:pPr>
                <a:r>
                  <a:rPr lang="zh-CN" altLang="en-US" sz="2000" b="1" dirty="0">
                    <a:solidFill>
                      <a:schemeClr val="accent1"/>
                    </a:solidFill>
                  </a:rPr>
                  <a:t>报告形式</a:t>
                </a:r>
              </a:p>
            </p:txBody>
          </p:sp>
          <p:sp>
            <p:nvSpPr>
              <p:cNvPr id="33" name="矩形 32">
                <a:extLst>
                  <a:ext uri="{FF2B5EF4-FFF2-40B4-BE49-F238E27FC236}">
                    <a16:creationId xmlns:a16="http://schemas.microsoft.com/office/drawing/2014/main" id="{D5351E1D-A965-C6F3-0D5F-239D3107D7A1}"/>
                  </a:ext>
                </a:extLst>
              </p:cNvPr>
              <p:cNvSpPr/>
              <p:nvPr/>
            </p:nvSpPr>
            <p:spPr>
              <a:xfrm>
                <a:off x="4612360" y="2602403"/>
                <a:ext cx="2340366" cy="45719"/>
              </a:xfrm>
              <a:prstGeom prst="rect">
                <a:avLst/>
              </a:prstGeom>
              <a:solidFill>
                <a:schemeClr val="accent5"/>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34" name="矩形 33">
                <a:extLst>
                  <a:ext uri="{FF2B5EF4-FFF2-40B4-BE49-F238E27FC236}">
                    <a16:creationId xmlns:a16="http://schemas.microsoft.com/office/drawing/2014/main" id="{3E69CA7B-27D9-36F9-0361-3AABC365E4C4}"/>
                  </a:ext>
                </a:extLst>
              </p:cNvPr>
              <p:cNvSpPr/>
              <p:nvPr/>
            </p:nvSpPr>
            <p:spPr>
              <a:xfrm>
                <a:off x="5242543" y="2602403"/>
                <a:ext cx="1080000" cy="45719"/>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grpSp>
      </p:grpSp>
    </p:spTree>
    <p:extLst>
      <p:ext uri="{BB962C8B-B14F-4D97-AF65-F5344CB8AC3E}">
        <p14:creationId xmlns:p14="http://schemas.microsoft.com/office/powerpoint/2010/main" val="444925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11" descr="图片包含 背景图案&#10;&#10;描述已自动生成">
            <a:extLst>
              <a:ext uri="{FF2B5EF4-FFF2-40B4-BE49-F238E27FC236}">
                <a16:creationId xmlns:a16="http://schemas.microsoft.com/office/drawing/2014/main" id="{61E19BB6-0BD4-4319-767F-CDFAA8F5869C}"/>
              </a:ext>
            </a:extLst>
          </p:cNvPr>
          <p:cNvPicPr>
            <a:picLocks noChangeAspect="1"/>
          </p:cNvPicPr>
          <p:nvPr/>
        </p:nvPicPr>
        <p:blipFill rotWithShape="1">
          <a:blip r:embed="rId2" cstate="print">
            <a:alphaModFix amt="20000"/>
          </a:blip>
          <a:srcRect l="25524" t="7837" r="15620" b="42558"/>
          <a:stretch>
            <a:fillRect/>
          </a:stretch>
        </p:blipFill>
        <p:spPr>
          <a:xfrm flipH="1" flipV="1">
            <a:off x="0" y="0"/>
            <a:ext cx="12192000" cy="6858000"/>
          </a:xfrm>
          <a:prstGeom prst="rect">
            <a:avLst/>
          </a:prstGeom>
        </p:spPr>
      </p:pic>
      <p:grpSp>
        <p:nvGrpSpPr>
          <p:cNvPr id="8" name="组合 7">
            <a:extLst>
              <a:ext uri="{FF2B5EF4-FFF2-40B4-BE49-F238E27FC236}">
                <a16:creationId xmlns:a16="http://schemas.microsoft.com/office/drawing/2014/main" id="{FBF8E2CE-E1FA-5575-BA59-32F1C1BFCED1}"/>
              </a:ext>
            </a:extLst>
          </p:cNvPr>
          <p:cNvGrpSpPr/>
          <p:nvPr/>
        </p:nvGrpSpPr>
        <p:grpSpPr>
          <a:xfrm>
            <a:off x="667737" y="1448809"/>
            <a:ext cx="10858501" cy="432379"/>
            <a:chOff x="587375" y="1840430"/>
            <a:chExt cx="2538652" cy="432379"/>
          </a:xfrm>
        </p:grpSpPr>
        <p:sp>
          <p:nvSpPr>
            <p:cNvPr id="9" name="文本框 8">
              <a:extLst>
                <a:ext uri="{FF2B5EF4-FFF2-40B4-BE49-F238E27FC236}">
                  <a16:creationId xmlns:a16="http://schemas.microsoft.com/office/drawing/2014/main" id="{8806D3CB-C84D-76B6-8DC6-E16C274FF643}"/>
                </a:ext>
              </a:extLst>
            </p:cNvPr>
            <p:cNvSpPr txBox="1"/>
            <p:nvPr/>
          </p:nvSpPr>
          <p:spPr>
            <a:xfrm>
              <a:off x="587375" y="1840430"/>
              <a:ext cx="2538652" cy="422405"/>
            </a:xfrm>
            <a:prstGeom prst="rect">
              <a:avLst/>
            </a:prstGeom>
            <a:noFill/>
          </p:spPr>
          <p:txBody>
            <a:bodyPr wrap="square" lIns="72000" tIns="72000" rIns="72000" bIns="72000">
              <a:spAutoFit/>
            </a:bodyPr>
            <a:lstStyle/>
            <a:p>
              <a:pPr marL="1270" marR="0" lvl="0" indent="0" algn="ctr" defTabSz="914400" rtl="0" eaLnBrk="1" fontAlgn="ctr" latinLnBrk="0" hangingPunct="1">
                <a:lnSpc>
                  <a:spcPct val="100000"/>
                </a:lnSpc>
                <a:spcBef>
                  <a:spcPts val="0"/>
                </a:spcBef>
                <a:spcAft>
                  <a:spcPts val="300"/>
                </a:spcAft>
                <a:buClrTx/>
                <a:buSzTx/>
                <a:buFontTx/>
                <a:buNone/>
                <a:tabLst/>
                <a:defRPr/>
              </a:pPr>
              <a:r>
                <a:rPr kumimoji="0" lang="zh-CN" altLang="en-US" sz="1800" b="1" i="0" u="none" strike="noStrike" kern="1200" cap="none" spc="0" normalizeH="0" baseline="0" noProof="0" dirty="0">
                  <a:ln>
                    <a:noFill/>
                  </a:ln>
                  <a:solidFill>
                    <a:srgbClr val="CEDBE6">
                      <a:lumMod val="25000"/>
                    </a:srgbClr>
                  </a:solidFill>
                  <a:effectLst/>
                  <a:uLnTx/>
                  <a:uFillTx/>
                  <a:latin typeface="楷体" panose="02010609060101010101" pitchFamily="49" charset="-122"/>
                  <a:ea typeface="楷体" panose="02010609060101010101" pitchFamily="49" charset="-122"/>
                  <a:cs typeface="Times New Roman" panose="02020603050405020304" pitchFamily="18" charset="0"/>
                </a:rPr>
                <a:t>工作安排</a:t>
              </a:r>
            </a:p>
          </p:txBody>
        </p:sp>
        <p:sp>
          <p:nvSpPr>
            <p:cNvPr id="10" name="文本框 9">
              <a:extLst>
                <a:ext uri="{FF2B5EF4-FFF2-40B4-BE49-F238E27FC236}">
                  <a16:creationId xmlns:a16="http://schemas.microsoft.com/office/drawing/2014/main" id="{A677F131-1843-2940-FDD1-EFE6D13641F7}"/>
                </a:ext>
              </a:extLst>
            </p:cNvPr>
            <p:cNvSpPr txBox="1"/>
            <p:nvPr/>
          </p:nvSpPr>
          <p:spPr>
            <a:xfrm>
              <a:off x="587375" y="2227090"/>
              <a:ext cx="2538652" cy="45719"/>
            </a:xfrm>
            <a:prstGeom prst="rect">
              <a:avLst/>
            </a:prstGeom>
            <a:solidFill>
              <a:schemeClr val="accent1">
                <a:lumMod val="20000"/>
                <a:lumOff val="80000"/>
              </a:schemeClr>
            </a:solidFill>
          </p:spPr>
          <p:txBody>
            <a:bodyPr wrap="square" lIns="72000" tIns="72000" rIns="72000" bIns="72000">
              <a:noAutofit/>
            </a:bodyPr>
            <a:lstStyle/>
            <a:p>
              <a:pPr marL="1270" marR="0" lvl="0" indent="0" algn="just" defTabSz="914400" rtl="0" eaLnBrk="1" fontAlgn="ctr" latinLnBrk="0" hangingPunct="1">
                <a:lnSpc>
                  <a:spcPct val="100000"/>
                </a:lnSpc>
                <a:spcBef>
                  <a:spcPts val="0"/>
                </a:spcBef>
                <a:spcAft>
                  <a:spcPts val="30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11" name="文本框 10">
              <a:extLst>
                <a:ext uri="{FF2B5EF4-FFF2-40B4-BE49-F238E27FC236}">
                  <a16:creationId xmlns:a16="http://schemas.microsoft.com/office/drawing/2014/main" id="{CC4E6390-A84A-A9A9-73C6-AADD832373A0}"/>
                </a:ext>
              </a:extLst>
            </p:cNvPr>
            <p:cNvSpPr txBox="1"/>
            <p:nvPr/>
          </p:nvSpPr>
          <p:spPr>
            <a:xfrm>
              <a:off x="1465547" y="2227090"/>
              <a:ext cx="782309" cy="45719"/>
            </a:xfrm>
            <a:prstGeom prst="rect">
              <a:avLst/>
            </a:prstGeom>
            <a:solidFill>
              <a:schemeClr val="accent1"/>
            </a:solidFill>
          </p:spPr>
          <p:txBody>
            <a:bodyPr wrap="square" lIns="72000" tIns="72000" rIns="72000" bIns="72000">
              <a:noAutofit/>
            </a:bodyPr>
            <a:lstStyle/>
            <a:p>
              <a:pPr marL="1270" marR="0" lvl="0" indent="0" algn="just" defTabSz="914400" rtl="0" eaLnBrk="1" fontAlgn="ctr" latinLnBrk="0" hangingPunct="1">
                <a:lnSpc>
                  <a:spcPct val="100000"/>
                </a:lnSpc>
                <a:spcBef>
                  <a:spcPts val="0"/>
                </a:spcBef>
                <a:spcAft>
                  <a:spcPts val="30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grpSp>
      <p:graphicFrame>
        <p:nvGraphicFramePr>
          <p:cNvPr id="12" name="Table 8">
            <a:extLst>
              <a:ext uri="{FF2B5EF4-FFF2-40B4-BE49-F238E27FC236}">
                <a16:creationId xmlns:a16="http://schemas.microsoft.com/office/drawing/2014/main" id="{FD024206-F088-E79B-6695-A6F3BFD9C6AD}"/>
              </a:ext>
            </a:extLst>
          </p:cNvPr>
          <p:cNvGraphicFramePr>
            <a:graphicFrameLocks noGrp="1"/>
          </p:cNvGraphicFramePr>
          <p:nvPr>
            <p:extLst>
              <p:ext uri="{D42A27DB-BD31-4B8C-83A1-F6EECF244321}">
                <p14:modId xmlns:p14="http://schemas.microsoft.com/office/powerpoint/2010/main" val="1882969881"/>
              </p:ext>
            </p:extLst>
          </p:nvPr>
        </p:nvGraphicFramePr>
        <p:xfrm>
          <a:off x="667737" y="1971846"/>
          <a:ext cx="10851164" cy="4277760"/>
        </p:xfrm>
        <a:graphic>
          <a:graphicData uri="http://schemas.openxmlformats.org/drawingml/2006/table">
            <a:tbl>
              <a:tblPr firstRow="1" bandRow="1">
                <a:tableStyleId>{5C22544A-7EE6-4342-B048-85BDC9FD1C3A}</a:tableStyleId>
              </a:tblPr>
              <a:tblGrid>
                <a:gridCol w="1355616">
                  <a:extLst>
                    <a:ext uri="{9D8B030D-6E8A-4147-A177-3AD203B41FA5}">
                      <a16:colId xmlns:a16="http://schemas.microsoft.com/office/drawing/2014/main" val="1713665252"/>
                    </a:ext>
                  </a:extLst>
                </a:gridCol>
                <a:gridCol w="4212077">
                  <a:extLst>
                    <a:ext uri="{9D8B030D-6E8A-4147-A177-3AD203B41FA5}">
                      <a16:colId xmlns:a16="http://schemas.microsoft.com/office/drawing/2014/main" val="421019194"/>
                    </a:ext>
                  </a:extLst>
                </a:gridCol>
                <a:gridCol w="5283471">
                  <a:extLst>
                    <a:ext uri="{9D8B030D-6E8A-4147-A177-3AD203B41FA5}">
                      <a16:colId xmlns:a16="http://schemas.microsoft.com/office/drawing/2014/main" val="1938151526"/>
                    </a:ext>
                  </a:extLst>
                </a:gridCol>
              </a:tblGrid>
              <a:tr h="0">
                <a:tc>
                  <a:txBody>
                    <a:bodyPr/>
                    <a:lstStyle/>
                    <a:p>
                      <a:r>
                        <a:rPr lang="zh-CN" altLang="en-US" sz="1400" b="1" baseline="0" dirty="0">
                          <a:latin typeface="Arial" panose="020B0604020202020204" pitchFamily="34" charset="0"/>
                          <a:ea typeface="楷体" panose="02010609060101010101" pitchFamily="49" charset="-122"/>
                        </a:rPr>
                        <a:t>工作步骤</a:t>
                      </a:r>
                      <a:endParaRPr lang="en-US" sz="1400" b="1" baseline="0" dirty="0">
                        <a:latin typeface="Arial" panose="020B0604020202020204" pitchFamily="34" charset="0"/>
                        <a:ea typeface="楷体" panose="02010609060101010101" pitchFamily="49" charset="-122"/>
                      </a:endParaRPr>
                    </a:p>
                  </a:txBody>
                  <a:tcPr marL="72000" marR="72000" marT="72000" marB="720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r>
                        <a:rPr lang="zh-CN" altLang="en-US" sz="1400" b="1" baseline="0" dirty="0">
                          <a:latin typeface="Arial" panose="020B0604020202020204" pitchFamily="34" charset="0"/>
                          <a:ea typeface="楷体" panose="02010609060101010101" pitchFamily="49" charset="-122"/>
                        </a:rPr>
                        <a:t>容诚工作</a:t>
                      </a:r>
                      <a:endParaRPr lang="en-US" sz="1400" b="1" baseline="0" dirty="0">
                        <a:latin typeface="Arial" panose="020B0604020202020204" pitchFamily="34" charset="0"/>
                        <a:ea typeface="楷体" panose="02010609060101010101" pitchFamily="49" charset="-122"/>
                      </a:endParaRPr>
                    </a:p>
                  </a:txBody>
                  <a:tcPr marL="72000" marR="72000" marT="72000" marB="720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r>
                        <a:rPr lang="zh-CN" altLang="en-US" sz="1400" b="1" baseline="0" dirty="0">
                          <a:latin typeface="Arial" panose="020B0604020202020204" pitchFamily="34" charset="0"/>
                          <a:ea typeface="楷体" panose="02010609060101010101" pitchFamily="49" charset="-122"/>
                        </a:rPr>
                        <a:t>贵司任务</a:t>
                      </a:r>
                      <a:endParaRPr lang="en-US" sz="1400" b="1" baseline="0" dirty="0">
                        <a:latin typeface="Arial" panose="020B0604020202020204" pitchFamily="34" charset="0"/>
                        <a:ea typeface="楷体" panose="02010609060101010101" pitchFamily="49" charset="-122"/>
                      </a:endParaRPr>
                    </a:p>
                  </a:txBody>
                  <a:tcPr marL="72000" marR="72000" marT="72000" marB="720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373599044"/>
                  </a:ext>
                </a:extLst>
              </a:tr>
              <a:tr h="0">
                <a:tc>
                  <a:txBody>
                    <a:bodyPr/>
                    <a:lstStyle/>
                    <a:p>
                      <a:pPr marL="0" marR="0" lvl="0" indent="0" algn="l" defTabSz="914486" rtl="0" eaLnBrk="1" fontAlgn="auto" latinLnBrk="0" hangingPunct="1">
                        <a:lnSpc>
                          <a:spcPct val="100000"/>
                        </a:lnSpc>
                        <a:spcBef>
                          <a:spcPts val="0"/>
                        </a:spcBef>
                        <a:spcAft>
                          <a:spcPts val="0"/>
                        </a:spcAft>
                        <a:buClrTx/>
                        <a:buSzTx/>
                        <a:buFontTx/>
                        <a:buNone/>
                        <a:tabLst/>
                        <a:defRPr/>
                      </a:pPr>
                      <a:r>
                        <a:rPr kumimoji="0" lang="zh-CN" altLang="en-US" sz="1400" b="1"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rPr>
                        <a:t>项目准备</a:t>
                      </a:r>
                    </a:p>
                    <a:p>
                      <a:endParaRPr lang="en-US" sz="1400" b="1" baseline="0" dirty="0">
                        <a:solidFill>
                          <a:sysClr val="windowText" lastClr="000000"/>
                        </a:solidFill>
                        <a:latin typeface="Arial" panose="020B0604020202020204" pitchFamily="34" charset="0"/>
                        <a:ea typeface="楷体" panose="02010609060101010101" pitchFamily="49" charset="-122"/>
                      </a:endParaRPr>
                    </a:p>
                  </a:txBody>
                  <a:tcPr marL="72000" marR="72000" marT="72000" marB="7200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marL="285750" indent="-285750">
                        <a:buClr>
                          <a:schemeClr val="accent1">
                            <a:lumMod val="75000"/>
                          </a:schemeClr>
                        </a:buClr>
                        <a:buSzPct val="80000"/>
                        <a:buFont typeface="Wingdings" panose="05000000000000000000" pitchFamily="2" charset="2"/>
                        <a:buChar char="n"/>
                      </a:pPr>
                      <a:r>
                        <a:rPr lang="zh-CN" altLang="en-US" sz="1400" b="0" baseline="0" dirty="0">
                          <a:solidFill>
                            <a:sysClr val="windowText" lastClr="000000"/>
                          </a:solidFill>
                          <a:latin typeface="Arial" panose="020B0604020202020204" pitchFamily="34" charset="0"/>
                          <a:ea typeface="楷体" panose="02010609060101010101" pitchFamily="49" charset="-122"/>
                        </a:rPr>
                        <a:t>准备</a:t>
                      </a:r>
                      <a:r>
                        <a:rPr lang="zh-CN" altLang="en-US" sz="1400" b="0" baseline="0" dirty="0">
                          <a:solidFill>
                            <a:schemeClr val="accent1"/>
                          </a:solidFill>
                          <a:latin typeface="Arial" panose="020B0604020202020204" pitchFamily="34" charset="0"/>
                          <a:ea typeface="楷体" panose="02010609060101010101" pitchFamily="49" charset="-122"/>
                        </a:rPr>
                        <a:t>详细计划</a:t>
                      </a:r>
                      <a:r>
                        <a:rPr lang="zh-CN" altLang="en-US" sz="1400" b="0" baseline="0" dirty="0">
                          <a:solidFill>
                            <a:sysClr val="windowText" lastClr="000000"/>
                          </a:solidFill>
                          <a:latin typeface="Arial" panose="020B0604020202020204" pitchFamily="34" charset="0"/>
                          <a:ea typeface="楷体" panose="02010609060101010101" pitchFamily="49" charset="-122"/>
                        </a:rPr>
                        <a:t>，安排项目启动会</a:t>
                      </a:r>
                      <a:endParaRPr lang="en-US" altLang="zh-CN" sz="1400" b="0" baseline="0" dirty="0">
                        <a:solidFill>
                          <a:sysClr val="windowText" lastClr="000000"/>
                        </a:solidFill>
                        <a:latin typeface="Arial" panose="020B0604020202020204" pitchFamily="34" charset="0"/>
                        <a:ea typeface="楷体" panose="02010609060101010101" pitchFamily="49" charset="-122"/>
                      </a:endParaRPr>
                    </a:p>
                    <a:p>
                      <a:pPr marL="285750" indent="-285750">
                        <a:buClr>
                          <a:schemeClr val="accent1">
                            <a:lumMod val="75000"/>
                          </a:schemeClr>
                        </a:buClr>
                        <a:buSzPct val="80000"/>
                        <a:buFont typeface="Wingdings" panose="05000000000000000000" pitchFamily="2" charset="2"/>
                        <a:buChar char="n"/>
                      </a:pPr>
                      <a:r>
                        <a:rPr lang="zh-CN" altLang="en-US" sz="1400" b="0" baseline="0" dirty="0">
                          <a:solidFill>
                            <a:sysClr val="windowText" lastClr="000000"/>
                          </a:solidFill>
                          <a:latin typeface="Arial" panose="020B0604020202020204" pitchFamily="34" charset="0"/>
                          <a:ea typeface="楷体" panose="02010609060101010101" pitchFamily="49" charset="-122"/>
                        </a:rPr>
                        <a:t>项目团队与负责人接洽，</a:t>
                      </a:r>
                      <a:r>
                        <a:rPr lang="zh-CN" altLang="en-US" sz="1400" b="0" baseline="0" dirty="0">
                          <a:solidFill>
                            <a:schemeClr val="accent1"/>
                          </a:solidFill>
                          <a:latin typeface="Arial" panose="020B0604020202020204" pitchFamily="34" charset="0"/>
                          <a:ea typeface="楷体" panose="02010609060101010101" pitchFamily="49" charset="-122"/>
                        </a:rPr>
                        <a:t>协调沟通机制</a:t>
                      </a:r>
                    </a:p>
                  </a:txBody>
                  <a:tcPr marL="72000" marR="72000" marT="72000" marB="7200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marL="285750" indent="-285750">
                        <a:buClr>
                          <a:schemeClr val="accent1">
                            <a:lumMod val="75000"/>
                          </a:schemeClr>
                        </a:buClr>
                        <a:buSzPct val="80000"/>
                        <a:buFont typeface="Wingdings" panose="05000000000000000000" pitchFamily="2" charset="2"/>
                        <a:buChar char="n"/>
                      </a:pPr>
                      <a:r>
                        <a:rPr lang="zh-CN" altLang="en-US" sz="1400" b="0" baseline="0" dirty="0">
                          <a:solidFill>
                            <a:schemeClr val="accent1"/>
                          </a:solidFill>
                          <a:latin typeface="Arial" panose="020B0604020202020204" pitchFamily="34" charset="0"/>
                          <a:ea typeface="楷体" panose="02010609060101010101" pitchFamily="49" charset="-122"/>
                        </a:rPr>
                        <a:t>确定对接人员</a:t>
                      </a:r>
                      <a:endParaRPr lang="en-US" altLang="zh-CN" sz="1400" b="0" baseline="0" dirty="0">
                        <a:solidFill>
                          <a:schemeClr val="accent1"/>
                        </a:solidFill>
                        <a:latin typeface="Arial" panose="020B0604020202020204" pitchFamily="34" charset="0"/>
                        <a:ea typeface="楷体" panose="02010609060101010101" pitchFamily="49" charset="-122"/>
                      </a:endParaRPr>
                    </a:p>
                    <a:p>
                      <a:pPr marL="285750" indent="-285750">
                        <a:buClr>
                          <a:schemeClr val="accent1">
                            <a:lumMod val="75000"/>
                          </a:schemeClr>
                        </a:buClr>
                        <a:buSzPct val="80000"/>
                        <a:buFont typeface="Wingdings" panose="05000000000000000000" pitchFamily="2" charset="2"/>
                        <a:buChar char="n"/>
                      </a:pPr>
                      <a:r>
                        <a:rPr lang="zh-CN" altLang="en-US" sz="1400" b="0" baseline="0" dirty="0">
                          <a:solidFill>
                            <a:sysClr val="windowText" lastClr="000000"/>
                          </a:solidFill>
                          <a:latin typeface="Arial" panose="020B0604020202020204" pitchFamily="34" charset="0"/>
                          <a:ea typeface="楷体" panose="02010609060101010101" pitchFamily="49" charset="-122"/>
                        </a:rPr>
                        <a:t>为后续业务开展做好</a:t>
                      </a:r>
                      <a:r>
                        <a:rPr lang="zh-CN" altLang="en-US" sz="1400" b="0" baseline="0" dirty="0">
                          <a:solidFill>
                            <a:schemeClr val="accent1"/>
                          </a:solidFill>
                          <a:latin typeface="Arial" panose="020B0604020202020204" pitchFamily="34" charset="0"/>
                          <a:ea typeface="楷体" panose="02010609060101010101" pitchFamily="49" charset="-122"/>
                        </a:rPr>
                        <a:t>内部宣导</a:t>
                      </a:r>
                    </a:p>
                  </a:txBody>
                  <a:tcPr marL="72000" marR="72000" marT="72000" marB="7200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1884296"/>
                  </a:ext>
                </a:extLst>
              </a:tr>
              <a:tr h="0">
                <a:tc>
                  <a:txBody>
                    <a:bodyPr/>
                    <a:lstStyle/>
                    <a:p>
                      <a:r>
                        <a:rPr lang="zh-CN" altLang="en-US" sz="1400" b="1" baseline="0" dirty="0">
                          <a:solidFill>
                            <a:sysClr val="windowText" lastClr="000000"/>
                          </a:solidFill>
                          <a:latin typeface="Arial" panose="020B0604020202020204" pitchFamily="34" charset="0"/>
                          <a:ea typeface="楷体" panose="02010609060101010101" pitchFamily="49" charset="-122"/>
                        </a:rPr>
                        <a:t>现状了解</a:t>
                      </a:r>
                      <a:endParaRPr lang="en-US" sz="1400" b="1" baseline="0" dirty="0">
                        <a:solidFill>
                          <a:sysClr val="windowText" lastClr="000000"/>
                        </a:solidFill>
                        <a:latin typeface="Arial" panose="020B0604020202020204" pitchFamily="34" charset="0"/>
                        <a:ea typeface="楷体" panose="02010609060101010101" pitchFamily="49" charset="-122"/>
                      </a:endParaRPr>
                    </a:p>
                  </a:txBody>
                  <a:tcPr marL="72000" marR="72000" marT="72000" marB="72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Clr>
                          <a:schemeClr val="accent1">
                            <a:lumMod val="75000"/>
                          </a:schemeClr>
                        </a:buClr>
                        <a:buSzPct val="80000"/>
                        <a:buFont typeface="Wingdings" panose="05000000000000000000" pitchFamily="2" charset="2"/>
                        <a:buChar char="n"/>
                      </a:pPr>
                      <a:r>
                        <a:rPr lang="zh-CN" altLang="en-US" sz="1400" b="0" baseline="0" dirty="0">
                          <a:solidFill>
                            <a:sysClr val="windowText" lastClr="000000"/>
                          </a:solidFill>
                          <a:latin typeface="Arial" panose="020B0604020202020204" pitchFamily="34" charset="0"/>
                          <a:ea typeface="楷体" panose="02010609060101010101" pitchFamily="49" charset="-122"/>
                        </a:rPr>
                        <a:t>获悉</a:t>
                      </a:r>
                      <a:r>
                        <a:rPr lang="zh-CN" altLang="en-US" sz="1400" b="0" baseline="0" dirty="0">
                          <a:solidFill>
                            <a:schemeClr val="accent1"/>
                          </a:solidFill>
                          <a:latin typeface="Arial" panose="020B0604020202020204" pitchFamily="34" charset="0"/>
                          <a:ea typeface="楷体" panose="02010609060101010101" pitchFamily="49" charset="-122"/>
                        </a:rPr>
                        <a:t>前任鉴证服务商的差异分析与整改规划</a:t>
                      </a:r>
                      <a:endParaRPr lang="en-US" altLang="zh-CN" sz="1400" b="0" baseline="0" dirty="0">
                        <a:solidFill>
                          <a:schemeClr val="accent1"/>
                        </a:solidFill>
                        <a:latin typeface="Arial" panose="020B0604020202020204" pitchFamily="34" charset="0"/>
                        <a:ea typeface="楷体" panose="02010609060101010101" pitchFamily="49" charset="-122"/>
                      </a:endParaRPr>
                    </a:p>
                    <a:p>
                      <a:pPr marL="285750" indent="-285750">
                        <a:buClr>
                          <a:schemeClr val="accent1">
                            <a:lumMod val="75000"/>
                          </a:schemeClr>
                        </a:buClr>
                        <a:buSzPct val="80000"/>
                        <a:buFont typeface="Wingdings" panose="05000000000000000000" pitchFamily="2" charset="2"/>
                        <a:buChar char="n"/>
                      </a:pPr>
                      <a:r>
                        <a:rPr lang="zh-CN" altLang="en-US" sz="1400" b="0" baseline="0" dirty="0">
                          <a:solidFill>
                            <a:sysClr val="windowText" lastClr="000000"/>
                          </a:solidFill>
                          <a:latin typeface="Arial" panose="020B0604020202020204" pitchFamily="34" charset="0"/>
                          <a:ea typeface="楷体" panose="02010609060101010101" pitchFamily="49" charset="-122"/>
                        </a:rPr>
                        <a:t>了解整改进程与</a:t>
                      </a:r>
                      <a:r>
                        <a:rPr lang="zh-CN" altLang="en-US" sz="1400" b="0" baseline="0" dirty="0">
                          <a:solidFill>
                            <a:schemeClr val="accent1"/>
                          </a:solidFill>
                          <a:latin typeface="Arial" panose="020B0604020202020204" pitchFamily="34" charset="0"/>
                          <a:ea typeface="楷体" panose="02010609060101010101" pitchFamily="49" charset="-122"/>
                        </a:rPr>
                        <a:t>现状</a:t>
                      </a:r>
                      <a:endParaRPr lang="en-US" altLang="zh-CN" sz="1400" b="0" baseline="0" dirty="0">
                        <a:solidFill>
                          <a:schemeClr val="accent1"/>
                        </a:solidFill>
                        <a:latin typeface="Arial" panose="020B0604020202020204" pitchFamily="34" charset="0"/>
                        <a:ea typeface="楷体" panose="02010609060101010101" pitchFamily="49" charset="-122"/>
                      </a:endParaRPr>
                    </a:p>
                    <a:p>
                      <a:pPr marL="285750" indent="-285750">
                        <a:buClr>
                          <a:schemeClr val="accent1">
                            <a:lumMod val="75000"/>
                          </a:schemeClr>
                        </a:buClr>
                        <a:buSzPct val="80000"/>
                        <a:buFont typeface="Wingdings" panose="05000000000000000000" pitchFamily="2" charset="2"/>
                        <a:buChar char="n"/>
                      </a:pPr>
                      <a:r>
                        <a:rPr lang="zh-CN" altLang="en-US" sz="1400" b="0" baseline="0" dirty="0">
                          <a:solidFill>
                            <a:schemeClr val="accent1"/>
                          </a:solidFill>
                          <a:latin typeface="Arial" panose="020B0604020202020204" pitchFamily="34" charset="0"/>
                          <a:ea typeface="楷体" panose="02010609060101010101" pitchFamily="49" charset="-122"/>
                        </a:rPr>
                        <a:t>听取贵司的规划修改意见</a:t>
                      </a:r>
                      <a:endParaRPr lang="en-US" sz="1400" b="0" baseline="0" dirty="0">
                        <a:solidFill>
                          <a:schemeClr val="accent1"/>
                        </a:solidFill>
                        <a:latin typeface="Arial" panose="020B0604020202020204" pitchFamily="34" charset="0"/>
                        <a:ea typeface="楷体" panose="02010609060101010101" pitchFamily="49" charset="-122"/>
                      </a:endParaRPr>
                    </a:p>
                  </a:txBody>
                  <a:tcPr marL="72000" marR="72000" marT="72000" marB="72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Clr>
                          <a:schemeClr val="accent1">
                            <a:lumMod val="75000"/>
                          </a:schemeClr>
                        </a:buClr>
                        <a:buSzPct val="80000"/>
                        <a:buFont typeface="Wingdings" panose="05000000000000000000" pitchFamily="2" charset="2"/>
                        <a:buChar char="n"/>
                      </a:pPr>
                      <a:r>
                        <a:rPr lang="zh-CN" altLang="en-US" sz="1400" b="0" baseline="0" dirty="0">
                          <a:solidFill>
                            <a:sysClr val="windowText" lastClr="000000"/>
                          </a:solidFill>
                          <a:latin typeface="Arial" panose="020B0604020202020204" pitchFamily="34" charset="0"/>
                          <a:ea typeface="楷体" panose="02010609060101010101" pitchFamily="49" charset="-122"/>
                        </a:rPr>
                        <a:t>提供历史差异分析记录和现有整改规划</a:t>
                      </a:r>
                      <a:endParaRPr lang="en-US" altLang="zh-CN" sz="1400" b="0" baseline="0" dirty="0">
                        <a:solidFill>
                          <a:sysClr val="windowText" lastClr="000000"/>
                        </a:solidFill>
                        <a:latin typeface="Arial" panose="020B0604020202020204" pitchFamily="34" charset="0"/>
                        <a:ea typeface="楷体" panose="02010609060101010101" pitchFamily="49" charset="-122"/>
                      </a:endParaRPr>
                    </a:p>
                    <a:p>
                      <a:pPr marL="285750" indent="-285750">
                        <a:buClr>
                          <a:schemeClr val="accent1">
                            <a:lumMod val="75000"/>
                          </a:schemeClr>
                        </a:buClr>
                        <a:buSzPct val="80000"/>
                        <a:buFont typeface="Wingdings" panose="05000000000000000000" pitchFamily="2" charset="2"/>
                        <a:buChar char="n"/>
                      </a:pPr>
                      <a:r>
                        <a:rPr lang="zh-CN" altLang="en-US" sz="1400" b="0" baseline="0" dirty="0">
                          <a:solidFill>
                            <a:sysClr val="windowText" lastClr="000000"/>
                          </a:solidFill>
                          <a:latin typeface="Arial" panose="020B0604020202020204" pitchFamily="34" charset="0"/>
                          <a:ea typeface="楷体" panose="02010609060101010101" pitchFamily="49" charset="-122"/>
                        </a:rPr>
                        <a:t>介绍整改进展和</a:t>
                      </a:r>
                      <a:r>
                        <a:rPr lang="zh-CN" altLang="en-US" sz="1400" b="0" baseline="0" dirty="0">
                          <a:solidFill>
                            <a:schemeClr val="accent1"/>
                          </a:solidFill>
                          <a:latin typeface="Arial" panose="020B0604020202020204" pitchFamily="34" charset="0"/>
                          <a:ea typeface="楷体" panose="02010609060101010101" pitchFamily="49" charset="-122"/>
                        </a:rPr>
                        <a:t>规划修改意见</a:t>
                      </a:r>
                      <a:endParaRPr lang="en-US" sz="1400" b="0" baseline="0" dirty="0">
                        <a:solidFill>
                          <a:schemeClr val="accent1"/>
                        </a:solidFill>
                        <a:latin typeface="Arial" panose="020B0604020202020204" pitchFamily="34" charset="0"/>
                        <a:ea typeface="楷体" panose="02010609060101010101" pitchFamily="49" charset="-122"/>
                      </a:endParaRPr>
                    </a:p>
                  </a:txBody>
                  <a:tcPr marL="72000" marR="72000" marT="72000" marB="72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00733513"/>
                  </a:ext>
                </a:extLst>
              </a:tr>
              <a:tr h="0">
                <a:tc>
                  <a:txBody>
                    <a:bodyPr/>
                    <a:lstStyle/>
                    <a:p>
                      <a:r>
                        <a:rPr lang="zh-CN" altLang="en-US" sz="1400" b="1" baseline="0" dirty="0">
                          <a:solidFill>
                            <a:sysClr val="windowText" lastClr="000000"/>
                          </a:solidFill>
                          <a:latin typeface="Arial" panose="020B0604020202020204" pitchFamily="34" charset="0"/>
                          <a:ea typeface="楷体" panose="02010609060101010101" pitchFamily="49" charset="-122"/>
                        </a:rPr>
                        <a:t>差异分析</a:t>
                      </a:r>
                      <a:endParaRPr lang="en-US" sz="1400" b="1" baseline="0" dirty="0">
                        <a:solidFill>
                          <a:sysClr val="windowText" lastClr="000000"/>
                        </a:solidFill>
                        <a:latin typeface="Arial" panose="020B0604020202020204" pitchFamily="34" charset="0"/>
                        <a:ea typeface="楷体" panose="02010609060101010101" pitchFamily="49" charset="-122"/>
                      </a:endParaRPr>
                    </a:p>
                  </a:txBody>
                  <a:tcPr marL="72000" marR="72000" marT="72000" marB="72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285750" marR="0" lvl="0" indent="-285750" algn="l" defTabSz="914486" rtl="0" eaLnBrk="1" fontAlgn="auto" latinLnBrk="0" hangingPunct="1">
                        <a:lnSpc>
                          <a:spcPct val="100000"/>
                        </a:lnSpc>
                        <a:spcBef>
                          <a:spcPts val="0"/>
                        </a:spcBef>
                        <a:spcAft>
                          <a:spcPts val="0"/>
                        </a:spcAft>
                        <a:buClr>
                          <a:schemeClr val="accent1">
                            <a:lumMod val="75000"/>
                          </a:schemeClr>
                        </a:buClr>
                        <a:buSzPct val="80000"/>
                        <a:buFont typeface="Wingdings" panose="05000000000000000000" pitchFamily="2" charset="2"/>
                        <a:buChar char="n"/>
                        <a:tabLst/>
                        <a:defRPr/>
                      </a:pPr>
                      <a:r>
                        <a:rPr lang="zh-CN" altLang="en-US" sz="1400" b="0" kern="1200" baseline="0" noProof="0" dirty="0">
                          <a:solidFill>
                            <a:sysClr val="windowText" lastClr="000000"/>
                          </a:solidFill>
                          <a:latin typeface="Arial" panose="020B0604020202020204" pitchFamily="34" charset="0"/>
                          <a:ea typeface="楷体" panose="02010609060101010101" pitchFamily="49" charset="-122"/>
                          <a:cs typeface="+mn-cs"/>
                        </a:rPr>
                        <a:t>提供访谈提纲，开展</a:t>
                      </a:r>
                      <a:r>
                        <a:rPr lang="zh-CN" altLang="en-US" sz="1400" b="0" kern="1200" baseline="0" noProof="0" dirty="0">
                          <a:solidFill>
                            <a:schemeClr val="accent1"/>
                          </a:solidFill>
                          <a:latin typeface="Arial" panose="020B0604020202020204" pitchFamily="34" charset="0"/>
                          <a:ea typeface="楷体" panose="02010609060101010101" pitchFamily="49" charset="-122"/>
                          <a:cs typeface="+mn-cs"/>
                        </a:rPr>
                        <a:t>访谈</a:t>
                      </a:r>
                      <a:endParaRPr lang="en-US" altLang="zh-CN" sz="1400" b="0" kern="1200" baseline="0" noProof="0" dirty="0">
                        <a:solidFill>
                          <a:schemeClr val="accent1"/>
                        </a:solidFill>
                        <a:latin typeface="Arial" panose="020B0604020202020204" pitchFamily="34" charset="0"/>
                        <a:ea typeface="楷体" panose="02010609060101010101" pitchFamily="49" charset="-122"/>
                        <a:cs typeface="+mn-cs"/>
                      </a:endParaRPr>
                    </a:p>
                    <a:p>
                      <a:pPr marL="285750" marR="0" lvl="0" indent="-285750" algn="l" defTabSz="914486" rtl="0" eaLnBrk="1" fontAlgn="auto" latinLnBrk="0" hangingPunct="1">
                        <a:lnSpc>
                          <a:spcPct val="100000"/>
                        </a:lnSpc>
                        <a:spcBef>
                          <a:spcPts val="0"/>
                        </a:spcBef>
                        <a:spcAft>
                          <a:spcPts val="0"/>
                        </a:spcAft>
                        <a:buClr>
                          <a:schemeClr val="accent1">
                            <a:lumMod val="75000"/>
                          </a:schemeClr>
                        </a:buClr>
                        <a:buSzPct val="80000"/>
                        <a:buFont typeface="Wingdings" panose="05000000000000000000" pitchFamily="2" charset="2"/>
                        <a:buChar char="n"/>
                        <a:tabLst/>
                        <a:defRPr/>
                      </a:pPr>
                      <a:r>
                        <a:rPr lang="zh-CN" altLang="en-US" sz="1400" b="0" kern="1200" baseline="0" noProof="0" dirty="0">
                          <a:solidFill>
                            <a:schemeClr val="accent1"/>
                          </a:solidFill>
                          <a:latin typeface="Arial" panose="020B0604020202020204" pitchFamily="34" charset="0"/>
                          <a:ea typeface="楷体" panose="02010609060101010101" pitchFamily="49" charset="-122"/>
                          <a:cs typeface="+mn-cs"/>
                        </a:rPr>
                        <a:t>阅读制度文件、收集样本资料</a:t>
                      </a:r>
                      <a:r>
                        <a:rPr lang="zh-CN" altLang="en-US" sz="1400" b="0" kern="1200" baseline="0" noProof="0" dirty="0">
                          <a:solidFill>
                            <a:sysClr val="windowText" lastClr="000000"/>
                          </a:solidFill>
                          <a:latin typeface="Arial" panose="020B0604020202020204" pitchFamily="34" charset="0"/>
                          <a:ea typeface="楷体" panose="02010609060101010101" pitchFamily="49" charset="-122"/>
                          <a:cs typeface="+mn-cs"/>
                        </a:rPr>
                        <a:t>开展诊断测试</a:t>
                      </a:r>
                      <a:endParaRPr lang="en-US" altLang="zh-CN" sz="1400" b="0" kern="1200" baseline="0" noProof="0" dirty="0">
                        <a:solidFill>
                          <a:sysClr val="windowText" lastClr="000000"/>
                        </a:solidFill>
                        <a:latin typeface="Arial" panose="020B0604020202020204" pitchFamily="34" charset="0"/>
                        <a:ea typeface="楷体" panose="02010609060101010101" pitchFamily="49" charset="-122"/>
                        <a:cs typeface="+mn-cs"/>
                      </a:endParaRPr>
                    </a:p>
                    <a:p>
                      <a:pPr marL="285750" marR="0" lvl="0" indent="-285750" algn="l" defTabSz="914486" rtl="0" eaLnBrk="1" fontAlgn="auto" latinLnBrk="0" hangingPunct="1">
                        <a:lnSpc>
                          <a:spcPct val="100000"/>
                        </a:lnSpc>
                        <a:spcBef>
                          <a:spcPts val="0"/>
                        </a:spcBef>
                        <a:spcAft>
                          <a:spcPts val="0"/>
                        </a:spcAft>
                        <a:buClr>
                          <a:schemeClr val="accent1">
                            <a:lumMod val="75000"/>
                          </a:schemeClr>
                        </a:buClr>
                        <a:buSzPct val="80000"/>
                        <a:buFont typeface="Wingdings" panose="05000000000000000000" pitchFamily="2" charset="2"/>
                        <a:buChar char="n"/>
                        <a:tabLst/>
                        <a:defRPr/>
                      </a:pPr>
                      <a:r>
                        <a:rPr lang="zh-CN" altLang="en-US" sz="1400" b="0" kern="1200" baseline="0" noProof="0" dirty="0">
                          <a:solidFill>
                            <a:sysClr val="windowText" lastClr="000000"/>
                          </a:solidFill>
                          <a:latin typeface="Arial" panose="020B0604020202020204" pitchFamily="34" charset="0"/>
                          <a:ea typeface="楷体" panose="02010609060101010101" pitchFamily="49" charset="-122"/>
                          <a:cs typeface="+mn-cs"/>
                        </a:rPr>
                        <a:t>汇总问题发现、提出整改建议</a:t>
                      </a:r>
                      <a:endParaRPr lang="en-GB" sz="1400" b="0" kern="1200" baseline="0" noProof="0" dirty="0">
                        <a:solidFill>
                          <a:sysClr val="windowText" lastClr="000000"/>
                        </a:solidFill>
                        <a:latin typeface="Arial" panose="020B0604020202020204" pitchFamily="34" charset="0"/>
                        <a:ea typeface="楷体" panose="02010609060101010101" pitchFamily="49" charset="-122"/>
                        <a:cs typeface="+mn-cs"/>
                      </a:endParaRPr>
                    </a:p>
                  </a:txBody>
                  <a:tcPr marL="72000" marR="72000" marT="72000" marB="72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285750" marR="0" lvl="0" indent="-285750" algn="l" defTabSz="914400" rtl="0" eaLnBrk="1" fontAlgn="auto" latinLnBrk="0" hangingPunct="1">
                        <a:lnSpc>
                          <a:spcPct val="100000"/>
                        </a:lnSpc>
                        <a:spcBef>
                          <a:spcPts val="0"/>
                        </a:spcBef>
                        <a:spcAft>
                          <a:spcPts val="0"/>
                        </a:spcAft>
                        <a:buClr>
                          <a:schemeClr val="accent1">
                            <a:lumMod val="75000"/>
                          </a:schemeClr>
                        </a:buClr>
                        <a:buSzPct val="80000"/>
                        <a:buFont typeface="Wingdings" panose="05000000000000000000" pitchFamily="2" charset="2"/>
                        <a:buChar char="n"/>
                        <a:tabLst/>
                        <a:defRPr/>
                      </a:pPr>
                      <a:r>
                        <a:rPr kumimoji="0" lang="zh-CN" altLang="en-US" sz="1400" b="0" i="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rPr>
                        <a:t>确定访谈对象</a:t>
                      </a:r>
                      <a:endParaRPr kumimoji="0" lang="en-US" altLang="zh-CN" sz="1400" b="0" i="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endParaRPr>
                    </a:p>
                    <a:p>
                      <a:pPr marL="285750" marR="0" lvl="0" indent="-285750" algn="l" defTabSz="914400" rtl="0" eaLnBrk="1" fontAlgn="auto" latinLnBrk="0" hangingPunct="1">
                        <a:lnSpc>
                          <a:spcPct val="100000"/>
                        </a:lnSpc>
                        <a:spcBef>
                          <a:spcPts val="0"/>
                        </a:spcBef>
                        <a:spcAft>
                          <a:spcPts val="0"/>
                        </a:spcAft>
                        <a:buClr>
                          <a:schemeClr val="accent1">
                            <a:lumMod val="75000"/>
                          </a:schemeClr>
                        </a:buClr>
                        <a:buSzPct val="80000"/>
                        <a:buFont typeface="Wingdings" panose="05000000000000000000" pitchFamily="2" charset="2"/>
                        <a:buChar char="n"/>
                        <a:tabLst/>
                        <a:defRPr/>
                      </a:pPr>
                      <a:r>
                        <a:rPr kumimoji="0" lang="zh-CN" altLang="en-US" sz="1400" b="0" i="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rPr>
                        <a:t>安排集中访谈时间</a:t>
                      </a:r>
                      <a:endParaRPr kumimoji="0" lang="en-US" altLang="zh-CN" sz="1400" b="0" i="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endParaRPr>
                    </a:p>
                    <a:p>
                      <a:pPr marL="285750" marR="0" lvl="0" indent="-285750" algn="l" defTabSz="914400" rtl="0" eaLnBrk="1" fontAlgn="auto" latinLnBrk="0" hangingPunct="1">
                        <a:lnSpc>
                          <a:spcPct val="100000"/>
                        </a:lnSpc>
                        <a:spcBef>
                          <a:spcPts val="0"/>
                        </a:spcBef>
                        <a:spcAft>
                          <a:spcPts val="0"/>
                        </a:spcAft>
                        <a:buClr>
                          <a:schemeClr val="accent1">
                            <a:lumMod val="75000"/>
                          </a:schemeClr>
                        </a:buClr>
                        <a:buSzPct val="80000"/>
                        <a:buFont typeface="Wingdings" panose="05000000000000000000" pitchFamily="2" charset="2"/>
                        <a:buChar char="n"/>
                        <a:tabLst/>
                        <a:defRPr/>
                      </a:pPr>
                      <a:r>
                        <a:rPr kumimoji="0" lang="zh-CN" altLang="en-US" sz="1400" b="0" i="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rPr>
                        <a:t>及时反馈整改规划，确认整改事项与时间</a:t>
                      </a:r>
                      <a:endParaRPr kumimoji="0" lang="en-GB" sz="1400" b="0" i="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endParaRPr>
                    </a:p>
                  </a:txBody>
                  <a:tcPr marL="72000" marR="72000" marT="72000" marB="72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2684621"/>
                  </a:ext>
                </a:extLst>
              </a:tr>
              <a:tr h="0">
                <a:tc>
                  <a:txBody>
                    <a:bodyPr/>
                    <a:lstStyle/>
                    <a:p>
                      <a:r>
                        <a:rPr lang="zh-CN" altLang="en-US" sz="1400" b="1" baseline="0" dirty="0">
                          <a:solidFill>
                            <a:sysClr val="windowText" lastClr="000000"/>
                          </a:solidFill>
                          <a:latin typeface="Arial" panose="020B0604020202020204" pitchFamily="34" charset="0"/>
                          <a:ea typeface="楷体" panose="02010609060101010101" pitchFamily="49" charset="-122"/>
                        </a:rPr>
                        <a:t>完善优化</a:t>
                      </a:r>
                      <a:endParaRPr lang="en-US" sz="1400" b="1" baseline="0" dirty="0">
                        <a:solidFill>
                          <a:sysClr val="windowText" lastClr="000000"/>
                        </a:solidFill>
                        <a:latin typeface="Arial" panose="020B0604020202020204" pitchFamily="34" charset="0"/>
                        <a:ea typeface="楷体" panose="02010609060101010101" pitchFamily="49" charset="-122"/>
                      </a:endParaRPr>
                    </a:p>
                  </a:txBody>
                  <a:tcPr marL="72000" marR="72000" marT="72000" marB="72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marR="0" lvl="0" indent="-285750" algn="l" defTabSz="914400" rtl="0" eaLnBrk="1" fontAlgn="auto" latinLnBrk="0" hangingPunct="1">
                        <a:lnSpc>
                          <a:spcPct val="100000"/>
                        </a:lnSpc>
                        <a:spcBef>
                          <a:spcPts val="0"/>
                        </a:spcBef>
                        <a:spcAft>
                          <a:spcPts val="0"/>
                        </a:spcAft>
                        <a:buClr>
                          <a:schemeClr val="accent1">
                            <a:lumMod val="75000"/>
                          </a:schemeClr>
                        </a:buClr>
                        <a:buSzPct val="80000"/>
                        <a:buFont typeface="Wingdings" panose="05000000000000000000" pitchFamily="2" charset="2"/>
                        <a:buChar char="n"/>
                        <a:tabLst/>
                        <a:defRPr/>
                      </a:pPr>
                      <a:r>
                        <a:rPr kumimoji="0" lang="zh-CN" altLang="en-US" sz="1400" b="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rPr>
                        <a:t>提供</a:t>
                      </a:r>
                      <a:r>
                        <a:rPr kumimoji="0" lang="zh-CN" altLang="en-US" sz="1400" b="0" u="none" strike="noStrike" kern="0" cap="none" spc="0" normalizeH="0" baseline="0" noProof="0" dirty="0">
                          <a:ln>
                            <a:noFill/>
                          </a:ln>
                          <a:solidFill>
                            <a:schemeClr val="accent1"/>
                          </a:solidFill>
                          <a:effectLst/>
                          <a:uLnTx/>
                          <a:uFillTx/>
                          <a:latin typeface="Arial" panose="020B0604020202020204" pitchFamily="34" charset="0"/>
                          <a:ea typeface="楷体" panose="02010609060101010101" pitchFamily="49" charset="-122"/>
                        </a:rPr>
                        <a:t>整改辅导</a:t>
                      </a:r>
                      <a:r>
                        <a:rPr kumimoji="0" lang="zh-CN" altLang="en-US" sz="1400" b="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rPr>
                        <a:t>，积极</a:t>
                      </a:r>
                      <a:r>
                        <a:rPr kumimoji="0" lang="zh-CN" altLang="en-US" sz="1400" b="0" u="none" strike="noStrike" kern="0" cap="none" spc="0" normalizeH="0" baseline="0" noProof="0" dirty="0">
                          <a:ln>
                            <a:noFill/>
                          </a:ln>
                          <a:solidFill>
                            <a:schemeClr val="accent1"/>
                          </a:solidFill>
                          <a:effectLst/>
                          <a:uLnTx/>
                          <a:uFillTx/>
                          <a:latin typeface="Arial" panose="020B0604020202020204" pitchFamily="34" charset="0"/>
                          <a:ea typeface="楷体" panose="02010609060101010101" pitchFamily="49" charset="-122"/>
                        </a:rPr>
                        <a:t>推进整改进度</a:t>
                      </a:r>
                      <a:endParaRPr kumimoji="0" lang="en-US" altLang="zh-CN" sz="1400" b="0" u="none" strike="noStrike" kern="0" cap="none" spc="0" normalizeH="0" baseline="0" noProof="0" dirty="0">
                        <a:ln>
                          <a:noFill/>
                        </a:ln>
                        <a:solidFill>
                          <a:schemeClr val="accent1"/>
                        </a:solidFill>
                        <a:effectLst/>
                        <a:uLnTx/>
                        <a:uFillTx/>
                        <a:latin typeface="Arial" panose="020B0604020202020204" pitchFamily="34" charset="0"/>
                        <a:ea typeface="楷体" panose="02010609060101010101" pitchFamily="49" charset="-122"/>
                      </a:endParaRPr>
                    </a:p>
                    <a:p>
                      <a:pPr marL="285750" marR="0" lvl="0" indent="-285750" algn="l" defTabSz="914400" rtl="0" eaLnBrk="1" fontAlgn="auto" latinLnBrk="0" hangingPunct="1">
                        <a:lnSpc>
                          <a:spcPct val="100000"/>
                        </a:lnSpc>
                        <a:spcBef>
                          <a:spcPts val="0"/>
                        </a:spcBef>
                        <a:spcAft>
                          <a:spcPts val="0"/>
                        </a:spcAft>
                        <a:buClr>
                          <a:schemeClr val="accent1">
                            <a:lumMod val="75000"/>
                          </a:schemeClr>
                        </a:buClr>
                        <a:buSzPct val="80000"/>
                        <a:buFont typeface="Wingdings" panose="05000000000000000000" pitchFamily="2" charset="2"/>
                        <a:buChar char="n"/>
                        <a:tabLst/>
                        <a:defRPr/>
                      </a:pPr>
                      <a:r>
                        <a:rPr kumimoji="0" lang="zh-CN" altLang="en-US" sz="1400" b="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rPr>
                        <a:t>审阅整改后的资料、文档等</a:t>
                      </a:r>
                      <a:endParaRPr kumimoji="0" lang="en-US" altLang="zh-CN" sz="1400" b="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endParaRPr>
                    </a:p>
                    <a:p>
                      <a:pPr marL="285750" marR="0" lvl="0" indent="-285750" algn="l" defTabSz="914400" rtl="0" eaLnBrk="1" fontAlgn="auto" latinLnBrk="0" hangingPunct="1">
                        <a:lnSpc>
                          <a:spcPct val="100000"/>
                        </a:lnSpc>
                        <a:spcBef>
                          <a:spcPts val="0"/>
                        </a:spcBef>
                        <a:spcAft>
                          <a:spcPts val="0"/>
                        </a:spcAft>
                        <a:buClr>
                          <a:schemeClr val="accent1">
                            <a:lumMod val="75000"/>
                          </a:schemeClr>
                        </a:buClr>
                        <a:buSzPct val="80000"/>
                        <a:buFont typeface="Wingdings" panose="05000000000000000000" pitchFamily="2" charset="2"/>
                        <a:buChar char="n"/>
                        <a:tabLst/>
                        <a:defRPr/>
                      </a:pPr>
                      <a:r>
                        <a:rPr kumimoji="0" lang="zh-CN" altLang="en-US" sz="1400" b="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rPr>
                        <a:t>执行鉴证测试</a:t>
                      </a:r>
                      <a:endParaRPr kumimoji="0" lang="en-GB" sz="1400" b="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endParaRPr>
                    </a:p>
                  </a:txBody>
                  <a:tcPr marL="72000" marR="72000" marT="72000" marB="72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marR="0" lvl="0" indent="-285750" algn="l" defTabSz="914400" rtl="0" eaLnBrk="1" fontAlgn="auto" latinLnBrk="0" hangingPunct="1">
                        <a:lnSpc>
                          <a:spcPct val="100000"/>
                        </a:lnSpc>
                        <a:spcBef>
                          <a:spcPts val="0"/>
                        </a:spcBef>
                        <a:spcAft>
                          <a:spcPts val="0"/>
                        </a:spcAft>
                        <a:buClr>
                          <a:schemeClr val="accent1">
                            <a:lumMod val="75000"/>
                          </a:schemeClr>
                        </a:buClr>
                        <a:buSzPct val="80000"/>
                        <a:buFont typeface="Wingdings" panose="05000000000000000000" pitchFamily="2" charset="2"/>
                        <a:buChar char="n"/>
                        <a:tabLst/>
                        <a:defRPr/>
                      </a:pPr>
                      <a:r>
                        <a:rPr kumimoji="0" lang="zh-CN" altLang="en-US" sz="1400" b="0" i="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rPr>
                        <a:t>指定整改责任部门和责任人，完成整改任务</a:t>
                      </a:r>
                      <a:endParaRPr kumimoji="0" lang="en-US" altLang="zh-CN" sz="1400" b="0" i="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endParaRPr>
                    </a:p>
                    <a:p>
                      <a:pPr marL="285750" marR="0" lvl="0" indent="-285750" algn="l" defTabSz="914400" rtl="0" eaLnBrk="1" fontAlgn="auto" latinLnBrk="0" hangingPunct="1">
                        <a:lnSpc>
                          <a:spcPct val="100000"/>
                        </a:lnSpc>
                        <a:spcBef>
                          <a:spcPts val="0"/>
                        </a:spcBef>
                        <a:spcAft>
                          <a:spcPts val="0"/>
                        </a:spcAft>
                        <a:buClr>
                          <a:schemeClr val="accent1">
                            <a:lumMod val="75000"/>
                          </a:schemeClr>
                        </a:buClr>
                        <a:buSzPct val="80000"/>
                        <a:buFont typeface="Wingdings" panose="05000000000000000000" pitchFamily="2" charset="2"/>
                        <a:buChar char="n"/>
                        <a:tabLst/>
                        <a:defRPr/>
                      </a:pPr>
                      <a:r>
                        <a:rPr kumimoji="0" lang="zh-CN" altLang="en-US" sz="1400" b="0" i="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rPr>
                        <a:t>与项目组商定鉴证截止日，提供所需文件</a:t>
                      </a:r>
                      <a:endParaRPr kumimoji="0" lang="en-US" altLang="zh-CN" sz="1400" b="0" i="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endParaRPr>
                    </a:p>
                    <a:p>
                      <a:pPr marL="285750" marR="0" lvl="0" indent="-285750" algn="l" defTabSz="914400" rtl="0" eaLnBrk="1" fontAlgn="auto" latinLnBrk="0" hangingPunct="1">
                        <a:lnSpc>
                          <a:spcPct val="100000"/>
                        </a:lnSpc>
                        <a:spcBef>
                          <a:spcPts val="0"/>
                        </a:spcBef>
                        <a:spcAft>
                          <a:spcPts val="0"/>
                        </a:spcAft>
                        <a:buClr>
                          <a:schemeClr val="accent1">
                            <a:lumMod val="75000"/>
                          </a:schemeClr>
                        </a:buClr>
                        <a:buSzPct val="80000"/>
                        <a:buFont typeface="Wingdings" panose="05000000000000000000" pitchFamily="2" charset="2"/>
                        <a:buChar char="n"/>
                        <a:tabLst/>
                        <a:defRPr/>
                      </a:pPr>
                      <a:r>
                        <a:rPr kumimoji="0" lang="zh-CN" altLang="en-US" sz="1400" b="0" i="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rPr>
                        <a:t>接受正式鉴证测试</a:t>
                      </a:r>
                      <a:endParaRPr kumimoji="0" lang="en-GB" sz="1400" b="0" i="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endParaRPr>
                    </a:p>
                  </a:txBody>
                  <a:tcPr marL="72000" marR="72000" marT="72000" marB="72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88234096"/>
                  </a:ext>
                </a:extLst>
              </a:tr>
              <a:tr h="0">
                <a:tc>
                  <a:txBody>
                    <a:bodyPr/>
                    <a:lstStyle/>
                    <a:p>
                      <a:r>
                        <a:rPr lang="zh-CN" altLang="en-US" sz="1400" b="1" baseline="0" dirty="0">
                          <a:solidFill>
                            <a:sysClr val="windowText" lastClr="000000"/>
                          </a:solidFill>
                          <a:latin typeface="Arial" panose="020B0604020202020204" pitchFamily="34" charset="0"/>
                          <a:ea typeface="楷体" panose="02010609060101010101" pitchFamily="49" charset="-122"/>
                        </a:rPr>
                        <a:t>鉴证报告</a:t>
                      </a:r>
                      <a:endParaRPr lang="en-US" sz="1400" b="1" baseline="0" dirty="0">
                        <a:solidFill>
                          <a:sysClr val="windowText" lastClr="000000"/>
                        </a:solidFill>
                        <a:latin typeface="Arial" panose="020B0604020202020204" pitchFamily="34" charset="0"/>
                        <a:ea typeface="楷体" panose="02010609060101010101" pitchFamily="49" charset="-122"/>
                      </a:endParaRPr>
                    </a:p>
                  </a:txBody>
                  <a:tcPr marL="72000" marR="72000" marT="72000" marB="72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285750" marR="0" lvl="0" indent="-285750" algn="l" defTabSz="914400" rtl="0" eaLnBrk="1" fontAlgn="auto" latinLnBrk="0" hangingPunct="1">
                        <a:lnSpc>
                          <a:spcPct val="100000"/>
                        </a:lnSpc>
                        <a:spcBef>
                          <a:spcPts val="0"/>
                        </a:spcBef>
                        <a:spcAft>
                          <a:spcPts val="0"/>
                        </a:spcAft>
                        <a:buClr>
                          <a:schemeClr val="accent1">
                            <a:lumMod val="75000"/>
                          </a:schemeClr>
                        </a:buClr>
                        <a:buSzPct val="80000"/>
                        <a:buFont typeface="Wingdings" panose="05000000000000000000" pitchFamily="2" charset="2"/>
                        <a:buChar char="n"/>
                        <a:tabLst/>
                        <a:defRPr/>
                      </a:pPr>
                      <a:r>
                        <a:rPr kumimoji="0" lang="zh-CN" altLang="en-US" sz="1400" b="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rPr>
                        <a:t>拟定报告，结合贵司反馈完成修改</a:t>
                      </a:r>
                      <a:endParaRPr kumimoji="0" lang="en-US" altLang="zh-CN" sz="1400" b="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endParaRPr>
                    </a:p>
                    <a:p>
                      <a:pPr marL="285750" marR="0" lvl="0" indent="-285750" algn="l" defTabSz="914400" rtl="0" eaLnBrk="1" fontAlgn="auto" latinLnBrk="0" hangingPunct="1">
                        <a:lnSpc>
                          <a:spcPct val="100000"/>
                        </a:lnSpc>
                        <a:spcBef>
                          <a:spcPts val="0"/>
                        </a:spcBef>
                        <a:spcAft>
                          <a:spcPts val="0"/>
                        </a:spcAft>
                        <a:buClr>
                          <a:schemeClr val="accent1">
                            <a:lumMod val="75000"/>
                          </a:schemeClr>
                        </a:buClr>
                        <a:buSzPct val="80000"/>
                        <a:buFont typeface="Wingdings" panose="05000000000000000000" pitchFamily="2" charset="2"/>
                        <a:buChar char="n"/>
                        <a:tabLst/>
                        <a:defRPr/>
                      </a:pPr>
                      <a:r>
                        <a:rPr kumimoji="0" lang="zh-CN" altLang="en-US" sz="1400" b="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rPr>
                        <a:t>为公司自述部分提供建议</a:t>
                      </a:r>
                      <a:endParaRPr kumimoji="0" lang="en-US" altLang="zh-CN" sz="1400" b="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endParaRPr>
                    </a:p>
                    <a:p>
                      <a:pPr marL="285750" marR="0" lvl="0" indent="-285750" algn="l" defTabSz="914400" rtl="0" eaLnBrk="1" fontAlgn="auto" latinLnBrk="0" hangingPunct="1">
                        <a:lnSpc>
                          <a:spcPct val="100000"/>
                        </a:lnSpc>
                        <a:spcBef>
                          <a:spcPts val="0"/>
                        </a:spcBef>
                        <a:spcAft>
                          <a:spcPts val="0"/>
                        </a:spcAft>
                        <a:buClr>
                          <a:schemeClr val="accent1">
                            <a:lumMod val="75000"/>
                          </a:schemeClr>
                        </a:buClr>
                        <a:buSzPct val="80000"/>
                        <a:buFont typeface="Wingdings" panose="05000000000000000000" pitchFamily="2" charset="2"/>
                        <a:buChar char="n"/>
                        <a:tabLst/>
                        <a:defRPr/>
                      </a:pPr>
                      <a:r>
                        <a:rPr kumimoji="0" lang="zh-CN" altLang="en-US" sz="1400" b="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rPr>
                        <a:t>签署和出具鉴证报告</a:t>
                      </a:r>
                      <a:endParaRPr kumimoji="0" lang="en-US" altLang="zh-CN" sz="1400" b="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endParaRPr>
                    </a:p>
                    <a:p>
                      <a:pPr marL="285750" marR="0" lvl="0" indent="-285750" algn="l" defTabSz="914400" rtl="0" eaLnBrk="1" fontAlgn="auto" latinLnBrk="0" hangingPunct="1">
                        <a:lnSpc>
                          <a:spcPct val="100000"/>
                        </a:lnSpc>
                        <a:spcBef>
                          <a:spcPts val="0"/>
                        </a:spcBef>
                        <a:spcAft>
                          <a:spcPts val="0"/>
                        </a:spcAft>
                        <a:buClr>
                          <a:schemeClr val="accent1">
                            <a:lumMod val="75000"/>
                          </a:schemeClr>
                        </a:buClr>
                        <a:buSzPct val="80000"/>
                        <a:buFont typeface="Wingdings" panose="05000000000000000000" pitchFamily="2" charset="2"/>
                        <a:buChar char="n"/>
                        <a:tabLst/>
                        <a:defRPr/>
                      </a:pPr>
                      <a:r>
                        <a:rPr kumimoji="0" lang="zh-CN" altLang="en-US" sz="1400" b="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rPr>
                        <a:t>按年进行结项汇报</a:t>
                      </a:r>
                      <a:endParaRPr kumimoji="0" lang="en-US" altLang="zh-CN" sz="1400" b="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endParaRPr>
                    </a:p>
                  </a:txBody>
                  <a:tcPr marL="72000" marR="72000" marT="72000" marB="72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285750" marR="0" lvl="0" indent="-285750" algn="l" defTabSz="914400" rtl="0" eaLnBrk="1" fontAlgn="auto" latinLnBrk="0" hangingPunct="1">
                        <a:lnSpc>
                          <a:spcPct val="100000"/>
                        </a:lnSpc>
                        <a:spcBef>
                          <a:spcPts val="0"/>
                        </a:spcBef>
                        <a:spcAft>
                          <a:spcPts val="0"/>
                        </a:spcAft>
                        <a:buClr>
                          <a:schemeClr val="accent1">
                            <a:lumMod val="75000"/>
                          </a:schemeClr>
                        </a:buClr>
                        <a:buSzPct val="80000"/>
                        <a:buFont typeface="Wingdings" panose="05000000000000000000" pitchFamily="2" charset="2"/>
                        <a:buChar char="n"/>
                        <a:tabLst/>
                        <a:defRPr/>
                      </a:pPr>
                      <a:r>
                        <a:rPr kumimoji="0" lang="zh-CN" altLang="en-US" sz="1400" b="0" i="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rPr>
                        <a:t>确认鉴证范围和报告模式，拟定公司负责撰写部分，审阅报告</a:t>
                      </a:r>
                      <a:endParaRPr kumimoji="0" lang="en-US" altLang="zh-CN" sz="1400" b="0" i="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endParaRPr>
                    </a:p>
                    <a:p>
                      <a:pPr marL="285750" marR="0" lvl="0" indent="-285750" algn="l" defTabSz="914400" rtl="0" eaLnBrk="1" fontAlgn="auto" latinLnBrk="0" hangingPunct="1">
                        <a:lnSpc>
                          <a:spcPct val="100000"/>
                        </a:lnSpc>
                        <a:spcBef>
                          <a:spcPts val="0"/>
                        </a:spcBef>
                        <a:spcAft>
                          <a:spcPts val="0"/>
                        </a:spcAft>
                        <a:buClr>
                          <a:schemeClr val="accent1">
                            <a:lumMod val="75000"/>
                          </a:schemeClr>
                        </a:buClr>
                        <a:buSzPct val="80000"/>
                        <a:buFont typeface="Wingdings" panose="05000000000000000000" pitchFamily="2" charset="2"/>
                        <a:buChar char="n"/>
                        <a:tabLst/>
                        <a:defRPr/>
                      </a:pPr>
                      <a:r>
                        <a:rPr kumimoji="0" lang="zh-CN" altLang="en-US" sz="1400" b="0" i="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rPr>
                        <a:t>签署管理声明书</a:t>
                      </a:r>
                    </a:p>
                    <a:p>
                      <a:pPr marL="285750" marR="0" lvl="0" indent="-285750" algn="l" defTabSz="914400" rtl="0" eaLnBrk="1" fontAlgn="auto" latinLnBrk="0" hangingPunct="1">
                        <a:lnSpc>
                          <a:spcPct val="100000"/>
                        </a:lnSpc>
                        <a:spcBef>
                          <a:spcPts val="0"/>
                        </a:spcBef>
                        <a:spcAft>
                          <a:spcPts val="0"/>
                        </a:spcAft>
                        <a:buClr>
                          <a:schemeClr val="accent1">
                            <a:lumMod val="75000"/>
                          </a:schemeClr>
                        </a:buClr>
                        <a:buSzPct val="80000"/>
                        <a:buFont typeface="Wingdings" panose="05000000000000000000" pitchFamily="2" charset="2"/>
                        <a:buChar char="n"/>
                        <a:tabLst/>
                        <a:defRPr/>
                      </a:pPr>
                      <a:r>
                        <a:rPr kumimoji="0" lang="zh-CN" altLang="en-US" sz="1400" b="0" i="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rPr>
                        <a:t>相关负责人、分管领导参加，评估项目收益</a:t>
                      </a:r>
                      <a:endParaRPr kumimoji="0" lang="en-GB" sz="1400" b="0" i="0" u="none" strike="noStrike" kern="0" cap="none" spc="0" normalizeH="0" baseline="0" noProof="0" dirty="0">
                        <a:ln>
                          <a:noFill/>
                        </a:ln>
                        <a:solidFill>
                          <a:sysClr val="windowText" lastClr="000000"/>
                        </a:solidFill>
                        <a:effectLst/>
                        <a:uLnTx/>
                        <a:uFillTx/>
                        <a:latin typeface="Arial" panose="020B0604020202020204" pitchFamily="34" charset="0"/>
                        <a:ea typeface="楷体" panose="02010609060101010101" pitchFamily="49" charset="-122"/>
                        <a:cs typeface="+mn-cs"/>
                      </a:endParaRPr>
                    </a:p>
                  </a:txBody>
                  <a:tcPr marL="72000" marR="72000" marT="72000" marB="72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5610873"/>
                  </a:ext>
                </a:extLst>
              </a:tr>
            </a:tbl>
          </a:graphicData>
        </a:graphic>
      </p:graphicFrame>
      <p:sp>
        <p:nvSpPr>
          <p:cNvPr id="2" name="标题 1">
            <a:extLst>
              <a:ext uri="{FF2B5EF4-FFF2-40B4-BE49-F238E27FC236}">
                <a16:creationId xmlns:a16="http://schemas.microsoft.com/office/drawing/2014/main" id="{0A47CE5D-6F8A-1216-258D-D6AE9C34C81C}"/>
              </a:ext>
            </a:extLst>
          </p:cNvPr>
          <p:cNvSpPr>
            <a:spLocks noGrp="1"/>
          </p:cNvSpPr>
          <p:nvPr>
            <p:ph type="title"/>
          </p:nvPr>
        </p:nvSpPr>
        <p:spPr/>
        <p:txBody>
          <a:bodyPr/>
          <a:lstStyle/>
          <a:p>
            <a:r>
              <a:rPr lang="zh-CN" altLang="en-US" dirty="0"/>
              <a:t>估值内控鉴证</a:t>
            </a:r>
          </a:p>
        </p:txBody>
      </p:sp>
      <p:sp>
        <p:nvSpPr>
          <p:cNvPr id="4" name="灯片编号占位符 3">
            <a:extLst>
              <a:ext uri="{FF2B5EF4-FFF2-40B4-BE49-F238E27FC236}">
                <a16:creationId xmlns:a16="http://schemas.microsoft.com/office/drawing/2014/main" id="{6A1EB320-4668-B895-0FE1-31D51AA554D3}"/>
              </a:ext>
            </a:extLst>
          </p:cNvPr>
          <p:cNvSpPr>
            <a:spLocks noGrp="1"/>
          </p:cNvSpPr>
          <p:nvPr>
            <p:ph type="sldNum" sz="quarter" idx="10"/>
          </p:nvPr>
        </p:nvSpPr>
        <p:spPr/>
        <p:txBody>
          <a:bodyPr/>
          <a:lstStyle/>
          <a:p>
            <a:fld id="{7870704B-CE94-48CC-AF30-84932A1262A7}" type="slidenum">
              <a:rPr lang="en-GB" smtClean="0"/>
              <a:pPr/>
              <a:t>10</a:t>
            </a:fld>
            <a:endParaRPr lang="en-GB">
              <a:ea typeface="楷体" panose="02010609060101010101" pitchFamily="49" charset="-122"/>
            </a:endParaRPr>
          </a:p>
        </p:txBody>
      </p:sp>
      <p:sp>
        <p:nvSpPr>
          <p:cNvPr id="5" name="页脚占位符 4">
            <a:extLst>
              <a:ext uri="{FF2B5EF4-FFF2-40B4-BE49-F238E27FC236}">
                <a16:creationId xmlns:a16="http://schemas.microsoft.com/office/drawing/2014/main" id="{519BAC5E-4FD6-FBAC-1FE3-8C08627856E5}"/>
              </a:ext>
            </a:extLst>
          </p:cNvPr>
          <p:cNvSpPr>
            <a:spLocks noGrp="1"/>
          </p:cNvSpPr>
          <p:nvPr>
            <p:ph type="ftr" sz="quarter" idx="13"/>
          </p:nvPr>
        </p:nvSpPr>
        <p:spPr/>
        <p:txBody>
          <a:bodyPr/>
          <a:lstStyle/>
          <a:p>
            <a:r>
              <a:rPr lang="en-US" altLang="zh-CN"/>
              <a:t>© </a:t>
            </a:r>
            <a:r>
              <a:rPr lang="zh-CN" altLang="en-US"/>
              <a:t>容诚会计师事务所（特殊普通合伙），</a:t>
            </a:r>
            <a:r>
              <a:rPr lang="en-US" altLang="zh-CN"/>
              <a:t>2026</a:t>
            </a:r>
            <a:endParaRPr lang="zh-CN" altLang="en-US">
              <a:ea typeface="楷体" panose="02010609060101010101" pitchFamily="49" charset="-122"/>
            </a:endParaRPr>
          </a:p>
        </p:txBody>
      </p:sp>
      <p:sp>
        <p:nvSpPr>
          <p:cNvPr id="6" name="内容占位符 5">
            <a:extLst>
              <a:ext uri="{FF2B5EF4-FFF2-40B4-BE49-F238E27FC236}">
                <a16:creationId xmlns:a16="http://schemas.microsoft.com/office/drawing/2014/main" id="{ACA94747-7770-F209-B51A-257B0D188F07}"/>
              </a:ext>
            </a:extLst>
          </p:cNvPr>
          <p:cNvSpPr>
            <a:spLocks noGrp="1"/>
          </p:cNvSpPr>
          <p:nvPr>
            <p:ph sz="quarter" idx="14"/>
          </p:nvPr>
        </p:nvSpPr>
        <p:spPr/>
        <p:txBody>
          <a:bodyPr/>
          <a:lstStyle/>
          <a:p>
            <a:r>
              <a:rPr lang="zh-CN" altLang="en-US" dirty="0"/>
              <a:t>常规工作</a:t>
            </a:r>
          </a:p>
        </p:txBody>
      </p:sp>
    </p:spTree>
    <p:extLst>
      <p:ext uri="{BB962C8B-B14F-4D97-AF65-F5344CB8AC3E}">
        <p14:creationId xmlns:p14="http://schemas.microsoft.com/office/powerpoint/2010/main" val="3500337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图片包含 笔记本, 电脑, 水, 男人&#10;&#10;描述已自动生成">
            <a:extLst>
              <a:ext uri="{FF2B5EF4-FFF2-40B4-BE49-F238E27FC236}">
                <a16:creationId xmlns:a16="http://schemas.microsoft.com/office/drawing/2014/main" id="{F804DDA2-2A55-3F09-0683-7E83D09D7895}"/>
              </a:ext>
            </a:extLst>
          </p:cNvPr>
          <p:cNvPicPr>
            <a:picLocks noChangeAspect="1"/>
          </p:cNvPicPr>
          <p:nvPr/>
        </p:nvPicPr>
        <p:blipFill>
          <a:blip r:embed="rId2" cstate="print">
            <a:alphaModFix amt="35000"/>
            <a:extLst>
              <a:ext uri="{28A0092B-C50C-407E-A947-70E740481C1C}">
                <a14:useLocalDpi xmlns:a14="http://schemas.microsoft.com/office/drawing/2010/main"/>
              </a:ext>
            </a:extLst>
          </a:blip>
          <a:srcRect l="2" t="23197" r="74207" b="13170"/>
          <a:stretch>
            <a:fillRect/>
          </a:stretch>
        </p:blipFill>
        <p:spPr>
          <a:xfrm>
            <a:off x="0" y="1628774"/>
            <a:ext cx="3179217" cy="5229225"/>
          </a:xfrm>
          <a:prstGeom prst="rect">
            <a:avLst/>
          </a:prstGeom>
        </p:spPr>
      </p:pic>
      <p:sp>
        <p:nvSpPr>
          <p:cNvPr id="14" name="矩形 13">
            <a:extLst>
              <a:ext uri="{FF2B5EF4-FFF2-40B4-BE49-F238E27FC236}">
                <a16:creationId xmlns:a16="http://schemas.microsoft.com/office/drawing/2014/main" id="{F3548DAB-74CB-9641-8246-8A50D83FE76D}"/>
              </a:ext>
            </a:extLst>
          </p:cNvPr>
          <p:cNvSpPr/>
          <p:nvPr/>
        </p:nvSpPr>
        <p:spPr>
          <a:xfrm>
            <a:off x="660400" y="1615555"/>
            <a:ext cx="2518817" cy="4334395"/>
          </a:xfrm>
          <a:prstGeom prst="rect">
            <a:avLst/>
          </a:prstGeom>
          <a:solidFill>
            <a:schemeClr val="bg1">
              <a:alpha val="80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2" name="标题 1">
            <a:extLst>
              <a:ext uri="{FF2B5EF4-FFF2-40B4-BE49-F238E27FC236}">
                <a16:creationId xmlns:a16="http://schemas.microsoft.com/office/drawing/2014/main" id="{A4417F42-5D3F-3DE7-0533-C7B126FCB396}"/>
              </a:ext>
            </a:extLst>
          </p:cNvPr>
          <p:cNvSpPr>
            <a:spLocks noGrp="1"/>
          </p:cNvSpPr>
          <p:nvPr>
            <p:ph type="title"/>
          </p:nvPr>
        </p:nvSpPr>
        <p:spPr/>
        <p:txBody>
          <a:bodyPr/>
          <a:lstStyle/>
          <a:p>
            <a:r>
              <a:rPr lang="zh-CN" altLang="en-US" dirty="0"/>
              <a:t>估值内控鉴证</a:t>
            </a:r>
          </a:p>
        </p:txBody>
      </p:sp>
      <p:sp>
        <p:nvSpPr>
          <p:cNvPr id="3" name="内容占位符 2">
            <a:extLst>
              <a:ext uri="{FF2B5EF4-FFF2-40B4-BE49-F238E27FC236}">
                <a16:creationId xmlns:a16="http://schemas.microsoft.com/office/drawing/2014/main" id="{A1B7AE7B-918A-75A5-44F7-5A0C377655FB}"/>
              </a:ext>
            </a:extLst>
          </p:cNvPr>
          <p:cNvSpPr>
            <a:spLocks noGrp="1"/>
          </p:cNvSpPr>
          <p:nvPr>
            <p:ph idx="1"/>
          </p:nvPr>
        </p:nvSpPr>
        <p:spPr>
          <a:xfrm>
            <a:off x="794588" y="1890079"/>
            <a:ext cx="2250440" cy="1742121"/>
          </a:xfrm>
        </p:spPr>
        <p:txBody>
          <a:bodyPr/>
          <a:lstStyle/>
          <a:p>
            <a:pPr marL="285750" indent="-285750">
              <a:buClr>
                <a:schemeClr val="accent1">
                  <a:lumMod val="75000"/>
                </a:schemeClr>
              </a:buClr>
              <a:buSzPct val="80000"/>
              <a:buFont typeface="Wingdings" panose="05000000000000000000" pitchFamily="2" charset="2"/>
              <a:buChar char="n"/>
            </a:pPr>
            <a:r>
              <a:rPr lang="zh-CN" altLang="en-US" sz="1400" dirty="0"/>
              <a:t>考虑到立项时间，建议：</a:t>
            </a:r>
          </a:p>
          <a:p>
            <a:pPr marL="561600" indent="-284400">
              <a:buSzPct val="100000"/>
              <a:buFont typeface="+mj-lt"/>
              <a:buAutoNum type="arabicPeriod"/>
            </a:pPr>
            <a:r>
              <a:rPr lang="zh-CN" altLang="en-US" sz="1400" dirty="0"/>
              <a:t>以</a:t>
            </a:r>
            <a:r>
              <a:rPr lang="en-US" altLang="zh-CN" sz="1400" dirty="0"/>
              <a:t>2026</a:t>
            </a:r>
            <a:r>
              <a:rPr lang="zh-CN" altLang="en-US" sz="1400" dirty="0"/>
              <a:t>年</a:t>
            </a:r>
            <a:r>
              <a:rPr lang="en-US" altLang="zh-CN" sz="1400" dirty="0"/>
              <a:t>9</a:t>
            </a:r>
            <a:r>
              <a:rPr lang="zh-CN" altLang="en-US" sz="1400" dirty="0"/>
              <a:t>月</a:t>
            </a:r>
            <a:r>
              <a:rPr lang="en-US" altLang="zh-CN" sz="1400" dirty="0"/>
              <a:t>30</a:t>
            </a:r>
            <a:r>
              <a:rPr lang="zh-CN" altLang="en-US" sz="1400" dirty="0"/>
              <a:t>日作首次时点测试</a:t>
            </a:r>
          </a:p>
          <a:p>
            <a:pPr marL="561600" indent="-284400">
              <a:buSzPct val="100000"/>
              <a:buFont typeface="+mj-lt"/>
              <a:buAutoNum type="arabicPeriod"/>
            </a:pPr>
            <a:r>
              <a:rPr lang="zh-CN" altLang="en-US" sz="1400" dirty="0"/>
              <a:t>完成</a:t>
            </a:r>
            <a:r>
              <a:rPr lang="en-US" altLang="zh-CN" sz="1400" dirty="0"/>
              <a:t>2026</a:t>
            </a:r>
            <a:r>
              <a:rPr lang="zh-CN" altLang="en-US" sz="1400" dirty="0"/>
              <a:t>年</a:t>
            </a:r>
            <a:r>
              <a:rPr lang="en-US" altLang="zh-CN" sz="1400" dirty="0"/>
              <a:t>9</a:t>
            </a:r>
            <a:r>
              <a:rPr lang="zh-CN" altLang="en-US" sz="1400" dirty="0"/>
              <a:t>月</a:t>
            </a:r>
            <a:r>
              <a:rPr lang="en-US" altLang="zh-CN" sz="1400" dirty="0"/>
              <a:t>30</a:t>
            </a:r>
            <a:r>
              <a:rPr lang="zh-CN" altLang="en-US" sz="1400" dirty="0"/>
              <a:t>日至</a:t>
            </a:r>
            <a:r>
              <a:rPr lang="en-US" altLang="zh-CN" sz="1400" dirty="0"/>
              <a:t>2026</a:t>
            </a:r>
            <a:r>
              <a:rPr lang="zh-CN" altLang="en-US" sz="1400" dirty="0"/>
              <a:t>年</a:t>
            </a:r>
            <a:r>
              <a:rPr lang="en-US" altLang="zh-CN" sz="1400" dirty="0"/>
              <a:t>12</a:t>
            </a:r>
            <a:r>
              <a:rPr lang="zh-CN" altLang="en-US" sz="1400" dirty="0"/>
              <a:t>月</a:t>
            </a:r>
            <a:r>
              <a:rPr lang="en-US" altLang="zh-CN" sz="1400" dirty="0"/>
              <a:t>31</a:t>
            </a:r>
            <a:r>
              <a:rPr lang="zh-CN" altLang="en-US" sz="1400" dirty="0"/>
              <a:t>日的首次区间测试</a:t>
            </a:r>
          </a:p>
        </p:txBody>
      </p:sp>
      <p:sp>
        <p:nvSpPr>
          <p:cNvPr id="4" name="灯片编号占位符 3">
            <a:extLst>
              <a:ext uri="{FF2B5EF4-FFF2-40B4-BE49-F238E27FC236}">
                <a16:creationId xmlns:a16="http://schemas.microsoft.com/office/drawing/2014/main" id="{F7592828-844D-C690-4161-033227321A1E}"/>
              </a:ext>
            </a:extLst>
          </p:cNvPr>
          <p:cNvSpPr>
            <a:spLocks noGrp="1"/>
          </p:cNvSpPr>
          <p:nvPr>
            <p:ph type="sldNum" sz="quarter" idx="10"/>
          </p:nvPr>
        </p:nvSpPr>
        <p:spPr/>
        <p:txBody>
          <a:bodyPr/>
          <a:lstStyle/>
          <a:p>
            <a:fld id="{7870704B-CE94-48CC-AF30-84932A1262A7}" type="slidenum">
              <a:rPr lang="en-GB" smtClean="0"/>
              <a:pPr/>
              <a:t>11</a:t>
            </a:fld>
            <a:endParaRPr lang="en-GB">
              <a:ea typeface="楷体" panose="02010609060101010101" pitchFamily="49" charset="-122"/>
            </a:endParaRPr>
          </a:p>
        </p:txBody>
      </p:sp>
      <p:sp>
        <p:nvSpPr>
          <p:cNvPr id="5" name="页脚占位符 4">
            <a:extLst>
              <a:ext uri="{FF2B5EF4-FFF2-40B4-BE49-F238E27FC236}">
                <a16:creationId xmlns:a16="http://schemas.microsoft.com/office/drawing/2014/main" id="{0297C586-40B4-0EC2-A23F-D964F8B49C51}"/>
              </a:ext>
            </a:extLst>
          </p:cNvPr>
          <p:cNvSpPr>
            <a:spLocks noGrp="1"/>
          </p:cNvSpPr>
          <p:nvPr>
            <p:ph type="ftr" sz="quarter" idx="13"/>
          </p:nvPr>
        </p:nvSpPr>
        <p:spPr/>
        <p:txBody>
          <a:bodyPr/>
          <a:lstStyle/>
          <a:p>
            <a:r>
              <a:rPr lang="en-US" altLang="zh-CN"/>
              <a:t>© </a:t>
            </a:r>
            <a:r>
              <a:rPr lang="zh-CN" altLang="en-US"/>
              <a:t>容诚会计师事务所（特殊普通合伙），</a:t>
            </a:r>
            <a:r>
              <a:rPr lang="en-US" altLang="zh-CN"/>
              <a:t>2026</a:t>
            </a:r>
            <a:endParaRPr lang="zh-CN" altLang="en-US">
              <a:ea typeface="楷体" panose="02010609060101010101" pitchFamily="49" charset="-122"/>
            </a:endParaRPr>
          </a:p>
        </p:txBody>
      </p:sp>
      <p:sp>
        <p:nvSpPr>
          <p:cNvPr id="6" name="内容占位符 5">
            <a:extLst>
              <a:ext uri="{FF2B5EF4-FFF2-40B4-BE49-F238E27FC236}">
                <a16:creationId xmlns:a16="http://schemas.microsoft.com/office/drawing/2014/main" id="{5F3284B2-1797-591E-7CD9-9DE248ADB409}"/>
              </a:ext>
            </a:extLst>
          </p:cNvPr>
          <p:cNvSpPr>
            <a:spLocks noGrp="1"/>
          </p:cNvSpPr>
          <p:nvPr>
            <p:ph sz="quarter" idx="14"/>
          </p:nvPr>
        </p:nvSpPr>
        <p:spPr/>
        <p:txBody>
          <a:bodyPr/>
          <a:lstStyle/>
          <a:p>
            <a:r>
              <a:rPr lang="zh-CN" altLang="en-US" dirty="0"/>
              <a:t>时间样表</a:t>
            </a:r>
          </a:p>
        </p:txBody>
      </p:sp>
      <p:sp>
        <p:nvSpPr>
          <p:cNvPr id="7" name="内容占位符 2">
            <a:extLst>
              <a:ext uri="{FF2B5EF4-FFF2-40B4-BE49-F238E27FC236}">
                <a16:creationId xmlns:a16="http://schemas.microsoft.com/office/drawing/2014/main" id="{3E31CE80-72D9-5EEF-B04F-5AF0FA0F8AC5}"/>
              </a:ext>
            </a:extLst>
          </p:cNvPr>
          <p:cNvSpPr txBox="1">
            <a:spLocks/>
          </p:cNvSpPr>
          <p:nvPr/>
        </p:nvSpPr>
        <p:spPr>
          <a:xfrm>
            <a:off x="3327400" y="1890079"/>
            <a:ext cx="8191500" cy="596901"/>
          </a:xfrm>
          <a:prstGeom prst="rect">
            <a:avLst/>
          </a:prstGeom>
        </p:spPr>
        <p:txBody>
          <a:bodyPr vert="horz" lIns="0" tIns="0" rIns="0" bIns="0" spcCol="180000" rtlCol="0">
            <a:noAutofit/>
          </a:bodyPr>
          <a:lstStyle>
            <a:lvl1pPr marL="0" indent="0" algn="just" defTabSz="914400" rtl="0" eaLnBrk="1" latinLnBrk="0" hangingPunct="1">
              <a:lnSpc>
                <a:spcPct val="120000"/>
              </a:lnSpc>
              <a:spcBef>
                <a:spcPts val="0"/>
              </a:spcBef>
              <a:spcAft>
                <a:spcPts val="600"/>
              </a:spcAft>
              <a:buFont typeface="Arial" panose="020B0604020202020204" pitchFamily="34" charset="0"/>
              <a:buChar char="​"/>
              <a:defRPr sz="1200" b="0" kern="1200" baseline="0">
                <a:solidFill>
                  <a:srgbClr val="333333"/>
                </a:solidFill>
                <a:latin typeface="Arial" panose="020B0604020202020204" pitchFamily="34" charset="0"/>
                <a:ea typeface="楷体" panose="02010609060101010101" pitchFamily="49" charset="-122"/>
                <a:cs typeface="+mn-cs"/>
              </a:defRPr>
            </a:lvl1pPr>
            <a:lvl2pPr marL="180000" indent="0" algn="just" defTabSz="914400" rtl="0" eaLnBrk="1" latinLnBrk="0" hangingPunct="1">
              <a:lnSpc>
                <a:spcPct val="120000"/>
              </a:lnSpc>
              <a:spcBef>
                <a:spcPts val="0"/>
              </a:spcBef>
              <a:spcAft>
                <a:spcPts val="600"/>
              </a:spcAft>
              <a:buClr>
                <a:schemeClr val="tx1"/>
              </a:buClr>
              <a:buFont typeface="Wingdings" panose="05000000000000000000" pitchFamily="2" charset="2"/>
              <a:buChar char="§"/>
              <a:defRPr sz="1200" b="0" kern="1200" baseline="0">
                <a:solidFill>
                  <a:srgbClr val="333333"/>
                </a:solidFill>
                <a:latin typeface="Arial" panose="020B0604020202020204" pitchFamily="34" charset="0"/>
                <a:ea typeface="黑体" panose="02010609060101010101" pitchFamily="49" charset="-122"/>
                <a:cs typeface="+mn-cs"/>
              </a:defRPr>
            </a:lvl2pPr>
            <a:lvl3pPr marL="360000" indent="0" algn="just" defTabSz="914400" rtl="0" eaLnBrk="1" latinLnBrk="0" hangingPunct="1">
              <a:lnSpc>
                <a:spcPct val="120000"/>
              </a:lnSpc>
              <a:spcBef>
                <a:spcPts val="0"/>
              </a:spcBef>
              <a:spcAft>
                <a:spcPts val="600"/>
              </a:spcAft>
              <a:buFont typeface="Arial" panose="020B0604020202020204" pitchFamily="34" charset="0"/>
              <a:buChar char="–"/>
              <a:defRPr sz="1200" b="0" kern="1200" baseline="0">
                <a:solidFill>
                  <a:srgbClr val="333333"/>
                </a:solidFill>
                <a:latin typeface="Arial" panose="020B0604020202020204" pitchFamily="34" charset="0"/>
                <a:ea typeface="黑体" panose="02010609060101010101" pitchFamily="49" charset="-122"/>
                <a:cs typeface="+mn-cs"/>
              </a:defRPr>
            </a:lvl3pPr>
            <a:lvl4pPr marL="540000" indent="0" algn="just" defTabSz="914400" rtl="0" eaLnBrk="1" latinLnBrk="0" hangingPunct="1">
              <a:lnSpc>
                <a:spcPct val="120000"/>
              </a:lnSpc>
              <a:spcBef>
                <a:spcPts val="0"/>
              </a:spcBef>
              <a:spcAft>
                <a:spcPts val="600"/>
              </a:spcAft>
              <a:buFont typeface="Arial" panose="020B0604020202020204" pitchFamily="34" charset="0"/>
              <a:buChar char="–"/>
              <a:defRPr sz="1200" b="0" kern="1200" baseline="0">
                <a:solidFill>
                  <a:srgbClr val="333333"/>
                </a:solidFill>
                <a:latin typeface="Arial" panose="020B0604020202020204" pitchFamily="34" charset="0"/>
                <a:ea typeface="黑体" panose="02010609060101010101" pitchFamily="49" charset="-122"/>
                <a:cs typeface="+mn-cs"/>
              </a:defRPr>
            </a:lvl4pPr>
            <a:lvl5pPr marL="720000" indent="0" algn="just" defTabSz="914400" rtl="0" eaLnBrk="1" latinLnBrk="0" hangingPunct="1">
              <a:lnSpc>
                <a:spcPct val="120000"/>
              </a:lnSpc>
              <a:spcBef>
                <a:spcPts val="0"/>
              </a:spcBef>
              <a:spcAft>
                <a:spcPts val="600"/>
              </a:spcAft>
              <a:buFont typeface="Arial" panose="020B0604020202020204" pitchFamily="34" charset="0"/>
              <a:buChar char="–"/>
              <a:defRPr sz="1200" b="0" kern="1200" baseline="0">
                <a:solidFill>
                  <a:srgbClr val="333333"/>
                </a:solidFill>
                <a:latin typeface="Arial" panose="020B0604020202020204" pitchFamily="34" charset="0"/>
                <a:ea typeface="黑体" panose="02010609060101010101" pitchFamily="49" charset="-122"/>
                <a:cs typeface="+mn-cs"/>
              </a:defRPr>
            </a:lvl5pPr>
            <a:lvl6pPr marL="0" indent="0" algn="just" defTabSz="914400" rtl="0" eaLnBrk="1" latinLnBrk="0" hangingPunct="1">
              <a:lnSpc>
                <a:spcPct val="120000"/>
              </a:lnSpc>
              <a:spcBef>
                <a:spcPts val="0"/>
              </a:spcBef>
              <a:spcAft>
                <a:spcPts val="600"/>
              </a:spcAft>
              <a:buFontTx/>
              <a:buNone/>
              <a:defRPr sz="1200" b="0" kern="1200" baseline="0">
                <a:solidFill>
                  <a:srgbClr val="333333"/>
                </a:solidFill>
                <a:latin typeface="Arial" panose="020B0604020202020204" pitchFamily="34" charset="0"/>
                <a:ea typeface="黑体" panose="02010609060101010101" pitchFamily="49" charset="-122"/>
                <a:cs typeface="+mn-cs"/>
              </a:defRPr>
            </a:lvl6pPr>
            <a:lvl7pPr marL="0" indent="0" algn="just" defTabSz="914400" rtl="0" eaLnBrk="1" latinLnBrk="0" hangingPunct="1">
              <a:lnSpc>
                <a:spcPct val="120000"/>
              </a:lnSpc>
              <a:spcBef>
                <a:spcPts val="0"/>
              </a:spcBef>
              <a:spcAft>
                <a:spcPts val="600"/>
              </a:spcAft>
              <a:buFontTx/>
              <a:buNone/>
              <a:defRPr sz="1200" b="0" kern="1200" baseline="0">
                <a:solidFill>
                  <a:srgbClr val="333333"/>
                </a:solidFill>
                <a:latin typeface="Arial" panose="020B0604020202020204" pitchFamily="34" charset="0"/>
                <a:ea typeface="黑体" panose="02010609060101010101" pitchFamily="49" charset="-122"/>
                <a:cs typeface="+mn-cs"/>
              </a:defRPr>
            </a:lvl7pPr>
            <a:lvl8pPr marL="0" indent="0" algn="just" defTabSz="914400" rtl="0" eaLnBrk="1" latinLnBrk="0" hangingPunct="1">
              <a:lnSpc>
                <a:spcPct val="120000"/>
              </a:lnSpc>
              <a:spcBef>
                <a:spcPts val="0"/>
              </a:spcBef>
              <a:spcAft>
                <a:spcPts val="600"/>
              </a:spcAft>
              <a:buFontTx/>
              <a:buNone/>
              <a:defRPr sz="1200" b="0" kern="1200" baseline="0">
                <a:solidFill>
                  <a:srgbClr val="333333"/>
                </a:solidFill>
                <a:latin typeface="Arial" panose="020B0604020202020204" pitchFamily="34" charset="0"/>
                <a:ea typeface="黑体" panose="02010609060101010101" pitchFamily="49" charset="-122"/>
                <a:cs typeface="+mn-cs"/>
              </a:defRPr>
            </a:lvl8pPr>
            <a:lvl9pPr marL="0" indent="0" algn="just" defTabSz="914400" rtl="0" eaLnBrk="1" latinLnBrk="0" hangingPunct="1">
              <a:lnSpc>
                <a:spcPct val="120000"/>
              </a:lnSpc>
              <a:spcBef>
                <a:spcPts val="0"/>
              </a:spcBef>
              <a:spcAft>
                <a:spcPts val="600"/>
              </a:spcAft>
              <a:buFontTx/>
              <a:buNone/>
              <a:defRPr sz="1200" b="0" kern="1200" baseline="0">
                <a:solidFill>
                  <a:srgbClr val="333333"/>
                </a:solidFill>
                <a:latin typeface="Arial" panose="020B0604020202020204" pitchFamily="34" charset="0"/>
                <a:ea typeface="黑体" panose="02010609060101010101" pitchFamily="49" charset="-122"/>
                <a:cs typeface="+mn-cs"/>
              </a:defRPr>
            </a:lvl9pPr>
          </a:lstStyle>
          <a:p>
            <a:pPr marL="285750" indent="-285750">
              <a:buClr>
                <a:schemeClr val="accent1">
                  <a:lumMod val="75000"/>
                </a:schemeClr>
              </a:buClr>
              <a:buSzPct val="80000"/>
              <a:buFont typeface="Wingdings" panose="05000000000000000000" pitchFamily="2" charset="2"/>
              <a:buChar char="n"/>
            </a:pPr>
            <a:r>
              <a:rPr lang="zh-CN" altLang="en-US" sz="1400" dirty="0"/>
              <a:t>时点测试时间样表：</a:t>
            </a:r>
          </a:p>
          <a:p>
            <a:pPr marL="285750" indent="-285750">
              <a:buClr>
                <a:schemeClr val="accent1">
                  <a:lumMod val="75000"/>
                </a:schemeClr>
              </a:buClr>
              <a:buSzPct val="80000"/>
              <a:buFont typeface="Wingdings" panose="05000000000000000000" pitchFamily="2" charset="2"/>
              <a:buChar char="n"/>
            </a:pPr>
            <a:endParaRPr lang="zh-CN" altLang="en-US" sz="1400" dirty="0"/>
          </a:p>
        </p:txBody>
      </p:sp>
      <p:graphicFrame>
        <p:nvGraphicFramePr>
          <p:cNvPr id="8" name="Table 24">
            <a:extLst>
              <a:ext uri="{FF2B5EF4-FFF2-40B4-BE49-F238E27FC236}">
                <a16:creationId xmlns:a16="http://schemas.microsoft.com/office/drawing/2014/main" id="{F305CC27-947B-BAAE-BBE6-7053C4FE29A1}"/>
              </a:ext>
            </a:extLst>
          </p:cNvPr>
          <p:cNvGraphicFramePr>
            <a:graphicFrameLocks noGrp="1"/>
          </p:cNvGraphicFramePr>
          <p:nvPr>
            <p:extLst>
              <p:ext uri="{D42A27DB-BD31-4B8C-83A1-F6EECF244321}">
                <p14:modId xmlns:p14="http://schemas.microsoft.com/office/powerpoint/2010/main" val="2121976417"/>
              </p:ext>
            </p:extLst>
          </p:nvPr>
        </p:nvGraphicFramePr>
        <p:xfrm>
          <a:off x="3327401" y="2359550"/>
          <a:ext cx="8191505" cy="3590400"/>
        </p:xfrm>
        <a:graphic>
          <a:graphicData uri="http://schemas.openxmlformats.org/drawingml/2006/table">
            <a:tbl>
              <a:tblPr firstRow="1" bandRow="1"/>
              <a:tblGrid>
                <a:gridCol w="917129">
                  <a:extLst>
                    <a:ext uri="{9D8B030D-6E8A-4147-A177-3AD203B41FA5}">
                      <a16:colId xmlns:a16="http://schemas.microsoft.com/office/drawing/2014/main" val="1112670957"/>
                    </a:ext>
                  </a:extLst>
                </a:gridCol>
                <a:gridCol w="2202984">
                  <a:extLst>
                    <a:ext uri="{9D8B030D-6E8A-4147-A177-3AD203B41FA5}">
                      <a16:colId xmlns:a16="http://schemas.microsoft.com/office/drawing/2014/main" val="1373614278"/>
                    </a:ext>
                  </a:extLst>
                </a:gridCol>
                <a:gridCol w="316962">
                  <a:extLst>
                    <a:ext uri="{9D8B030D-6E8A-4147-A177-3AD203B41FA5}">
                      <a16:colId xmlns:a16="http://schemas.microsoft.com/office/drawing/2014/main" val="2675204380"/>
                    </a:ext>
                  </a:extLst>
                </a:gridCol>
                <a:gridCol w="316962">
                  <a:extLst>
                    <a:ext uri="{9D8B030D-6E8A-4147-A177-3AD203B41FA5}">
                      <a16:colId xmlns:a16="http://schemas.microsoft.com/office/drawing/2014/main" val="3745964209"/>
                    </a:ext>
                  </a:extLst>
                </a:gridCol>
                <a:gridCol w="316962">
                  <a:extLst>
                    <a:ext uri="{9D8B030D-6E8A-4147-A177-3AD203B41FA5}">
                      <a16:colId xmlns:a16="http://schemas.microsoft.com/office/drawing/2014/main" val="1580650602"/>
                    </a:ext>
                  </a:extLst>
                </a:gridCol>
                <a:gridCol w="316962">
                  <a:extLst>
                    <a:ext uri="{9D8B030D-6E8A-4147-A177-3AD203B41FA5}">
                      <a16:colId xmlns:a16="http://schemas.microsoft.com/office/drawing/2014/main" val="1874886672"/>
                    </a:ext>
                  </a:extLst>
                </a:gridCol>
                <a:gridCol w="316962">
                  <a:extLst>
                    <a:ext uri="{9D8B030D-6E8A-4147-A177-3AD203B41FA5}">
                      <a16:colId xmlns:a16="http://schemas.microsoft.com/office/drawing/2014/main" val="3927006669"/>
                    </a:ext>
                  </a:extLst>
                </a:gridCol>
                <a:gridCol w="316962">
                  <a:extLst>
                    <a:ext uri="{9D8B030D-6E8A-4147-A177-3AD203B41FA5}">
                      <a16:colId xmlns:a16="http://schemas.microsoft.com/office/drawing/2014/main" val="3273399029"/>
                    </a:ext>
                  </a:extLst>
                </a:gridCol>
                <a:gridCol w="316962">
                  <a:extLst>
                    <a:ext uri="{9D8B030D-6E8A-4147-A177-3AD203B41FA5}">
                      <a16:colId xmlns:a16="http://schemas.microsoft.com/office/drawing/2014/main" val="931393761"/>
                    </a:ext>
                  </a:extLst>
                </a:gridCol>
                <a:gridCol w="316962">
                  <a:extLst>
                    <a:ext uri="{9D8B030D-6E8A-4147-A177-3AD203B41FA5}">
                      <a16:colId xmlns:a16="http://schemas.microsoft.com/office/drawing/2014/main" val="3809439866"/>
                    </a:ext>
                  </a:extLst>
                </a:gridCol>
                <a:gridCol w="316962">
                  <a:extLst>
                    <a:ext uri="{9D8B030D-6E8A-4147-A177-3AD203B41FA5}">
                      <a16:colId xmlns:a16="http://schemas.microsoft.com/office/drawing/2014/main" val="576076405"/>
                    </a:ext>
                  </a:extLst>
                </a:gridCol>
                <a:gridCol w="316962">
                  <a:extLst>
                    <a:ext uri="{9D8B030D-6E8A-4147-A177-3AD203B41FA5}">
                      <a16:colId xmlns:a16="http://schemas.microsoft.com/office/drawing/2014/main" val="1630358398"/>
                    </a:ext>
                  </a:extLst>
                </a:gridCol>
                <a:gridCol w="316962">
                  <a:extLst>
                    <a:ext uri="{9D8B030D-6E8A-4147-A177-3AD203B41FA5}">
                      <a16:colId xmlns:a16="http://schemas.microsoft.com/office/drawing/2014/main" val="3548047802"/>
                    </a:ext>
                  </a:extLst>
                </a:gridCol>
                <a:gridCol w="316962">
                  <a:extLst>
                    <a:ext uri="{9D8B030D-6E8A-4147-A177-3AD203B41FA5}">
                      <a16:colId xmlns:a16="http://schemas.microsoft.com/office/drawing/2014/main" val="2875848028"/>
                    </a:ext>
                  </a:extLst>
                </a:gridCol>
                <a:gridCol w="316962">
                  <a:extLst>
                    <a:ext uri="{9D8B030D-6E8A-4147-A177-3AD203B41FA5}">
                      <a16:colId xmlns:a16="http://schemas.microsoft.com/office/drawing/2014/main" val="741557187"/>
                    </a:ext>
                  </a:extLst>
                </a:gridCol>
                <a:gridCol w="316962">
                  <a:extLst>
                    <a:ext uri="{9D8B030D-6E8A-4147-A177-3AD203B41FA5}">
                      <a16:colId xmlns:a16="http://schemas.microsoft.com/office/drawing/2014/main" val="3736343625"/>
                    </a:ext>
                  </a:extLst>
                </a:gridCol>
                <a:gridCol w="316962">
                  <a:extLst>
                    <a:ext uri="{9D8B030D-6E8A-4147-A177-3AD203B41FA5}">
                      <a16:colId xmlns:a16="http://schemas.microsoft.com/office/drawing/2014/main" val="1763315646"/>
                    </a:ext>
                  </a:extLst>
                </a:gridCol>
                <a:gridCol w="316962">
                  <a:extLst>
                    <a:ext uri="{9D8B030D-6E8A-4147-A177-3AD203B41FA5}">
                      <a16:colId xmlns:a16="http://schemas.microsoft.com/office/drawing/2014/main" val="2262348558"/>
                    </a:ext>
                  </a:extLst>
                </a:gridCol>
              </a:tblGrid>
              <a:tr h="0">
                <a:tc>
                  <a:txBody>
                    <a:bodyPr/>
                    <a:lstStyle/>
                    <a:p>
                      <a:pPr algn="ctr"/>
                      <a:r>
                        <a:rPr lang="zh-CN" altLang="en-US" sz="1000" b="1" baseline="0" dirty="0">
                          <a:solidFill>
                            <a:schemeClr val="bg1"/>
                          </a:solidFill>
                          <a:latin typeface="Arial" panose="020B0604020202020204" pitchFamily="34" charset="0"/>
                          <a:ea typeface="楷体" panose="02010609060101010101" pitchFamily="49" charset="-122"/>
                        </a:rPr>
                        <a:t>工作阶段</a:t>
                      </a:r>
                      <a:endParaRPr lang="en-US" sz="1000" b="1" baseline="0" dirty="0">
                        <a:solidFill>
                          <a:schemeClr val="bg1"/>
                        </a:solidFill>
                        <a:latin typeface="Arial" panose="020B0604020202020204" pitchFamily="34" charset="0"/>
                        <a:ea typeface="楷体" panose="02010609060101010101" pitchFamily="49" charset="-122"/>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lvl1pPr marL="0" algn="l" defTabSz="914400" rtl="0" eaLnBrk="1" latinLnBrk="0" hangingPunct="1">
                        <a:defRPr sz="1600" b="1" kern="1200">
                          <a:solidFill>
                            <a:schemeClr val="lt1"/>
                          </a:solidFill>
                          <a:latin typeface="Arial"/>
                          <a:ea typeface="SimHei"/>
                        </a:defRPr>
                      </a:lvl1pPr>
                      <a:lvl2pPr marL="457200" algn="l" defTabSz="914400" rtl="0" eaLnBrk="1" latinLnBrk="0" hangingPunct="1">
                        <a:defRPr sz="1600" b="1" kern="1200">
                          <a:solidFill>
                            <a:schemeClr val="lt1"/>
                          </a:solidFill>
                          <a:latin typeface="Arial"/>
                          <a:ea typeface="SimHei"/>
                        </a:defRPr>
                      </a:lvl2pPr>
                      <a:lvl3pPr marL="914400" algn="l" defTabSz="914400" rtl="0" eaLnBrk="1" latinLnBrk="0" hangingPunct="1">
                        <a:defRPr sz="1600" b="1" kern="1200">
                          <a:solidFill>
                            <a:schemeClr val="lt1"/>
                          </a:solidFill>
                          <a:latin typeface="Arial"/>
                          <a:ea typeface="SimHei"/>
                        </a:defRPr>
                      </a:lvl3pPr>
                      <a:lvl4pPr marL="1371600" algn="l" defTabSz="914400" rtl="0" eaLnBrk="1" latinLnBrk="0" hangingPunct="1">
                        <a:defRPr sz="1600" b="1" kern="1200">
                          <a:solidFill>
                            <a:schemeClr val="lt1"/>
                          </a:solidFill>
                          <a:latin typeface="Arial"/>
                          <a:ea typeface="SimHei"/>
                        </a:defRPr>
                      </a:lvl4pPr>
                      <a:lvl5pPr marL="1828800" algn="l" defTabSz="914400" rtl="0" eaLnBrk="1" latinLnBrk="0" hangingPunct="1">
                        <a:defRPr sz="1600" b="1" kern="1200">
                          <a:solidFill>
                            <a:schemeClr val="lt1"/>
                          </a:solidFill>
                          <a:latin typeface="Arial"/>
                          <a:ea typeface="SimHei"/>
                        </a:defRPr>
                      </a:lvl5pPr>
                      <a:lvl6pPr marL="2286000" algn="l" defTabSz="914400" rtl="0" eaLnBrk="1" latinLnBrk="0" hangingPunct="1">
                        <a:defRPr sz="1600" b="1" kern="1200">
                          <a:solidFill>
                            <a:schemeClr val="lt1"/>
                          </a:solidFill>
                          <a:latin typeface="Arial"/>
                          <a:ea typeface="SimHei"/>
                        </a:defRPr>
                      </a:lvl6pPr>
                      <a:lvl7pPr marL="2743200" algn="l" defTabSz="914400" rtl="0" eaLnBrk="1" latinLnBrk="0" hangingPunct="1">
                        <a:defRPr sz="1600" b="1" kern="1200">
                          <a:solidFill>
                            <a:schemeClr val="lt1"/>
                          </a:solidFill>
                          <a:latin typeface="Arial"/>
                          <a:ea typeface="SimHei"/>
                        </a:defRPr>
                      </a:lvl7pPr>
                      <a:lvl8pPr marL="3200400" algn="l" defTabSz="914400" rtl="0" eaLnBrk="1" latinLnBrk="0" hangingPunct="1">
                        <a:defRPr sz="1600" b="1" kern="1200">
                          <a:solidFill>
                            <a:schemeClr val="lt1"/>
                          </a:solidFill>
                          <a:latin typeface="Arial"/>
                          <a:ea typeface="SimHei"/>
                        </a:defRPr>
                      </a:lvl8pPr>
                      <a:lvl9pPr marL="3657600" algn="l" defTabSz="914400" rtl="0" eaLnBrk="1" latinLnBrk="0" hangingPunct="1">
                        <a:defRPr sz="1600" b="1" kern="1200">
                          <a:solidFill>
                            <a:schemeClr val="lt1"/>
                          </a:solidFill>
                          <a:latin typeface="Arial"/>
                          <a:ea typeface="SimHei"/>
                        </a:defRPr>
                      </a:lvl9pPr>
                    </a:lstStyle>
                    <a:p>
                      <a:pPr algn="ctr"/>
                      <a:r>
                        <a:rPr lang="zh-CN" altLang="en-US" sz="1000" b="1" kern="1200" baseline="0" dirty="0">
                          <a:solidFill>
                            <a:schemeClr val="bg1"/>
                          </a:solidFill>
                          <a:latin typeface="Arial" panose="020B0604020202020204" pitchFamily="34" charset="0"/>
                          <a:ea typeface="楷体" panose="02010609060101010101" pitchFamily="49" charset="-122"/>
                          <a:cs typeface="+mn-cs"/>
                        </a:rPr>
                        <a:t>工作内容</a:t>
                      </a:r>
                      <a:endParaRPr lang="en-US" sz="1000" b="1" kern="1200" baseline="0" dirty="0">
                        <a:solidFill>
                          <a:schemeClr val="bg1"/>
                        </a:solidFill>
                        <a:latin typeface="Arial" panose="020B0604020202020204" pitchFamily="34" charset="0"/>
                        <a:ea typeface="楷体" panose="02010609060101010101" pitchFamily="49" charset="-122"/>
                        <a:cs typeface="+mn-cs"/>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gridSpan="4">
                  <a:txBody>
                    <a:bodyPr/>
                    <a:lstStyle>
                      <a:lvl1pPr marL="0" algn="l" defTabSz="914400" rtl="0" eaLnBrk="1" latinLnBrk="0" hangingPunct="1">
                        <a:defRPr sz="1600" b="1" kern="1200">
                          <a:solidFill>
                            <a:schemeClr val="lt1"/>
                          </a:solidFill>
                          <a:latin typeface="Arial"/>
                          <a:ea typeface="SimHei"/>
                        </a:defRPr>
                      </a:lvl1pPr>
                      <a:lvl2pPr marL="457200" algn="l" defTabSz="914400" rtl="0" eaLnBrk="1" latinLnBrk="0" hangingPunct="1">
                        <a:defRPr sz="1600" b="1" kern="1200">
                          <a:solidFill>
                            <a:schemeClr val="lt1"/>
                          </a:solidFill>
                          <a:latin typeface="Arial"/>
                          <a:ea typeface="SimHei"/>
                        </a:defRPr>
                      </a:lvl2pPr>
                      <a:lvl3pPr marL="914400" algn="l" defTabSz="914400" rtl="0" eaLnBrk="1" latinLnBrk="0" hangingPunct="1">
                        <a:defRPr sz="1600" b="1" kern="1200">
                          <a:solidFill>
                            <a:schemeClr val="lt1"/>
                          </a:solidFill>
                          <a:latin typeface="Arial"/>
                          <a:ea typeface="SimHei"/>
                        </a:defRPr>
                      </a:lvl3pPr>
                      <a:lvl4pPr marL="1371600" algn="l" defTabSz="914400" rtl="0" eaLnBrk="1" latinLnBrk="0" hangingPunct="1">
                        <a:defRPr sz="1600" b="1" kern="1200">
                          <a:solidFill>
                            <a:schemeClr val="lt1"/>
                          </a:solidFill>
                          <a:latin typeface="Arial"/>
                          <a:ea typeface="SimHei"/>
                        </a:defRPr>
                      </a:lvl4pPr>
                      <a:lvl5pPr marL="1828800" algn="l" defTabSz="914400" rtl="0" eaLnBrk="1" latinLnBrk="0" hangingPunct="1">
                        <a:defRPr sz="1600" b="1" kern="1200">
                          <a:solidFill>
                            <a:schemeClr val="lt1"/>
                          </a:solidFill>
                          <a:latin typeface="Arial"/>
                          <a:ea typeface="SimHei"/>
                        </a:defRPr>
                      </a:lvl5pPr>
                      <a:lvl6pPr marL="2286000" algn="l" defTabSz="914400" rtl="0" eaLnBrk="1" latinLnBrk="0" hangingPunct="1">
                        <a:defRPr sz="1600" b="1" kern="1200">
                          <a:solidFill>
                            <a:schemeClr val="lt1"/>
                          </a:solidFill>
                          <a:latin typeface="Arial"/>
                          <a:ea typeface="SimHei"/>
                        </a:defRPr>
                      </a:lvl6pPr>
                      <a:lvl7pPr marL="2743200" algn="l" defTabSz="914400" rtl="0" eaLnBrk="1" latinLnBrk="0" hangingPunct="1">
                        <a:defRPr sz="1600" b="1" kern="1200">
                          <a:solidFill>
                            <a:schemeClr val="lt1"/>
                          </a:solidFill>
                          <a:latin typeface="Arial"/>
                          <a:ea typeface="SimHei"/>
                        </a:defRPr>
                      </a:lvl7pPr>
                      <a:lvl8pPr marL="3200400" algn="l" defTabSz="914400" rtl="0" eaLnBrk="1" latinLnBrk="0" hangingPunct="1">
                        <a:defRPr sz="1600" b="1" kern="1200">
                          <a:solidFill>
                            <a:schemeClr val="lt1"/>
                          </a:solidFill>
                          <a:latin typeface="Arial"/>
                          <a:ea typeface="SimHei"/>
                        </a:defRPr>
                      </a:lvl8pPr>
                      <a:lvl9pPr marL="3657600" algn="l" defTabSz="914400" rtl="0" eaLnBrk="1" latinLnBrk="0" hangingPunct="1">
                        <a:defRPr sz="1600" b="1" kern="1200">
                          <a:solidFill>
                            <a:schemeClr val="lt1"/>
                          </a:solidFill>
                          <a:latin typeface="Arial"/>
                          <a:ea typeface="SimHei"/>
                        </a:defRPr>
                      </a:lvl9pPr>
                    </a:lstStyle>
                    <a:p>
                      <a:pPr algn="ctr"/>
                      <a:r>
                        <a:rPr lang="en-US" altLang="zh-CN" sz="1000" b="1" baseline="0" dirty="0">
                          <a:solidFill>
                            <a:schemeClr val="bg1"/>
                          </a:solidFill>
                          <a:latin typeface="Arial" panose="020B0604020202020204" pitchFamily="34" charset="0"/>
                          <a:ea typeface="楷体" panose="02010609060101010101" pitchFamily="49" charset="-122"/>
                        </a:rPr>
                        <a:t>T+1</a:t>
                      </a:r>
                      <a:r>
                        <a:rPr lang="zh-CN" altLang="en-US" sz="1000" b="1" baseline="0" dirty="0">
                          <a:solidFill>
                            <a:schemeClr val="bg1"/>
                          </a:solidFill>
                          <a:latin typeface="Arial" panose="020B0604020202020204" pitchFamily="34" charset="0"/>
                          <a:ea typeface="楷体" panose="02010609060101010101" pitchFamily="49" charset="-122"/>
                        </a:rPr>
                        <a:t>月</a:t>
                      </a:r>
                      <a:endParaRPr lang="en-US" sz="1000" b="1" baseline="0" dirty="0">
                        <a:solidFill>
                          <a:schemeClr val="bg1"/>
                        </a:solidFill>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76200" cap="flat" cmpd="sng" algn="ctr">
                      <a:solidFill>
                        <a:srgbClr val="FFFFFF"/>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pPr algn="ctr"/>
                      <a:r>
                        <a:rPr lang="en-US" sz="1300" b="1">
                          <a:solidFill>
                            <a:schemeClr val="bg1"/>
                          </a:solidFill>
                          <a:latin typeface="+mj-lt"/>
                          <a:ea typeface="宋体" panose="02010600030101010101" pitchFamily="2" charset="-122"/>
                        </a:rPr>
                        <a:t>2</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hMerge="1">
                  <a:txBody>
                    <a:bodyPr/>
                    <a:lstStyle/>
                    <a:p>
                      <a:pPr algn="ctr"/>
                      <a:r>
                        <a:rPr lang="en-US" sz="1300" b="1">
                          <a:solidFill>
                            <a:schemeClr val="bg1"/>
                          </a:solidFill>
                          <a:latin typeface="+mj-lt"/>
                          <a:ea typeface="宋体" panose="02010600030101010101" pitchFamily="2" charset="-122"/>
                        </a:rPr>
                        <a:t>3</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hMerge="1">
                  <a:txBody>
                    <a:bodyPr/>
                    <a:lstStyle/>
                    <a:p>
                      <a:pPr algn="ctr"/>
                      <a:r>
                        <a:rPr lang="en-US" sz="1300" b="1">
                          <a:solidFill>
                            <a:schemeClr val="bg1"/>
                          </a:solidFill>
                          <a:latin typeface="+mj-lt"/>
                          <a:ea typeface="宋体" panose="02010600030101010101" pitchFamily="2" charset="-122"/>
                        </a:rPr>
                        <a:t>4</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gridSpan="4">
                  <a:txBody>
                    <a:bodyPr/>
                    <a:lstStyle>
                      <a:lvl1pPr marL="0" algn="l" defTabSz="914400" rtl="0" eaLnBrk="1" latinLnBrk="0" hangingPunct="1">
                        <a:defRPr sz="1600" b="1" kern="1200">
                          <a:solidFill>
                            <a:schemeClr val="lt1"/>
                          </a:solidFill>
                          <a:latin typeface="Arial"/>
                          <a:ea typeface="SimHei"/>
                        </a:defRPr>
                      </a:lvl1pPr>
                      <a:lvl2pPr marL="457200" algn="l" defTabSz="914400" rtl="0" eaLnBrk="1" latinLnBrk="0" hangingPunct="1">
                        <a:defRPr sz="1600" b="1" kern="1200">
                          <a:solidFill>
                            <a:schemeClr val="lt1"/>
                          </a:solidFill>
                          <a:latin typeface="Arial"/>
                          <a:ea typeface="SimHei"/>
                        </a:defRPr>
                      </a:lvl2pPr>
                      <a:lvl3pPr marL="914400" algn="l" defTabSz="914400" rtl="0" eaLnBrk="1" latinLnBrk="0" hangingPunct="1">
                        <a:defRPr sz="1600" b="1" kern="1200">
                          <a:solidFill>
                            <a:schemeClr val="lt1"/>
                          </a:solidFill>
                          <a:latin typeface="Arial"/>
                          <a:ea typeface="SimHei"/>
                        </a:defRPr>
                      </a:lvl3pPr>
                      <a:lvl4pPr marL="1371600" algn="l" defTabSz="914400" rtl="0" eaLnBrk="1" latinLnBrk="0" hangingPunct="1">
                        <a:defRPr sz="1600" b="1" kern="1200">
                          <a:solidFill>
                            <a:schemeClr val="lt1"/>
                          </a:solidFill>
                          <a:latin typeface="Arial"/>
                          <a:ea typeface="SimHei"/>
                        </a:defRPr>
                      </a:lvl4pPr>
                      <a:lvl5pPr marL="1828800" algn="l" defTabSz="914400" rtl="0" eaLnBrk="1" latinLnBrk="0" hangingPunct="1">
                        <a:defRPr sz="1600" b="1" kern="1200">
                          <a:solidFill>
                            <a:schemeClr val="lt1"/>
                          </a:solidFill>
                          <a:latin typeface="Arial"/>
                          <a:ea typeface="SimHei"/>
                        </a:defRPr>
                      </a:lvl5pPr>
                      <a:lvl6pPr marL="2286000" algn="l" defTabSz="914400" rtl="0" eaLnBrk="1" latinLnBrk="0" hangingPunct="1">
                        <a:defRPr sz="1600" b="1" kern="1200">
                          <a:solidFill>
                            <a:schemeClr val="lt1"/>
                          </a:solidFill>
                          <a:latin typeface="Arial"/>
                          <a:ea typeface="SimHei"/>
                        </a:defRPr>
                      </a:lvl6pPr>
                      <a:lvl7pPr marL="2743200" algn="l" defTabSz="914400" rtl="0" eaLnBrk="1" latinLnBrk="0" hangingPunct="1">
                        <a:defRPr sz="1600" b="1" kern="1200">
                          <a:solidFill>
                            <a:schemeClr val="lt1"/>
                          </a:solidFill>
                          <a:latin typeface="Arial"/>
                          <a:ea typeface="SimHei"/>
                        </a:defRPr>
                      </a:lvl7pPr>
                      <a:lvl8pPr marL="3200400" algn="l" defTabSz="914400" rtl="0" eaLnBrk="1" latinLnBrk="0" hangingPunct="1">
                        <a:defRPr sz="1600" b="1" kern="1200">
                          <a:solidFill>
                            <a:schemeClr val="lt1"/>
                          </a:solidFill>
                          <a:latin typeface="Arial"/>
                          <a:ea typeface="SimHei"/>
                        </a:defRPr>
                      </a:lvl8pPr>
                      <a:lvl9pPr marL="3657600" algn="l" defTabSz="914400" rtl="0" eaLnBrk="1" latinLnBrk="0" hangingPunct="1">
                        <a:defRPr sz="1600" b="1" kern="1200">
                          <a:solidFill>
                            <a:schemeClr val="lt1"/>
                          </a:solidFill>
                          <a:latin typeface="Arial"/>
                          <a:ea typeface="SimHei"/>
                        </a:defRPr>
                      </a:lvl9pPr>
                    </a:lstStyle>
                    <a:p>
                      <a:pPr algn="ctr"/>
                      <a:r>
                        <a:rPr lang="en-US" altLang="zh-CN" sz="1000" b="1" kern="1200" baseline="0" dirty="0">
                          <a:solidFill>
                            <a:schemeClr val="bg1"/>
                          </a:solidFill>
                          <a:latin typeface="Arial" panose="020B0604020202020204" pitchFamily="34" charset="0"/>
                          <a:ea typeface="楷体" panose="02010609060101010101" pitchFamily="49" charset="-122"/>
                          <a:cs typeface="+mn-cs"/>
                        </a:rPr>
                        <a:t>T+2</a:t>
                      </a:r>
                      <a:r>
                        <a:rPr lang="zh-CN" altLang="en-US" sz="1000" b="1" kern="1200" baseline="0" dirty="0">
                          <a:solidFill>
                            <a:schemeClr val="bg1"/>
                          </a:solidFill>
                          <a:latin typeface="Arial" panose="020B0604020202020204" pitchFamily="34" charset="0"/>
                          <a:ea typeface="楷体" panose="02010609060101010101" pitchFamily="49" charset="-122"/>
                          <a:cs typeface="+mn-cs"/>
                        </a:rPr>
                        <a:t>月</a:t>
                      </a:r>
                      <a:endParaRPr lang="en-US" sz="1000" b="1" kern="1200" baseline="0" dirty="0">
                        <a:solidFill>
                          <a:schemeClr val="bg1"/>
                        </a:solidFill>
                        <a:latin typeface="Arial" panose="020B0604020202020204" pitchFamily="34" charset="0"/>
                        <a:ea typeface="楷体" panose="02010609060101010101" pitchFamily="49" charset="-122"/>
                        <a:cs typeface="+mn-cs"/>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76200" cap="flat" cmpd="sng" algn="ctr">
                      <a:solidFill>
                        <a:srgbClr val="FFFFFF"/>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pPr algn="ctr"/>
                      <a:r>
                        <a:rPr lang="en-US" sz="1300" b="1">
                          <a:solidFill>
                            <a:schemeClr val="bg1"/>
                          </a:solidFill>
                          <a:latin typeface="+mj-lt"/>
                          <a:ea typeface="宋体" panose="02010600030101010101" pitchFamily="2" charset="-122"/>
                        </a:rPr>
                        <a:t>6</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hMerge="1">
                  <a:txBody>
                    <a:bodyPr/>
                    <a:lstStyle/>
                    <a:p>
                      <a:pPr algn="ctr"/>
                      <a:r>
                        <a:rPr lang="en-US" sz="1300" b="1">
                          <a:solidFill>
                            <a:schemeClr val="bg1"/>
                          </a:solidFill>
                          <a:latin typeface="+mj-lt"/>
                          <a:ea typeface="宋体" panose="02010600030101010101" pitchFamily="2" charset="-122"/>
                        </a:rPr>
                        <a:t>7</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hMerge="1">
                  <a:txBody>
                    <a:bodyPr/>
                    <a:lstStyle/>
                    <a:p>
                      <a:pPr marL="0" algn="ctr" defTabSz="914400" rtl="0" eaLnBrk="1" latinLnBrk="0" hangingPunct="1"/>
                      <a:r>
                        <a:rPr lang="en-US" sz="1300" b="1" kern="1200">
                          <a:solidFill>
                            <a:schemeClr val="bg1"/>
                          </a:solidFill>
                          <a:latin typeface="+mj-lt"/>
                          <a:ea typeface="宋体" panose="02010600030101010101" pitchFamily="2" charset="-122"/>
                          <a:cs typeface="+mn-cs"/>
                        </a:rPr>
                        <a:t>8</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gridSpan="4">
                  <a:txBody>
                    <a:bodyPr/>
                    <a:lstStyle/>
                    <a:p>
                      <a:pPr algn="ctr"/>
                      <a:r>
                        <a:rPr lang="en-US" altLang="zh-CN" sz="1000" b="1" baseline="0" dirty="0">
                          <a:solidFill>
                            <a:schemeClr val="bg1"/>
                          </a:solidFill>
                          <a:latin typeface="Arial" panose="020B0604020202020204" pitchFamily="34" charset="0"/>
                          <a:ea typeface="楷体" panose="02010609060101010101" pitchFamily="49" charset="-122"/>
                        </a:rPr>
                        <a:t>T+3</a:t>
                      </a:r>
                      <a:r>
                        <a:rPr lang="zh-CN" altLang="en-US" sz="1000" b="1" baseline="0" dirty="0">
                          <a:solidFill>
                            <a:schemeClr val="bg1"/>
                          </a:solidFill>
                          <a:latin typeface="Arial" panose="020B0604020202020204" pitchFamily="34" charset="0"/>
                          <a:ea typeface="楷体" panose="02010609060101010101" pitchFamily="49" charset="-122"/>
                        </a:rPr>
                        <a:t>月</a:t>
                      </a:r>
                      <a:endParaRPr lang="en-US" sz="1000" b="1" baseline="0" dirty="0">
                        <a:solidFill>
                          <a:schemeClr val="bg1"/>
                        </a:solidFill>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76200" cap="flat" cmpd="sng" algn="ctr">
                      <a:solidFill>
                        <a:srgbClr val="FFFFFF"/>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pPr algn="ctr"/>
                      <a:r>
                        <a:rPr lang="en-US" sz="1300" b="1">
                          <a:solidFill>
                            <a:schemeClr val="bg1"/>
                          </a:solidFill>
                          <a:latin typeface="+mj-lt"/>
                          <a:ea typeface="宋体" panose="02010600030101010101" pitchFamily="2" charset="-122"/>
                        </a:rPr>
                        <a:t>10</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hMerge="1">
                  <a:txBody>
                    <a:bodyPr/>
                    <a:lstStyle/>
                    <a:p>
                      <a:pPr algn="ctr"/>
                      <a:r>
                        <a:rPr lang="en-US" sz="1300" b="1">
                          <a:solidFill>
                            <a:schemeClr val="bg1"/>
                          </a:solidFill>
                          <a:latin typeface="+mj-lt"/>
                          <a:ea typeface="宋体" panose="02010600030101010101" pitchFamily="2" charset="-122"/>
                        </a:rPr>
                        <a:t>11</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hMerge="1">
                  <a:txBody>
                    <a:bodyPr/>
                    <a:lstStyle/>
                    <a:p>
                      <a:pPr algn="ctr"/>
                      <a:r>
                        <a:rPr lang="en-US" sz="1300" b="1">
                          <a:solidFill>
                            <a:schemeClr val="bg1"/>
                          </a:solidFill>
                          <a:latin typeface="+mj-lt"/>
                          <a:ea typeface="宋体" panose="02010600030101010101" pitchFamily="2" charset="-122"/>
                        </a:rPr>
                        <a:t>12</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gridSpan="4">
                  <a:txBody>
                    <a:bodyPr/>
                    <a:lstStyle/>
                    <a:p>
                      <a:pPr algn="ctr"/>
                      <a:r>
                        <a:rPr lang="en-US" altLang="zh-CN" sz="1000" b="1" baseline="0" dirty="0">
                          <a:solidFill>
                            <a:schemeClr val="bg1"/>
                          </a:solidFill>
                          <a:latin typeface="Arial" panose="020B0604020202020204" pitchFamily="34" charset="0"/>
                          <a:ea typeface="楷体" panose="02010609060101010101" pitchFamily="49" charset="-122"/>
                        </a:rPr>
                        <a:t>T+4</a:t>
                      </a:r>
                      <a:r>
                        <a:rPr lang="zh-CN" altLang="en-US" sz="1000" b="1" baseline="0" dirty="0">
                          <a:solidFill>
                            <a:schemeClr val="bg1"/>
                          </a:solidFill>
                          <a:latin typeface="Arial" panose="020B0604020202020204" pitchFamily="34" charset="0"/>
                          <a:ea typeface="楷体" panose="02010609060101010101" pitchFamily="49" charset="-122"/>
                        </a:rPr>
                        <a:t>月</a:t>
                      </a:r>
                      <a:endParaRPr lang="en-US" sz="1000" b="1" baseline="0" dirty="0">
                        <a:solidFill>
                          <a:schemeClr val="bg1"/>
                        </a:solidFill>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76200" cap="flat" cmpd="sng" algn="ctr">
                      <a:solidFill>
                        <a:srgbClr val="FFFFFF"/>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pPr algn="ctr"/>
                      <a:r>
                        <a:rPr lang="en-US" sz="1300" b="1">
                          <a:solidFill>
                            <a:schemeClr val="bg1"/>
                          </a:solidFill>
                          <a:latin typeface="+mj-lt"/>
                          <a:ea typeface="宋体" panose="02010600030101010101" pitchFamily="2" charset="-122"/>
                        </a:rPr>
                        <a:t>14</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hMerge="1">
                  <a:txBody>
                    <a:bodyPr/>
                    <a:lstStyle/>
                    <a:p>
                      <a:pPr algn="ctr"/>
                      <a:endParaRPr lang="en-US" sz="1300" b="1">
                        <a:solidFill>
                          <a:schemeClr val="bg1"/>
                        </a:solidFill>
                        <a:latin typeface="+mj-lt"/>
                        <a:ea typeface="宋体" panose="02010600030101010101" pitchFamily="2" charset="-122"/>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tc hMerge="1">
                  <a:txBody>
                    <a:bodyPr/>
                    <a:lstStyle/>
                    <a:p>
                      <a:pPr algn="ctr"/>
                      <a:endParaRPr lang="en-US" sz="1300" b="1">
                        <a:solidFill>
                          <a:schemeClr val="bg1"/>
                        </a:solidFill>
                        <a:latin typeface="+mj-lt"/>
                        <a:ea typeface="宋体" panose="02010600030101010101" pitchFamily="2" charset="-122"/>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E9C34"/>
                    </a:solidFill>
                  </a:tcPr>
                </a:tc>
                <a:extLst>
                  <a:ext uri="{0D108BD9-81ED-4DB2-BD59-A6C34878D82A}">
                    <a16:rowId xmlns:a16="http://schemas.microsoft.com/office/drawing/2014/main" val="1598644993"/>
                  </a:ext>
                </a:extLst>
              </a:tr>
              <a:tr h="0">
                <a:tc>
                  <a:txBody>
                    <a:bodyPr/>
                    <a:lstStyle/>
                    <a:p>
                      <a:pPr marL="0" indent="0" algn="ctr" defTabSz="914400" rtl="0" eaLnBrk="1" latinLnBrk="0" hangingPunct="1">
                        <a:buFont typeface="+mj-lt"/>
                        <a:buNone/>
                      </a:pPr>
                      <a:r>
                        <a:rPr lang="zh-CN" altLang="en-US" sz="1000" b="1" kern="1200" baseline="0" dirty="0">
                          <a:solidFill>
                            <a:srgbClr val="333333"/>
                          </a:solidFill>
                          <a:latin typeface="Arial" panose="020B0604020202020204" pitchFamily="34" charset="0"/>
                          <a:ea typeface="楷体" panose="02010609060101010101" pitchFamily="49" charset="-122"/>
                          <a:cs typeface="+mn-cs"/>
                        </a:rPr>
                        <a:t>项目准备</a:t>
                      </a:r>
                      <a:endParaRPr lang="en-US" altLang="zh-CN" sz="1000" b="1" kern="1200" baseline="0" dirty="0">
                        <a:solidFill>
                          <a:srgbClr val="333333"/>
                        </a:solidFill>
                        <a:latin typeface="Arial" panose="020B0604020202020204" pitchFamily="34" charset="0"/>
                        <a:ea typeface="楷体" panose="02010609060101010101" pitchFamily="49" charset="-122"/>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r>
                        <a:rPr lang="zh-CN" altLang="en-US" sz="1000" b="1" kern="1200" baseline="0" dirty="0">
                          <a:solidFill>
                            <a:srgbClr val="333333"/>
                          </a:solidFill>
                          <a:latin typeface="Arial" panose="020B0604020202020204" pitchFamily="34" charset="0"/>
                          <a:ea typeface="楷体" panose="02010609060101010101" pitchFamily="49" charset="-122"/>
                          <a:cs typeface="+mn-cs"/>
                        </a:rPr>
                        <a:t>一、项目启动与计划</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0" hangingPunct="1"/>
                      <a:endParaRPr lang="en-US" sz="1000" b="1" kern="1200" baseline="0">
                        <a:solidFill>
                          <a:schemeClr val="tx1"/>
                        </a:solidFill>
                        <a:latin typeface="Arial" panose="020B0604020202020204" pitchFamily="34" charset="0"/>
                        <a:ea typeface="楷体" panose="02010609060101010101" pitchFamily="49" charset="-122"/>
                        <a:cs typeface="+mn-cs"/>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467285074"/>
                  </a:ext>
                </a:extLst>
              </a:tr>
              <a:tr h="0">
                <a:tc>
                  <a:txBody>
                    <a:bodyPr/>
                    <a:lstStyle/>
                    <a:p>
                      <a:pPr marL="0" indent="0" algn="ctr" defTabSz="914400" rtl="0" eaLnBrk="1" latinLnBrk="0" hangingPunct="1">
                        <a:buFont typeface="+mj-lt"/>
                        <a:buNone/>
                      </a:pPr>
                      <a:endParaRPr lang="en-US" altLang="zh-CN" sz="1000" b="1" kern="1200" baseline="0" dirty="0">
                        <a:solidFill>
                          <a:srgbClr val="333333"/>
                        </a:solidFill>
                        <a:latin typeface="Arial" panose="020B0604020202020204" pitchFamily="34" charset="0"/>
                        <a:ea typeface="楷体" panose="02010609060101010101" pitchFamily="49" charset="-122"/>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zh-CN" altLang="en-US" sz="1000" b="0" i="0" u="none" strike="noStrike" baseline="0" dirty="0">
                          <a:solidFill>
                            <a:srgbClr val="333333"/>
                          </a:solidFill>
                          <a:effectLst/>
                          <a:latin typeface="Arial" panose="020B0604020202020204" pitchFamily="34" charset="0"/>
                          <a:ea typeface="楷体" panose="02010609060101010101" pitchFamily="49" charset="-122"/>
                        </a:rPr>
                        <a:t>项目启动会议</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endParaRPr lang="en-US" sz="1000" b="1" kern="1200" baseline="0">
                        <a:solidFill>
                          <a:schemeClr val="tx1"/>
                        </a:solidFill>
                        <a:latin typeface="Arial" panose="020B0604020202020204" pitchFamily="34" charset="0"/>
                        <a:ea typeface="楷体" panose="02010609060101010101" pitchFamily="49" charset="-122"/>
                        <a:cs typeface="+mn-cs"/>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26616673"/>
                  </a:ext>
                </a:extLst>
              </a:tr>
              <a:tr h="0">
                <a:tc>
                  <a:txBody>
                    <a:bodyPr/>
                    <a:lstStyle/>
                    <a:p>
                      <a:pPr marL="0" indent="0" algn="ctr" defTabSz="914400" rtl="0" eaLnBrk="1" latinLnBrk="0" hangingPunct="1">
                        <a:buFont typeface="+mj-lt"/>
                        <a:buNone/>
                      </a:pPr>
                      <a:r>
                        <a:rPr lang="zh-CN" altLang="en-US" sz="1000" b="1" kern="1200" baseline="0" dirty="0">
                          <a:solidFill>
                            <a:srgbClr val="333333"/>
                          </a:solidFill>
                          <a:latin typeface="Arial" panose="020B0604020202020204" pitchFamily="34" charset="0"/>
                          <a:ea typeface="楷体" panose="02010609060101010101" pitchFamily="49" charset="-122"/>
                          <a:cs typeface="+mn-cs"/>
                        </a:rPr>
                        <a:t>差距分析</a:t>
                      </a:r>
                      <a:endParaRPr lang="en-US" altLang="zh-CN" sz="1000" b="1" kern="1200" baseline="0" dirty="0">
                        <a:solidFill>
                          <a:srgbClr val="333333"/>
                        </a:solidFill>
                        <a:latin typeface="Arial" panose="020B0604020202020204" pitchFamily="34" charset="0"/>
                        <a:ea typeface="楷体" panose="02010609060101010101" pitchFamily="49" charset="-122"/>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l" defTabSz="914400" rtl="0" eaLnBrk="1" fontAlgn="ctr" latinLnBrk="0" hangingPunct="1"/>
                      <a:r>
                        <a:rPr lang="zh-CN" altLang="en-US" sz="1000" b="1" kern="1200" baseline="0" dirty="0">
                          <a:solidFill>
                            <a:srgbClr val="333333"/>
                          </a:solidFill>
                          <a:latin typeface="Arial" panose="020B0604020202020204" pitchFamily="34" charset="0"/>
                          <a:ea typeface="楷体" panose="02010609060101010101" pitchFamily="49" charset="-122"/>
                          <a:cs typeface="+mn-cs"/>
                        </a:rPr>
                        <a:t>二、差异诊断与分析</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0" hangingPunct="1"/>
                      <a:endParaRPr lang="en-US" sz="1000" b="1" kern="1200" baseline="0">
                        <a:solidFill>
                          <a:schemeClr val="tx1"/>
                        </a:solidFill>
                        <a:latin typeface="Arial" panose="020B0604020202020204" pitchFamily="34" charset="0"/>
                        <a:ea typeface="楷体" panose="02010609060101010101" pitchFamily="49" charset="-122"/>
                        <a:cs typeface="+mn-cs"/>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8520802"/>
                  </a:ext>
                </a:extLst>
              </a:tr>
              <a:tr h="0">
                <a:tc rowSpan="4">
                  <a:txBody>
                    <a:bodyPr/>
                    <a:lstStyle/>
                    <a:p>
                      <a:pPr marL="0" indent="0" algn="ctr" defTabSz="914400" rtl="0" eaLnBrk="1" latinLnBrk="0" hangingPunct="1">
                        <a:buFont typeface="+mj-lt"/>
                        <a:buNone/>
                      </a:pPr>
                      <a:endParaRPr lang="zh-CN" altLang="en-US" sz="1000" b="0" kern="1200" baseline="0" dirty="0">
                        <a:solidFill>
                          <a:srgbClr val="333333"/>
                        </a:solidFill>
                        <a:latin typeface="Arial" panose="020B0604020202020204" pitchFamily="34" charset="0"/>
                        <a:ea typeface="楷体" panose="02010609060101010101" pitchFamily="49" charset="-122"/>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zh-CN" altLang="en-US" sz="1000" u="none" strike="noStrike" baseline="0" dirty="0">
                          <a:solidFill>
                            <a:srgbClr val="333333"/>
                          </a:solidFill>
                          <a:effectLst/>
                          <a:latin typeface="Arial" panose="020B0604020202020204" pitchFamily="34" charset="0"/>
                          <a:ea typeface="楷体" panose="02010609060101010101" pitchFamily="49" charset="-122"/>
                        </a:rPr>
                        <a:t>核心岗位访谈、制度审阅</a:t>
                      </a:r>
                      <a:endParaRPr lang="zh-CN" altLang="en-US" sz="1000" b="0" i="0" u="none" strike="noStrike" baseline="0" dirty="0">
                        <a:solidFill>
                          <a:srgbClr val="333333"/>
                        </a:solidFill>
                        <a:effectLst/>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endParaRPr lang="en-US" sz="1000" b="1" kern="1200" baseline="0">
                        <a:solidFill>
                          <a:schemeClr val="tx1"/>
                        </a:solidFill>
                        <a:latin typeface="Arial" panose="020B0604020202020204" pitchFamily="34" charset="0"/>
                        <a:ea typeface="楷体" panose="02010609060101010101" pitchFamily="49" charset="-122"/>
                        <a:cs typeface="+mn-cs"/>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6760075"/>
                  </a:ext>
                </a:extLst>
              </a:tr>
              <a:tr h="0">
                <a:tc vMerge="1">
                  <a:txBody>
                    <a:bodyPr/>
                    <a:lstStyle/>
                    <a:p>
                      <a:pPr marL="0" indent="0" algn="ctr" defTabSz="914400" rtl="0" eaLnBrk="1" latinLnBrk="0" hangingPunct="1">
                        <a:buFont typeface="+mj-lt"/>
                        <a:buNone/>
                      </a:pPr>
                      <a:endParaRPr lang="en-US" altLang="zh-CN" sz="1400" b="1" kern="1200">
                        <a:solidFill>
                          <a:schemeClr val="bg2">
                            <a:lumMod val="25000"/>
                          </a:schemeClr>
                        </a:solidFill>
                        <a:latin typeface="宋体" panose="02010600030101010101" pitchFamily="2" charset="-122"/>
                        <a:ea typeface="宋体" panose="02010600030101010101" pitchFamily="2" charset="-122"/>
                        <a:cs typeface="+mn-cs"/>
                      </a:endParaRPr>
                    </a:p>
                  </a:txBody>
                  <a:tcP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zh-CN" altLang="en-US" sz="1000" u="none" strike="noStrike" baseline="0" dirty="0">
                          <a:solidFill>
                            <a:srgbClr val="333333"/>
                          </a:solidFill>
                          <a:effectLst/>
                          <a:latin typeface="Arial" panose="020B0604020202020204" pitchFamily="34" charset="0"/>
                          <a:ea typeface="楷体" panose="02010609060101010101" pitchFamily="49" charset="-122"/>
                        </a:rPr>
                        <a:t>诊断测试</a:t>
                      </a:r>
                      <a:endParaRPr lang="zh-CN" altLang="en-US" sz="1000" b="0" i="0" u="none" strike="noStrike" baseline="0" dirty="0">
                        <a:solidFill>
                          <a:srgbClr val="333333"/>
                        </a:solidFill>
                        <a:effectLst/>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endParaRPr lang="en-US" sz="1000" b="1" kern="1200" baseline="0">
                        <a:solidFill>
                          <a:schemeClr val="tx1"/>
                        </a:solidFill>
                        <a:latin typeface="Arial" panose="020B0604020202020204" pitchFamily="34" charset="0"/>
                        <a:ea typeface="楷体" panose="02010609060101010101" pitchFamily="49" charset="-122"/>
                        <a:cs typeface="+mn-cs"/>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2429446"/>
                  </a:ext>
                </a:extLst>
              </a:tr>
              <a:tr h="0">
                <a:tc vMerge="1">
                  <a:txBody>
                    <a:bodyPr/>
                    <a:lstStyle/>
                    <a:p>
                      <a:pPr marL="0" indent="0" algn="l" defTabSz="914400" rtl="0" eaLnBrk="1" latinLnBrk="0" hangingPunct="1">
                        <a:buFont typeface="+mj-lt"/>
                        <a:buNone/>
                      </a:pPr>
                      <a:endParaRPr lang="en-US" altLang="zh-CN" sz="1400" b="1" kern="1200">
                        <a:solidFill>
                          <a:schemeClr val="bg2">
                            <a:lumMod val="25000"/>
                          </a:schemeClr>
                        </a:solidFill>
                        <a:latin typeface="宋体" panose="02010600030101010101" pitchFamily="2" charset="-122"/>
                        <a:ea typeface="宋体" panose="02010600030101010101" pitchFamily="2" charset="-122"/>
                        <a:cs typeface="+mn-cs"/>
                      </a:endParaRPr>
                    </a:p>
                  </a:txBody>
                  <a:tcP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zh-CN" altLang="en-US" sz="1000" u="none" strike="noStrike" baseline="0" dirty="0">
                          <a:solidFill>
                            <a:srgbClr val="333333"/>
                          </a:solidFill>
                          <a:effectLst/>
                          <a:latin typeface="Arial" panose="020B0604020202020204" pitchFamily="34" charset="0"/>
                          <a:ea typeface="楷体" panose="02010609060101010101" pitchFamily="49" charset="-122"/>
                        </a:rPr>
                        <a:t>问题发现与沟通</a:t>
                      </a:r>
                      <a:endParaRPr lang="zh-CN" altLang="en-US" sz="1000" b="0" i="0" u="none" strike="noStrike" baseline="0" dirty="0">
                        <a:solidFill>
                          <a:srgbClr val="333333"/>
                        </a:solidFill>
                        <a:effectLst/>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en-US" sz="1000" b="1" kern="1200" baseline="0">
                        <a:solidFill>
                          <a:schemeClr val="tx1"/>
                        </a:solidFill>
                        <a:latin typeface="Arial" panose="020B0604020202020204" pitchFamily="34" charset="0"/>
                        <a:ea typeface="楷体" panose="02010609060101010101" pitchFamily="49" charset="-122"/>
                        <a:cs typeface="+mn-cs"/>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519955"/>
                  </a:ext>
                </a:extLst>
              </a:tr>
              <a:tr h="0">
                <a:tc vMerge="1">
                  <a:txBody>
                    <a:bodyPr/>
                    <a:lstStyle/>
                    <a:p>
                      <a:pPr marL="0" indent="0" algn="ctr" defTabSz="914400" rtl="0" eaLnBrk="1" latinLnBrk="0" hangingPunct="1">
                        <a:buFont typeface="+mj-lt"/>
                        <a:buNone/>
                      </a:pPr>
                      <a:endParaRPr lang="en-US" altLang="zh-CN" sz="1400" b="1" kern="1200">
                        <a:solidFill>
                          <a:schemeClr val="bg2">
                            <a:lumMod val="25000"/>
                          </a:schemeClr>
                        </a:solidFill>
                        <a:latin typeface="宋体" panose="02010600030101010101" pitchFamily="2" charset="-122"/>
                        <a:ea typeface="宋体" panose="02010600030101010101" pitchFamily="2" charset="-122"/>
                        <a:cs typeface="+mn-cs"/>
                      </a:endParaRPr>
                    </a:p>
                  </a:txBody>
                  <a:tcP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zh-CN" altLang="en-US" sz="1000" b="0" i="0" u="none" strike="noStrike" baseline="0" dirty="0">
                          <a:solidFill>
                            <a:srgbClr val="333333"/>
                          </a:solidFill>
                          <a:effectLst/>
                          <a:latin typeface="Arial" panose="020B0604020202020204" pitchFamily="34" charset="0"/>
                          <a:ea typeface="楷体" panose="02010609060101010101" pitchFamily="49" charset="-122"/>
                        </a:rPr>
                        <a:t>差异诊断报告与整改建议</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en-US" sz="1000" b="1" kern="1200" baseline="0">
                        <a:solidFill>
                          <a:schemeClr val="tx1"/>
                        </a:solidFill>
                        <a:latin typeface="Arial" panose="020B0604020202020204" pitchFamily="34" charset="0"/>
                        <a:ea typeface="楷体" panose="02010609060101010101" pitchFamily="49" charset="-122"/>
                        <a:cs typeface="+mn-cs"/>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104576"/>
                  </a:ext>
                </a:extLst>
              </a:tr>
              <a:tr h="0">
                <a:tc>
                  <a:txBody>
                    <a:bodyPr/>
                    <a:lstStyle/>
                    <a:p>
                      <a:pPr marL="0" indent="0" algn="ctr" defTabSz="914400" rtl="0" eaLnBrk="1" latinLnBrk="0" hangingPunct="1">
                        <a:buFont typeface="+mj-lt"/>
                        <a:buNone/>
                      </a:pPr>
                      <a:r>
                        <a:rPr lang="zh-CN" altLang="en-US" sz="1000" b="1" kern="1200" baseline="0">
                          <a:solidFill>
                            <a:srgbClr val="333333"/>
                          </a:solidFill>
                          <a:latin typeface="Arial" panose="020B0604020202020204" pitchFamily="34" charset="0"/>
                          <a:ea typeface="楷体" panose="02010609060101010101" pitchFamily="49" charset="-122"/>
                          <a:cs typeface="+mn-cs"/>
                        </a:rPr>
                        <a:t>完善优化</a:t>
                      </a:r>
                      <a:endParaRPr lang="en-US" altLang="zh-CN" sz="1000" b="1" kern="1200" baseline="0">
                        <a:solidFill>
                          <a:srgbClr val="333333"/>
                        </a:solidFill>
                        <a:latin typeface="Arial" panose="020B0604020202020204" pitchFamily="34" charset="0"/>
                        <a:ea typeface="楷体" panose="02010609060101010101" pitchFamily="49" charset="-122"/>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r>
                        <a:rPr lang="zh-CN" altLang="en-US" sz="1000" b="1" kern="1200" baseline="0" dirty="0">
                          <a:solidFill>
                            <a:srgbClr val="333333"/>
                          </a:solidFill>
                          <a:latin typeface="Arial" panose="020B0604020202020204" pitchFamily="34" charset="0"/>
                          <a:ea typeface="楷体" panose="02010609060101010101" pitchFamily="49" charset="-122"/>
                          <a:cs typeface="+mn-cs"/>
                        </a:rPr>
                        <a:t>三、差异整改与测试</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0" hangingPunct="1"/>
                      <a:endParaRPr lang="en-US" sz="1000" b="1" kern="1200" baseline="0">
                        <a:solidFill>
                          <a:schemeClr val="tx1"/>
                        </a:solidFill>
                        <a:latin typeface="Arial" panose="020B0604020202020204" pitchFamily="34" charset="0"/>
                        <a:ea typeface="楷体" panose="02010609060101010101" pitchFamily="49" charset="-122"/>
                        <a:cs typeface="+mn-cs"/>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918335384"/>
                  </a:ext>
                </a:extLst>
              </a:tr>
              <a:tr h="0">
                <a:tc rowSpan="3">
                  <a:txBody>
                    <a:bodyPr/>
                    <a:lstStyle/>
                    <a:p>
                      <a:pPr marL="0" marR="0" lvl="0" indent="0" algn="ctr" defTabSz="914400" rtl="0" eaLnBrk="1" fontAlgn="auto" latinLnBrk="0" hangingPunct="1">
                        <a:lnSpc>
                          <a:spcPct val="100000"/>
                        </a:lnSpc>
                        <a:spcBef>
                          <a:spcPts val="0"/>
                        </a:spcBef>
                        <a:spcAft>
                          <a:spcPts val="0"/>
                        </a:spcAft>
                        <a:buClrTx/>
                        <a:buSzTx/>
                        <a:buFont typeface="+mj-lt"/>
                        <a:buNone/>
                        <a:tabLst/>
                        <a:defRPr/>
                      </a:pPr>
                      <a:endParaRPr lang="zh-CN" altLang="en-US" sz="1000" b="0" kern="1200" baseline="0">
                        <a:solidFill>
                          <a:srgbClr val="333333"/>
                        </a:solidFill>
                        <a:latin typeface="Arial" panose="020B0604020202020204" pitchFamily="34" charset="0"/>
                        <a:ea typeface="楷体" panose="02010609060101010101" pitchFamily="49" charset="-122"/>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333333"/>
                          </a:solidFill>
                          <a:effectLst/>
                          <a:uLnTx/>
                          <a:uFillTx/>
                          <a:latin typeface="Arial" panose="020B0604020202020204" pitchFamily="34" charset="0"/>
                          <a:ea typeface="楷体" panose="02010609060101010101" pitchFamily="49" charset="-122"/>
                          <a:cs typeface="+mn-cs"/>
                        </a:rPr>
                        <a:t>整改辅导</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ctr" defTabSz="914400" rtl="0" eaLnBrk="1" latinLnBrk="0" hangingPunct="1"/>
                      <a:endParaRPr lang="en-US" sz="1000" b="1" kern="1200" baseline="0" dirty="0">
                        <a:solidFill>
                          <a:schemeClr val="tx1"/>
                        </a:solidFill>
                        <a:latin typeface="Arial" panose="020B0604020202020204" pitchFamily="34" charset="0"/>
                        <a:ea typeface="楷体" panose="02010609060101010101" pitchFamily="49" charset="-122"/>
                        <a:cs typeface="+mn-cs"/>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5308328"/>
                  </a:ext>
                </a:extLst>
              </a:tr>
              <a:tr h="0">
                <a:tc vMerge="1">
                  <a:txBody>
                    <a:bodyPr/>
                    <a:lstStyle/>
                    <a:p>
                      <a:pPr marL="0" marR="0" lvl="0" indent="0" algn="ctr" defTabSz="914400" rtl="0" eaLnBrk="1" fontAlgn="auto" latinLnBrk="0" hangingPunct="1">
                        <a:lnSpc>
                          <a:spcPct val="100000"/>
                        </a:lnSpc>
                        <a:spcBef>
                          <a:spcPts val="0"/>
                        </a:spcBef>
                        <a:spcAft>
                          <a:spcPts val="0"/>
                        </a:spcAft>
                        <a:buClrTx/>
                        <a:buSzTx/>
                        <a:buFont typeface="+mj-lt"/>
                        <a:buNone/>
                        <a:tabLst/>
                        <a:defRPr/>
                      </a:pPr>
                      <a:endParaRPr lang="en-US" sz="1400" b="1" kern="1200">
                        <a:solidFill>
                          <a:schemeClr val="bg2">
                            <a:lumMod val="25000"/>
                          </a:schemeClr>
                        </a:solidFill>
                        <a:latin typeface="+mj-lt"/>
                        <a:ea typeface="宋体" panose="02010600030101010101" pitchFamily="2" charset="-122"/>
                        <a:cs typeface="+mn-cs"/>
                      </a:endParaRPr>
                    </a:p>
                  </a:txBody>
                  <a:tcP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333333"/>
                          </a:solidFill>
                          <a:effectLst/>
                          <a:uLnTx/>
                          <a:uFillTx/>
                          <a:latin typeface="Arial" panose="020B0604020202020204" pitchFamily="34" charset="0"/>
                          <a:ea typeface="楷体" panose="02010609060101010101" pitchFamily="49" charset="-122"/>
                          <a:cs typeface="+mn-cs"/>
                        </a:rPr>
                        <a:t>管理层落实整改   </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algn="ctr" defTabSz="914400" rtl="0" eaLnBrk="1" latinLnBrk="0" hangingPunct="1"/>
                      <a:endParaRPr lang="en-US" sz="1000" b="1" kern="1200" baseline="0" dirty="0">
                        <a:solidFill>
                          <a:schemeClr val="tx1"/>
                        </a:solidFill>
                        <a:latin typeface="Arial" panose="020B0604020202020204" pitchFamily="34" charset="0"/>
                        <a:ea typeface="楷体" panose="02010609060101010101" pitchFamily="49" charset="-122"/>
                        <a:cs typeface="+mn-cs"/>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9529723"/>
                  </a:ext>
                </a:extLst>
              </a:tr>
              <a:tr h="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b="1" kern="1200">
                        <a:solidFill>
                          <a:schemeClr val="bg2">
                            <a:lumMod val="25000"/>
                          </a:schemeClr>
                        </a:solidFill>
                        <a:latin typeface="宋体" panose="02010600030101010101" pitchFamily="2" charset="-122"/>
                        <a:ea typeface="宋体" panose="02010600030101010101" pitchFamily="2" charset="-122"/>
                        <a:cs typeface="+mn-cs"/>
                      </a:endParaRPr>
                    </a:p>
                  </a:txBody>
                  <a:tcP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333333"/>
                          </a:solidFill>
                          <a:effectLst/>
                          <a:uLnTx/>
                          <a:uFillTx/>
                          <a:latin typeface="Arial" panose="020B0604020202020204" pitchFamily="34" charset="0"/>
                          <a:ea typeface="楷体" panose="02010609060101010101" pitchFamily="49" charset="-122"/>
                          <a:cs typeface="+mn-cs"/>
                        </a:rPr>
                        <a:t>鉴证测试</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ctr" defTabSz="914400" rtl="0" eaLnBrk="1" latinLnBrk="0" hangingPunct="1"/>
                      <a:endParaRPr lang="en-US" sz="1000" b="1" kern="1200" baseline="0" dirty="0">
                        <a:solidFill>
                          <a:schemeClr val="tx1"/>
                        </a:solidFill>
                        <a:latin typeface="Arial" panose="020B0604020202020204" pitchFamily="34" charset="0"/>
                        <a:ea typeface="楷体" panose="02010609060101010101" pitchFamily="49" charset="-122"/>
                        <a:cs typeface="+mn-cs"/>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2960695"/>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00" b="1" kern="1200" baseline="0">
                          <a:solidFill>
                            <a:srgbClr val="333333"/>
                          </a:solidFill>
                          <a:latin typeface="Arial" panose="020B0604020202020204" pitchFamily="34" charset="0"/>
                          <a:ea typeface="楷体" panose="02010609060101010101" pitchFamily="49" charset="-122"/>
                          <a:cs typeface="+mn-cs"/>
                        </a:rPr>
                        <a:t>鉴证报告</a:t>
                      </a:r>
                      <a:endParaRPr lang="en-US" sz="1000" b="1" kern="1200" baseline="0">
                        <a:solidFill>
                          <a:srgbClr val="333333"/>
                        </a:solidFill>
                        <a:latin typeface="Arial" panose="020B0604020202020204" pitchFamily="34" charset="0"/>
                        <a:ea typeface="楷体" panose="02010609060101010101" pitchFamily="49" charset="-122"/>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r>
                        <a:rPr lang="zh-CN" altLang="en-US" sz="1000" b="1" kern="1200" baseline="0" dirty="0">
                          <a:solidFill>
                            <a:srgbClr val="333333"/>
                          </a:solidFill>
                          <a:latin typeface="Arial" panose="020B0604020202020204" pitchFamily="34" charset="0"/>
                          <a:ea typeface="楷体" panose="02010609060101010101" pitchFamily="49" charset="-122"/>
                          <a:cs typeface="+mn-cs"/>
                        </a:rPr>
                        <a:t>四、总结与报告</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latinLnBrk="0" hangingPunct="1"/>
                      <a:endParaRPr lang="en-US" sz="1000" b="1" kern="1200" baseline="0">
                        <a:solidFill>
                          <a:schemeClr val="tx1"/>
                        </a:solidFill>
                        <a:latin typeface="Arial" panose="020B0604020202020204" pitchFamily="34" charset="0"/>
                        <a:ea typeface="楷体" panose="02010609060101010101" pitchFamily="49" charset="-122"/>
                        <a:cs typeface="+mn-cs"/>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852312891"/>
                  </a:ext>
                </a:extLst>
              </a:tr>
              <a:tr h="0">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000" b="0" kern="1200" baseline="0" dirty="0">
                        <a:solidFill>
                          <a:srgbClr val="333333"/>
                        </a:solidFill>
                        <a:latin typeface="Arial" panose="020B0604020202020204" pitchFamily="34" charset="0"/>
                        <a:ea typeface="楷体" panose="02010609060101010101" pitchFamily="49" charset="-122"/>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zh-CN" altLang="en-US" sz="1000" u="none" strike="noStrike" baseline="0" dirty="0">
                          <a:solidFill>
                            <a:srgbClr val="333333"/>
                          </a:solidFill>
                          <a:effectLst/>
                          <a:latin typeface="Arial" panose="020B0604020202020204" pitchFamily="34" charset="0"/>
                          <a:ea typeface="楷体" panose="02010609060101010101" pitchFamily="49" charset="-122"/>
                        </a:rPr>
                        <a:t>报告撰写、报告事宜沟通    </a:t>
                      </a:r>
                      <a:endParaRPr lang="zh-CN" altLang="en-US" sz="1000" b="0" i="0" u="none" strike="noStrike" baseline="0" dirty="0">
                        <a:solidFill>
                          <a:srgbClr val="333333"/>
                        </a:solidFill>
                        <a:effectLst/>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endParaRPr lang="en-US" sz="1000" b="1" kern="1200" baseline="0">
                        <a:solidFill>
                          <a:schemeClr val="tx1"/>
                        </a:solidFill>
                        <a:latin typeface="Arial" panose="020B0604020202020204" pitchFamily="34" charset="0"/>
                        <a:ea typeface="楷体" panose="02010609060101010101" pitchFamily="49" charset="-122"/>
                        <a:cs typeface="+mn-cs"/>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11631103"/>
                  </a:ext>
                </a:extLst>
              </a:tr>
              <a:tr h="0">
                <a:tc vMerge="1">
                  <a:txBody>
                    <a:bodyPr/>
                    <a:lstStyle/>
                    <a:p>
                      <a:endParaRPr lang="en-GB"/>
                    </a:p>
                  </a:txBody>
                  <a:tcPr/>
                </a:tc>
                <a:tc>
                  <a:txBody>
                    <a:bodyPr/>
                    <a:lstStyle/>
                    <a:p>
                      <a:pPr algn="l" rtl="0" fontAlgn="ctr"/>
                      <a:r>
                        <a:rPr lang="zh-CN" altLang="en-US" sz="1000" b="0" i="0" u="none" strike="noStrike" baseline="0" dirty="0">
                          <a:solidFill>
                            <a:srgbClr val="333333"/>
                          </a:solidFill>
                          <a:effectLst/>
                          <a:latin typeface="Arial" panose="020B0604020202020204" pitchFamily="34" charset="0"/>
                          <a:ea typeface="楷体" panose="02010609060101010101" pitchFamily="49" charset="-122"/>
                        </a:rPr>
                        <a:t>获取管理声明书</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endParaRPr lang="en-US" sz="1000" b="1" kern="1200" baseline="0">
                        <a:solidFill>
                          <a:schemeClr val="tx1"/>
                        </a:solidFill>
                        <a:latin typeface="Arial" panose="020B0604020202020204" pitchFamily="34" charset="0"/>
                        <a:ea typeface="楷体" panose="02010609060101010101" pitchFamily="49" charset="-122"/>
                        <a:cs typeface="+mn-cs"/>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769367427"/>
                  </a:ext>
                </a:extLst>
              </a:tr>
              <a:tr h="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b="1" kern="1200">
                        <a:solidFill>
                          <a:schemeClr val="bg2">
                            <a:lumMod val="25000"/>
                          </a:schemeClr>
                        </a:solidFill>
                        <a:latin typeface="宋体" panose="02010600030101010101" pitchFamily="2" charset="-122"/>
                        <a:ea typeface="宋体" panose="02010600030101010101" pitchFamily="2" charset="-122"/>
                        <a:cs typeface="+mn-cs"/>
                      </a:endParaRPr>
                    </a:p>
                  </a:txBody>
                  <a:tcPr>
                    <a:lnL w="6350" cap="flat" cmpd="sng" algn="ctr">
                      <a:solidFill>
                        <a:schemeClr val="bg1">
                          <a:lumMod val="7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fontAlgn="b"/>
                      <a:r>
                        <a:rPr lang="zh-CN" altLang="en-US" sz="1000" b="0" i="0" u="none" strike="noStrike" baseline="0" dirty="0">
                          <a:solidFill>
                            <a:srgbClr val="333333"/>
                          </a:solidFill>
                          <a:effectLst/>
                          <a:latin typeface="Arial" panose="020B0604020202020204" pitchFamily="34" charset="0"/>
                          <a:ea typeface="楷体" panose="02010609060101010101" pitchFamily="49" charset="-122"/>
                        </a:rPr>
                        <a:t>出具签字盖章报告</a:t>
                      </a:r>
                      <a:endParaRPr lang="en-GB" sz="1000" b="0" i="0" u="none" strike="noStrike" baseline="0" dirty="0">
                        <a:solidFill>
                          <a:srgbClr val="333333"/>
                        </a:solidFill>
                        <a:effectLst/>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endParaRPr lang="en-US" sz="1000" b="1" kern="1200" baseline="0" dirty="0">
                        <a:solidFill>
                          <a:schemeClr val="tx1"/>
                        </a:solidFill>
                        <a:latin typeface="Arial" panose="020B0604020202020204" pitchFamily="34" charset="0"/>
                        <a:ea typeface="楷体" panose="02010609060101010101" pitchFamily="49" charset="-122"/>
                        <a:cs typeface="+mn-cs"/>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12700" cap="flat" cmpd="sng" algn="ctr">
                      <a:solidFill>
                        <a:schemeClr val="bg2"/>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b="0" baseline="0" dirty="0">
                        <a:latin typeface="Arial" panose="020B0604020202020204" pitchFamily="34" charset="0"/>
                        <a:ea typeface="楷体" panose="02010609060101010101" pitchFamily="49" charset="-122"/>
                      </a:endParaRPr>
                    </a:p>
                  </a:txBody>
                  <a:tcPr marL="36000" marR="36000" marT="36000" marB="36000" anchor="ct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639641841"/>
                  </a:ext>
                </a:extLst>
              </a:tr>
            </a:tbl>
          </a:graphicData>
        </a:graphic>
      </p:graphicFrame>
      <p:sp>
        <p:nvSpPr>
          <p:cNvPr id="9" name="Rectangle 28">
            <a:extLst>
              <a:ext uri="{FF2B5EF4-FFF2-40B4-BE49-F238E27FC236}">
                <a16:creationId xmlns:a16="http://schemas.microsoft.com/office/drawing/2014/main" id="{0A6D79A1-3ACA-264C-77E2-22CA7B203F3D}"/>
              </a:ext>
            </a:extLst>
          </p:cNvPr>
          <p:cNvSpPr/>
          <p:nvPr/>
        </p:nvSpPr>
        <p:spPr bwMode="ltGray">
          <a:xfrm>
            <a:off x="10712203" y="2148838"/>
            <a:ext cx="245960" cy="115457"/>
          </a:xfrm>
          <a:prstGeom prst="rect">
            <a:avLst/>
          </a:prstGeom>
          <a:solidFill>
            <a:schemeClr val="accent3"/>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6496" rtl="0" eaLnBrk="1" fontAlgn="auto" latinLnBrk="0" hangingPunct="1">
              <a:lnSpc>
                <a:spcPct val="100000"/>
              </a:lnSpc>
              <a:spcBef>
                <a:spcPts val="0"/>
              </a:spcBef>
              <a:spcAft>
                <a:spcPts val="0"/>
              </a:spcAft>
              <a:buClrTx/>
              <a:buSzTx/>
              <a:buFontTx/>
              <a:buNone/>
              <a:tabLst/>
              <a:defRPr/>
            </a:pPr>
            <a:endParaRPr kumimoji="0" lang="en-GB" sz="1155" b="0" i="0" u="none" strike="noStrike" kern="1200" cap="none" spc="0" normalizeH="0" baseline="0" noProof="0" err="1">
              <a:ln>
                <a:noFill/>
              </a:ln>
              <a:solidFill>
                <a:srgbClr val="FFFFFF"/>
              </a:solidFill>
              <a:effectLst/>
              <a:uLnTx/>
              <a:uFillTx/>
              <a:latin typeface="Georgia" pitchFamily="18" charset="0"/>
              <a:ea typeface="宋体"/>
              <a:cs typeface="+mn-cs"/>
            </a:endParaRPr>
          </a:p>
        </p:txBody>
      </p:sp>
      <p:sp>
        <p:nvSpPr>
          <p:cNvPr id="10" name="TextBox 29">
            <a:extLst>
              <a:ext uri="{FF2B5EF4-FFF2-40B4-BE49-F238E27FC236}">
                <a16:creationId xmlns:a16="http://schemas.microsoft.com/office/drawing/2014/main" id="{30A8C67E-43AF-4B4D-1F25-59EDEE1717F2}"/>
              </a:ext>
            </a:extLst>
          </p:cNvPr>
          <p:cNvSpPr txBox="1"/>
          <p:nvPr/>
        </p:nvSpPr>
        <p:spPr>
          <a:xfrm>
            <a:off x="11020526" y="2116881"/>
            <a:ext cx="646557" cy="179369"/>
          </a:xfrm>
          <a:prstGeom prst="rect">
            <a:avLst/>
          </a:prstGeom>
          <a:noFill/>
        </p:spPr>
        <p:txBody>
          <a:bodyPr wrap="square" lIns="0" tIns="0" rIns="0" bIns="0" rtlCol="0">
            <a:noAutofit/>
          </a:bodyPr>
          <a:lstStyle/>
          <a:p>
            <a:pPr marL="0" marR="0" lvl="0" indent="-175949" algn="l" defTabSz="586496" rtl="0" eaLnBrk="1" fontAlgn="auto" latinLnBrk="0" hangingPunct="1">
              <a:lnSpc>
                <a:spcPct val="100000"/>
              </a:lnSpc>
              <a:spcBef>
                <a:spcPts val="0"/>
              </a:spcBef>
              <a:spcAft>
                <a:spcPts val="577"/>
              </a:spcAft>
              <a:buClrTx/>
              <a:buSzTx/>
              <a:buFontTx/>
              <a:buNone/>
              <a:tabLst/>
              <a:defRPr/>
            </a:pPr>
            <a:r>
              <a:rPr kumimoji="0" lang="zh-CN" altLang="en-US" sz="1000" b="0" i="0" u="none" strike="noStrike" kern="1200" cap="none" spc="0" normalizeH="0" baseline="0" noProof="0" dirty="0">
                <a:ln>
                  <a:noFill/>
                </a:ln>
                <a:solidFill>
                  <a:srgbClr val="000000"/>
                </a:solidFill>
                <a:effectLst/>
                <a:uLnTx/>
                <a:uFillTx/>
                <a:latin typeface="楷体"/>
                <a:ea typeface="楷体"/>
                <a:cs typeface="+mn-cs"/>
              </a:rPr>
              <a:t>贵司牵头</a:t>
            </a:r>
            <a:endParaRPr kumimoji="0" lang="en-GB" sz="1000" b="0" i="0" u="none" strike="noStrike" kern="1200" cap="none" spc="0" normalizeH="0" baseline="0" noProof="0" dirty="0">
              <a:ln>
                <a:noFill/>
              </a:ln>
              <a:solidFill>
                <a:srgbClr val="000000"/>
              </a:solidFill>
              <a:effectLst/>
              <a:uLnTx/>
              <a:uFillTx/>
              <a:latin typeface="楷体"/>
              <a:ea typeface="楷体"/>
              <a:cs typeface="+mn-cs"/>
            </a:endParaRPr>
          </a:p>
        </p:txBody>
      </p:sp>
      <p:sp>
        <p:nvSpPr>
          <p:cNvPr id="11" name="Rectangle 30">
            <a:extLst>
              <a:ext uri="{FF2B5EF4-FFF2-40B4-BE49-F238E27FC236}">
                <a16:creationId xmlns:a16="http://schemas.microsoft.com/office/drawing/2014/main" id="{41A36661-F167-EDE4-3EF3-71E531A1F9A5}"/>
              </a:ext>
            </a:extLst>
          </p:cNvPr>
          <p:cNvSpPr/>
          <p:nvPr/>
        </p:nvSpPr>
        <p:spPr bwMode="ltGray">
          <a:xfrm>
            <a:off x="10712203" y="1973954"/>
            <a:ext cx="245960" cy="115457"/>
          </a:xfrm>
          <a:prstGeom prst="rect">
            <a:avLst/>
          </a:prstGeom>
          <a:solidFill>
            <a:schemeClr val="accent1"/>
          </a:solidFill>
          <a:ln w="3175">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6496" rtl="0" eaLnBrk="1" fontAlgn="auto" latinLnBrk="0" hangingPunct="1">
              <a:lnSpc>
                <a:spcPct val="100000"/>
              </a:lnSpc>
              <a:spcBef>
                <a:spcPts val="0"/>
              </a:spcBef>
              <a:spcAft>
                <a:spcPts val="0"/>
              </a:spcAft>
              <a:buClrTx/>
              <a:buSzTx/>
              <a:buFontTx/>
              <a:buNone/>
              <a:tabLst/>
              <a:defRPr/>
            </a:pPr>
            <a:endParaRPr kumimoji="0" lang="en-GB" sz="1155" b="0" i="0" u="none" strike="noStrike" kern="1200" cap="none" spc="0" normalizeH="0" baseline="0" noProof="0" err="1">
              <a:ln>
                <a:noFill/>
              </a:ln>
              <a:solidFill>
                <a:srgbClr val="FFFFFF"/>
              </a:solidFill>
              <a:effectLst/>
              <a:uLnTx/>
              <a:uFillTx/>
              <a:latin typeface="Georgia" pitchFamily="18" charset="0"/>
              <a:ea typeface="宋体"/>
              <a:cs typeface="+mn-cs"/>
            </a:endParaRPr>
          </a:p>
        </p:txBody>
      </p:sp>
      <p:sp>
        <p:nvSpPr>
          <p:cNvPr id="12" name="TextBox 31">
            <a:extLst>
              <a:ext uri="{FF2B5EF4-FFF2-40B4-BE49-F238E27FC236}">
                <a16:creationId xmlns:a16="http://schemas.microsoft.com/office/drawing/2014/main" id="{CB2350C0-3707-8374-7A4B-ABB1F6CBD9A8}"/>
              </a:ext>
            </a:extLst>
          </p:cNvPr>
          <p:cNvSpPr txBox="1"/>
          <p:nvPr/>
        </p:nvSpPr>
        <p:spPr>
          <a:xfrm>
            <a:off x="10958163" y="1947942"/>
            <a:ext cx="646557" cy="179369"/>
          </a:xfrm>
          <a:prstGeom prst="rect">
            <a:avLst/>
          </a:prstGeom>
          <a:noFill/>
        </p:spPr>
        <p:txBody>
          <a:bodyPr wrap="square" lIns="0" tIns="0" rIns="0" bIns="0" rtlCol="0">
            <a:noAutofit/>
          </a:bodyPr>
          <a:lstStyle/>
          <a:p>
            <a:pPr marL="0" marR="0" lvl="0" indent="-175949" algn="l" defTabSz="586496" rtl="0" eaLnBrk="1" fontAlgn="auto" latinLnBrk="0" hangingPunct="1">
              <a:lnSpc>
                <a:spcPct val="100000"/>
              </a:lnSpc>
              <a:spcBef>
                <a:spcPts val="0"/>
              </a:spcBef>
              <a:spcAft>
                <a:spcPts val="577"/>
              </a:spcAft>
              <a:buClrTx/>
              <a:buSzTx/>
              <a:buFontTx/>
              <a:buNone/>
              <a:tabLst/>
              <a:defRPr/>
            </a:pPr>
            <a:r>
              <a:rPr kumimoji="0" lang="zh-CN" altLang="en-US" sz="1000" b="0" i="0" u="none" strike="noStrike" kern="1200" cap="none" spc="0" normalizeH="0" baseline="0" noProof="0" dirty="0">
                <a:ln>
                  <a:noFill/>
                </a:ln>
                <a:solidFill>
                  <a:srgbClr val="000000"/>
                </a:solidFill>
                <a:effectLst/>
                <a:uLnTx/>
                <a:uFillTx/>
                <a:latin typeface="楷体"/>
                <a:ea typeface="楷体"/>
                <a:cs typeface="+mn-cs"/>
              </a:rPr>
              <a:t> 容诚开展</a:t>
            </a:r>
            <a:endParaRPr kumimoji="0" lang="en-GB" sz="1000" b="0" i="0" u="none" strike="noStrike" kern="1200" cap="none" spc="0" normalizeH="0" baseline="0" noProof="0" dirty="0">
              <a:ln>
                <a:noFill/>
              </a:ln>
              <a:solidFill>
                <a:srgbClr val="000000"/>
              </a:solidFill>
              <a:effectLst/>
              <a:uLnTx/>
              <a:uFillTx/>
              <a:latin typeface="楷体"/>
              <a:ea typeface="楷体"/>
              <a:cs typeface="+mn-cs"/>
            </a:endParaRPr>
          </a:p>
        </p:txBody>
      </p:sp>
    </p:spTree>
    <p:extLst>
      <p:ext uri="{BB962C8B-B14F-4D97-AF65-F5344CB8AC3E}">
        <p14:creationId xmlns:p14="http://schemas.microsoft.com/office/powerpoint/2010/main" val="717681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F9CFF7AD-5A56-AC29-8E34-79ECF196BA54}"/>
              </a:ext>
            </a:extLst>
          </p:cNvPr>
          <p:cNvGrpSpPr/>
          <p:nvPr/>
        </p:nvGrpSpPr>
        <p:grpSpPr>
          <a:xfrm>
            <a:off x="3826518" y="1819274"/>
            <a:ext cx="8365483" cy="5038726"/>
            <a:chOff x="4926686" y="1819274"/>
            <a:chExt cx="8365483" cy="5038726"/>
          </a:xfrm>
        </p:grpSpPr>
        <p:sp>
          <p:nvSpPr>
            <p:cNvPr id="8" name="矩形 7">
              <a:extLst>
                <a:ext uri="{FF2B5EF4-FFF2-40B4-BE49-F238E27FC236}">
                  <a16:creationId xmlns:a16="http://schemas.microsoft.com/office/drawing/2014/main" id="{970F082C-13A9-D030-AF6F-DB535FCD4703}"/>
                </a:ext>
              </a:extLst>
            </p:cNvPr>
            <p:cNvSpPr/>
            <p:nvPr/>
          </p:nvSpPr>
          <p:spPr>
            <a:xfrm>
              <a:off x="5769151" y="1819274"/>
              <a:ext cx="7523018" cy="5038725"/>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zh-CN" altLang="en-US" sz="1600"/>
            </a:p>
          </p:txBody>
        </p:sp>
        <p:sp>
          <p:nvSpPr>
            <p:cNvPr id="9" name="Freeform 20">
              <a:extLst>
                <a:ext uri="{FF2B5EF4-FFF2-40B4-BE49-F238E27FC236}">
                  <a16:creationId xmlns:a16="http://schemas.microsoft.com/office/drawing/2014/main" id="{F4DAF413-A4DA-13B2-D7AF-1875C6E6944A}"/>
                </a:ext>
              </a:extLst>
            </p:cNvPr>
            <p:cNvSpPr/>
            <p:nvPr/>
          </p:nvSpPr>
          <p:spPr>
            <a:xfrm flipH="1">
              <a:off x="4926686" y="5625566"/>
              <a:ext cx="3386733" cy="1232434"/>
            </a:xfrm>
            <a:custGeom>
              <a:avLst/>
              <a:gdLst>
                <a:gd name="connsiteX0" fmla="*/ 4016443 w 4427164"/>
                <a:gd name="connsiteY0" fmla="*/ 0 h 1908834"/>
                <a:gd name="connsiteX1" fmla="*/ 4016443 w 4427164"/>
                <a:gd name="connsiteY1" fmla="*/ 239366 h 1908834"/>
                <a:gd name="connsiteX2" fmla="*/ 4196285 w 4427164"/>
                <a:gd name="connsiteY2" fmla="*/ 239366 h 1908834"/>
                <a:gd name="connsiteX3" fmla="*/ 4196285 w 4427164"/>
                <a:gd name="connsiteY3" fmla="*/ 478731 h 1908834"/>
                <a:gd name="connsiteX4" fmla="*/ 3827587 w 4427164"/>
                <a:gd name="connsiteY4" fmla="*/ 478731 h 1908834"/>
                <a:gd name="connsiteX5" fmla="*/ 3827587 w 4427164"/>
                <a:gd name="connsiteY5" fmla="*/ 239366 h 1908834"/>
                <a:gd name="connsiteX6" fmla="*/ 3376174 w 4427164"/>
                <a:gd name="connsiteY6" fmla="*/ 239366 h 1908834"/>
                <a:gd name="connsiteX7" fmla="*/ 3376174 w 4427164"/>
                <a:gd name="connsiteY7" fmla="*/ 478731 h 1908834"/>
                <a:gd name="connsiteX8" fmla="*/ 3259305 w 4427164"/>
                <a:gd name="connsiteY8" fmla="*/ 478731 h 1908834"/>
                <a:gd name="connsiteX9" fmla="*/ 3259305 w 4427164"/>
                <a:gd name="connsiteY9" fmla="*/ 239366 h 1908834"/>
                <a:gd name="connsiteX10" fmla="*/ 3157736 w 4427164"/>
                <a:gd name="connsiteY10" fmla="*/ 239366 h 1908834"/>
                <a:gd name="connsiteX11" fmla="*/ 3157736 w 4427164"/>
                <a:gd name="connsiteY11" fmla="*/ 478731 h 1908834"/>
                <a:gd name="connsiteX12" fmla="*/ 2925459 w 4427164"/>
                <a:gd name="connsiteY12" fmla="*/ 478731 h 1908834"/>
                <a:gd name="connsiteX13" fmla="*/ 2925459 w 4427164"/>
                <a:gd name="connsiteY13" fmla="*/ 718097 h 1908834"/>
                <a:gd name="connsiteX14" fmla="*/ 3040740 w 4427164"/>
                <a:gd name="connsiteY14" fmla="*/ 718097 h 1908834"/>
                <a:gd name="connsiteX15" fmla="*/ 3040740 w 4427164"/>
                <a:gd name="connsiteY15" fmla="*/ 955179 h 1908834"/>
                <a:gd name="connsiteX16" fmla="*/ 2772152 w 4427164"/>
                <a:gd name="connsiteY16" fmla="*/ 955179 h 1908834"/>
                <a:gd name="connsiteX17" fmla="*/ 2772152 w 4427164"/>
                <a:gd name="connsiteY17" fmla="*/ 1194481 h 1908834"/>
                <a:gd name="connsiteX18" fmla="*/ 2670582 w 4427164"/>
                <a:gd name="connsiteY18" fmla="*/ 1194481 h 1908834"/>
                <a:gd name="connsiteX19" fmla="*/ 2670582 w 4427164"/>
                <a:gd name="connsiteY19" fmla="*/ 955179 h 1908834"/>
                <a:gd name="connsiteX20" fmla="*/ 2219169 w 4427164"/>
                <a:gd name="connsiteY20" fmla="*/ 955179 h 1908834"/>
                <a:gd name="connsiteX21" fmla="*/ 2219169 w 4427164"/>
                <a:gd name="connsiteY21" fmla="*/ 1194481 h 1908834"/>
                <a:gd name="connsiteX22" fmla="*/ 2117600 w 4427164"/>
                <a:gd name="connsiteY22" fmla="*/ 1194481 h 1908834"/>
                <a:gd name="connsiteX23" fmla="*/ 2117600 w 4427164"/>
                <a:gd name="connsiteY23" fmla="*/ 955179 h 1908834"/>
                <a:gd name="connsiteX24" fmla="*/ 1937059 w 4427164"/>
                <a:gd name="connsiteY24" fmla="*/ 955179 h 1908834"/>
                <a:gd name="connsiteX25" fmla="*/ 1937059 w 4427164"/>
                <a:gd name="connsiteY25" fmla="*/ 1433847 h 1908834"/>
                <a:gd name="connsiteX26" fmla="*/ 1644476 w 4427164"/>
                <a:gd name="connsiteY26" fmla="*/ 1433847 h 1908834"/>
                <a:gd name="connsiteX27" fmla="*/ 1644476 w 4427164"/>
                <a:gd name="connsiteY27" fmla="*/ 1194481 h 1908834"/>
                <a:gd name="connsiteX28" fmla="*/ 1192237 w 4427164"/>
                <a:gd name="connsiteY28" fmla="*/ 1194481 h 1908834"/>
                <a:gd name="connsiteX29" fmla="*/ 1192237 w 4427164"/>
                <a:gd name="connsiteY29" fmla="*/ 1433847 h 1908834"/>
                <a:gd name="connsiteX30" fmla="*/ 740824 w 4427164"/>
                <a:gd name="connsiteY30" fmla="*/ 1433847 h 1908834"/>
                <a:gd name="connsiteX31" fmla="*/ 740824 w 4427164"/>
                <a:gd name="connsiteY31" fmla="*/ 1673212 h 1908834"/>
                <a:gd name="connsiteX32" fmla="*/ 0 w 4427164"/>
                <a:gd name="connsiteY32" fmla="*/ 1673212 h 1908834"/>
                <a:gd name="connsiteX33" fmla="*/ 0 w 4427164"/>
                <a:gd name="connsiteY33" fmla="*/ 1908835 h 1908834"/>
                <a:gd name="connsiteX34" fmla="*/ 4427165 w 4427164"/>
                <a:gd name="connsiteY34" fmla="*/ 1908835 h 1908834"/>
                <a:gd name="connsiteX35" fmla="*/ 4427165 w 4427164"/>
                <a:gd name="connsiteY35" fmla="*/ 127 h 1908834"/>
                <a:gd name="connsiteX36" fmla="*/ 4016316 w 4427164"/>
                <a:gd name="connsiteY36" fmla="*/ 127 h 1908834"/>
                <a:gd name="connsiteX37" fmla="*/ 2224374 w 4427164"/>
                <a:gd name="connsiteY37" fmla="*/ 1673149 h 1908834"/>
                <a:gd name="connsiteX38" fmla="*/ 2122805 w 4427164"/>
                <a:gd name="connsiteY38" fmla="*/ 1673149 h 1908834"/>
                <a:gd name="connsiteX39" fmla="*/ 2122805 w 4427164"/>
                <a:gd name="connsiteY39" fmla="*/ 1433783 h 1908834"/>
                <a:gd name="connsiteX40" fmla="*/ 2224374 w 4427164"/>
                <a:gd name="connsiteY40" fmla="*/ 1433783 h 1908834"/>
                <a:gd name="connsiteX41" fmla="*/ 2224374 w 4427164"/>
                <a:gd name="connsiteY41" fmla="*/ 1673149 h 1908834"/>
                <a:gd name="connsiteX42" fmla="*/ 2530353 w 4427164"/>
                <a:gd name="connsiteY42" fmla="*/ 1433783 h 1908834"/>
                <a:gd name="connsiteX43" fmla="*/ 2349813 w 4427164"/>
                <a:gd name="connsiteY43" fmla="*/ 1433783 h 1908834"/>
                <a:gd name="connsiteX44" fmla="*/ 2349813 w 4427164"/>
                <a:gd name="connsiteY44" fmla="*/ 1194417 h 1908834"/>
                <a:gd name="connsiteX45" fmla="*/ 2530353 w 4427164"/>
                <a:gd name="connsiteY45" fmla="*/ 1194417 h 1908834"/>
                <a:gd name="connsiteX46" fmla="*/ 2530353 w 4427164"/>
                <a:gd name="connsiteY46" fmla="*/ 1433783 h 1908834"/>
                <a:gd name="connsiteX47" fmla="*/ 4016380 w 4427164"/>
                <a:gd name="connsiteY47" fmla="*/ 955115 h 1908834"/>
                <a:gd name="connsiteX48" fmla="*/ 3851709 w 4427164"/>
                <a:gd name="connsiteY48" fmla="*/ 955115 h 1908834"/>
                <a:gd name="connsiteX49" fmla="*/ 3851709 w 4427164"/>
                <a:gd name="connsiteY49" fmla="*/ 718034 h 1908834"/>
                <a:gd name="connsiteX50" fmla="*/ 4016380 w 4427164"/>
                <a:gd name="connsiteY50" fmla="*/ 718034 h 1908834"/>
                <a:gd name="connsiteX51" fmla="*/ 4016380 w 4427164"/>
                <a:gd name="connsiteY51" fmla="*/ 955115 h 190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427164" h="1908834">
                  <a:moveTo>
                    <a:pt x="4016443" y="0"/>
                  </a:moveTo>
                  <a:lnTo>
                    <a:pt x="4016443" y="239366"/>
                  </a:lnTo>
                  <a:lnTo>
                    <a:pt x="4196285" y="239366"/>
                  </a:lnTo>
                  <a:lnTo>
                    <a:pt x="4196285" y="478731"/>
                  </a:lnTo>
                  <a:lnTo>
                    <a:pt x="3827587" y="478731"/>
                  </a:lnTo>
                  <a:lnTo>
                    <a:pt x="3827587" y="239366"/>
                  </a:lnTo>
                  <a:lnTo>
                    <a:pt x="3376174" y="239366"/>
                  </a:lnTo>
                  <a:lnTo>
                    <a:pt x="3376174" y="478731"/>
                  </a:lnTo>
                  <a:lnTo>
                    <a:pt x="3259305" y="478731"/>
                  </a:lnTo>
                  <a:lnTo>
                    <a:pt x="3259305" y="239366"/>
                  </a:lnTo>
                  <a:lnTo>
                    <a:pt x="3157736" y="239366"/>
                  </a:lnTo>
                  <a:lnTo>
                    <a:pt x="3157736" y="478731"/>
                  </a:lnTo>
                  <a:lnTo>
                    <a:pt x="2925459" y="478731"/>
                  </a:lnTo>
                  <a:lnTo>
                    <a:pt x="2925459" y="718097"/>
                  </a:lnTo>
                  <a:lnTo>
                    <a:pt x="3040740" y="718097"/>
                  </a:lnTo>
                  <a:lnTo>
                    <a:pt x="3040740" y="955179"/>
                  </a:lnTo>
                  <a:lnTo>
                    <a:pt x="2772152" y="955179"/>
                  </a:lnTo>
                  <a:lnTo>
                    <a:pt x="2772152" y="1194481"/>
                  </a:lnTo>
                  <a:lnTo>
                    <a:pt x="2670582" y="1194481"/>
                  </a:lnTo>
                  <a:lnTo>
                    <a:pt x="2670582" y="955179"/>
                  </a:lnTo>
                  <a:lnTo>
                    <a:pt x="2219169" y="955179"/>
                  </a:lnTo>
                  <a:lnTo>
                    <a:pt x="2219169" y="1194481"/>
                  </a:lnTo>
                  <a:lnTo>
                    <a:pt x="2117600" y="1194481"/>
                  </a:lnTo>
                  <a:lnTo>
                    <a:pt x="2117600" y="955179"/>
                  </a:lnTo>
                  <a:lnTo>
                    <a:pt x="1937059" y="955179"/>
                  </a:lnTo>
                  <a:lnTo>
                    <a:pt x="1937059" y="1433847"/>
                  </a:lnTo>
                  <a:lnTo>
                    <a:pt x="1644476" y="1433847"/>
                  </a:lnTo>
                  <a:lnTo>
                    <a:pt x="1644476" y="1194481"/>
                  </a:lnTo>
                  <a:lnTo>
                    <a:pt x="1192237" y="1194481"/>
                  </a:lnTo>
                  <a:lnTo>
                    <a:pt x="1192237" y="1433847"/>
                  </a:lnTo>
                  <a:lnTo>
                    <a:pt x="740824" y="1433847"/>
                  </a:lnTo>
                  <a:lnTo>
                    <a:pt x="740824" y="1673212"/>
                  </a:lnTo>
                  <a:lnTo>
                    <a:pt x="0" y="1673212"/>
                  </a:lnTo>
                  <a:lnTo>
                    <a:pt x="0" y="1908835"/>
                  </a:lnTo>
                  <a:lnTo>
                    <a:pt x="4427165" y="1908835"/>
                  </a:lnTo>
                  <a:lnTo>
                    <a:pt x="4427165" y="127"/>
                  </a:lnTo>
                  <a:lnTo>
                    <a:pt x="4016316" y="127"/>
                  </a:lnTo>
                  <a:close/>
                  <a:moveTo>
                    <a:pt x="2224374" y="1673149"/>
                  </a:moveTo>
                  <a:lnTo>
                    <a:pt x="2122805" y="1673149"/>
                  </a:lnTo>
                  <a:lnTo>
                    <a:pt x="2122805" y="1433783"/>
                  </a:lnTo>
                  <a:lnTo>
                    <a:pt x="2224374" y="1433783"/>
                  </a:lnTo>
                  <a:lnTo>
                    <a:pt x="2224374" y="1673149"/>
                  </a:lnTo>
                  <a:close/>
                  <a:moveTo>
                    <a:pt x="2530353" y="1433783"/>
                  </a:moveTo>
                  <a:lnTo>
                    <a:pt x="2349813" y="1433783"/>
                  </a:lnTo>
                  <a:lnTo>
                    <a:pt x="2349813" y="1194417"/>
                  </a:lnTo>
                  <a:lnTo>
                    <a:pt x="2530353" y="1194417"/>
                  </a:lnTo>
                  <a:lnTo>
                    <a:pt x="2530353" y="1433783"/>
                  </a:lnTo>
                  <a:close/>
                  <a:moveTo>
                    <a:pt x="4016380" y="955115"/>
                  </a:moveTo>
                  <a:lnTo>
                    <a:pt x="3851709" y="955115"/>
                  </a:lnTo>
                  <a:lnTo>
                    <a:pt x="3851709" y="718034"/>
                  </a:lnTo>
                  <a:lnTo>
                    <a:pt x="4016380" y="718034"/>
                  </a:lnTo>
                  <a:lnTo>
                    <a:pt x="4016380" y="955115"/>
                  </a:lnTo>
                  <a:close/>
                </a:path>
              </a:pathLst>
            </a:custGeom>
            <a:solidFill>
              <a:schemeClr val="bg1"/>
            </a:solidFill>
            <a:ln w="63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3666A"/>
                </a:solidFill>
                <a:effectLst/>
                <a:uLnTx/>
                <a:uFillTx/>
                <a:latin typeface="Prelo Bold Italic"/>
                <a:cs typeface="+mn-cs"/>
              </a:endParaRPr>
            </a:p>
          </p:txBody>
        </p:sp>
      </p:grpSp>
      <p:sp>
        <p:nvSpPr>
          <p:cNvPr id="2" name="标题 1">
            <a:extLst>
              <a:ext uri="{FF2B5EF4-FFF2-40B4-BE49-F238E27FC236}">
                <a16:creationId xmlns:a16="http://schemas.microsoft.com/office/drawing/2014/main" id="{F74C2676-CA44-3F19-6E71-D2032E53EEF5}"/>
              </a:ext>
            </a:extLst>
          </p:cNvPr>
          <p:cNvSpPr>
            <a:spLocks noGrp="1"/>
          </p:cNvSpPr>
          <p:nvPr>
            <p:ph type="title"/>
          </p:nvPr>
        </p:nvSpPr>
        <p:spPr/>
        <p:txBody>
          <a:bodyPr/>
          <a:lstStyle/>
          <a:p>
            <a:r>
              <a:rPr lang="zh-CN" altLang="en-US" dirty="0"/>
              <a:t>估值内控鉴证</a:t>
            </a:r>
          </a:p>
        </p:txBody>
      </p:sp>
      <p:sp>
        <p:nvSpPr>
          <p:cNvPr id="4" name="灯片编号占位符 3">
            <a:extLst>
              <a:ext uri="{FF2B5EF4-FFF2-40B4-BE49-F238E27FC236}">
                <a16:creationId xmlns:a16="http://schemas.microsoft.com/office/drawing/2014/main" id="{C650834A-F1A8-BD80-47EA-F90C559D4DAA}"/>
              </a:ext>
            </a:extLst>
          </p:cNvPr>
          <p:cNvSpPr>
            <a:spLocks noGrp="1"/>
          </p:cNvSpPr>
          <p:nvPr>
            <p:ph type="sldNum" sz="quarter" idx="10"/>
          </p:nvPr>
        </p:nvSpPr>
        <p:spPr/>
        <p:txBody>
          <a:bodyPr/>
          <a:lstStyle/>
          <a:p>
            <a:fld id="{7870704B-CE94-48CC-AF30-84932A1262A7}" type="slidenum">
              <a:rPr lang="en-GB" smtClean="0"/>
              <a:pPr/>
              <a:t>12</a:t>
            </a:fld>
            <a:endParaRPr lang="en-GB">
              <a:ea typeface="楷体" panose="02010609060101010101" pitchFamily="49" charset="-122"/>
            </a:endParaRPr>
          </a:p>
        </p:txBody>
      </p:sp>
      <p:sp>
        <p:nvSpPr>
          <p:cNvPr id="5" name="页脚占位符 4">
            <a:extLst>
              <a:ext uri="{FF2B5EF4-FFF2-40B4-BE49-F238E27FC236}">
                <a16:creationId xmlns:a16="http://schemas.microsoft.com/office/drawing/2014/main" id="{5046FC64-D897-115A-B709-57A41255A7F5}"/>
              </a:ext>
            </a:extLst>
          </p:cNvPr>
          <p:cNvSpPr>
            <a:spLocks noGrp="1"/>
          </p:cNvSpPr>
          <p:nvPr>
            <p:ph type="ftr" sz="quarter" idx="13"/>
          </p:nvPr>
        </p:nvSpPr>
        <p:spPr/>
        <p:txBody>
          <a:bodyPr/>
          <a:lstStyle/>
          <a:p>
            <a:r>
              <a:rPr lang="en-US" altLang="zh-CN"/>
              <a:t>© </a:t>
            </a:r>
            <a:r>
              <a:rPr lang="zh-CN" altLang="en-US"/>
              <a:t>容诚会计师事务所（特殊普通合伙），</a:t>
            </a:r>
            <a:r>
              <a:rPr lang="en-US" altLang="zh-CN"/>
              <a:t>2026</a:t>
            </a:r>
            <a:endParaRPr lang="zh-CN" altLang="en-US">
              <a:ea typeface="楷体" panose="02010609060101010101" pitchFamily="49" charset="-122"/>
            </a:endParaRPr>
          </a:p>
        </p:txBody>
      </p:sp>
      <p:sp>
        <p:nvSpPr>
          <p:cNvPr id="6" name="内容占位符 5">
            <a:extLst>
              <a:ext uri="{FF2B5EF4-FFF2-40B4-BE49-F238E27FC236}">
                <a16:creationId xmlns:a16="http://schemas.microsoft.com/office/drawing/2014/main" id="{61DB6949-190E-9041-CBEE-184C88249C42}"/>
              </a:ext>
            </a:extLst>
          </p:cNvPr>
          <p:cNvSpPr>
            <a:spLocks noGrp="1"/>
          </p:cNvSpPr>
          <p:nvPr>
            <p:ph sz="quarter" idx="14"/>
          </p:nvPr>
        </p:nvSpPr>
        <p:spPr/>
        <p:txBody>
          <a:bodyPr/>
          <a:lstStyle/>
          <a:p>
            <a:r>
              <a:rPr lang="zh-CN" altLang="en-US" dirty="0"/>
              <a:t>选择内控标准、确定鉴证意见</a:t>
            </a:r>
          </a:p>
        </p:txBody>
      </p:sp>
      <p:sp>
        <p:nvSpPr>
          <p:cNvPr id="11" name="内容占位符 2">
            <a:extLst>
              <a:ext uri="{FF2B5EF4-FFF2-40B4-BE49-F238E27FC236}">
                <a16:creationId xmlns:a16="http://schemas.microsoft.com/office/drawing/2014/main" id="{F3466734-3780-EF16-FC24-261E71FE370D}"/>
              </a:ext>
            </a:extLst>
          </p:cNvPr>
          <p:cNvSpPr txBox="1">
            <a:spLocks/>
          </p:cNvSpPr>
          <p:nvPr/>
        </p:nvSpPr>
        <p:spPr>
          <a:xfrm>
            <a:off x="4838701" y="1972224"/>
            <a:ext cx="7183582" cy="3900033"/>
          </a:xfrm>
          <a:prstGeom prst="rect">
            <a:avLst/>
          </a:prstGeom>
        </p:spPr>
        <p:txBody>
          <a:bodyPr vert="horz" lIns="0" tIns="0" rIns="0" bIns="0" spcCol="180000" rtlCol="0">
            <a:noAutofit/>
          </a:bodyPr>
          <a:lstStyle>
            <a:lvl1pPr marL="0" indent="0" algn="just" defTabSz="914400" rtl="0" eaLnBrk="1" latinLnBrk="0" hangingPunct="1">
              <a:lnSpc>
                <a:spcPct val="120000"/>
              </a:lnSpc>
              <a:spcBef>
                <a:spcPts val="0"/>
              </a:spcBef>
              <a:spcAft>
                <a:spcPts val="600"/>
              </a:spcAft>
              <a:buFont typeface="Arial" panose="020B0604020202020204" pitchFamily="34" charset="0"/>
              <a:buChar char="​"/>
              <a:defRPr sz="1200" b="0" kern="1200" baseline="0">
                <a:solidFill>
                  <a:srgbClr val="333333"/>
                </a:solidFill>
                <a:latin typeface="Arial" panose="020B0604020202020204" pitchFamily="34" charset="0"/>
                <a:ea typeface="楷体" panose="02010609060101010101" pitchFamily="49" charset="-122"/>
                <a:cs typeface="+mn-cs"/>
              </a:defRPr>
            </a:lvl1pPr>
            <a:lvl2pPr marL="180000" indent="0" algn="just" defTabSz="914400" rtl="0" eaLnBrk="1" latinLnBrk="0" hangingPunct="1">
              <a:lnSpc>
                <a:spcPct val="120000"/>
              </a:lnSpc>
              <a:spcBef>
                <a:spcPts val="0"/>
              </a:spcBef>
              <a:spcAft>
                <a:spcPts val="600"/>
              </a:spcAft>
              <a:buClr>
                <a:schemeClr val="tx1"/>
              </a:buClr>
              <a:buFont typeface="Wingdings" panose="05000000000000000000" pitchFamily="2" charset="2"/>
              <a:buChar char="§"/>
              <a:defRPr sz="1200" b="0" kern="1200" baseline="0">
                <a:solidFill>
                  <a:srgbClr val="333333"/>
                </a:solidFill>
                <a:latin typeface="Arial" panose="020B0604020202020204" pitchFamily="34" charset="0"/>
                <a:ea typeface="黑体" panose="02010609060101010101" pitchFamily="49" charset="-122"/>
                <a:cs typeface="+mn-cs"/>
              </a:defRPr>
            </a:lvl2pPr>
            <a:lvl3pPr marL="360000" indent="0" algn="just" defTabSz="914400" rtl="0" eaLnBrk="1" latinLnBrk="0" hangingPunct="1">
              <a:lnSpc>
                <a:spcPct val="120000"/>
              </a:lnSpc>
              <a:spcBef>
                <a:spcPts val="0"/>
              </a:spcBef>
              <a:spcAft>
                <a:spcPts val="600"/>
              </a:spcAft>
              <a:buFont typeface="Arial" panose="020B0604020202020204" pitchFamily="34" charset="0"/>
              <a:buChar char="–"/>
              <a:defRPr sz="1200" b="0" kern="1200" baseline="0">
                <a:solidFill>
                  <a:srgbClr val="333333"/>
                </a:solidFill>
                <a:latin typeface="Arial" panose="020B0604020202020204" pitchFamily="34" charset="0"/>
                <a:ea typeface="黑体" panose="02010609060101010101" pitchFamily="49" charset="-122"/>
                <a:cs typeface="+mn-cs"/>
              </a:defRPr>
            </a:lvl3pPr>
            <a:lvl4pPr marL="540000" indent="0" algn="just" defTabSz="914400" rtl="0" eaLnBrk="1" latinLnBrk="0" hangingPunct="1">
              <a:lnSpc>
                <a:spcPct val="120000"/>
              </a:lnSpc>
              <a:spcBef>
                <a:spcPts val="0"/>
              </a:spcBef>
              <a:spcAft>
                <a:spcPts val="600"/>
              </a:spcAft>
              <a:buFont typeface="Arial" panose="020B0604020202020204" pitchFamily="34" charset="0"/>
              <a:buChar char="–"/>
              <a:defRPr sz="1200" b="0" kern="1200" baseline="0">
                <a:solidFill>
                  <a:srgbClr val="333333"/>
                </a:solidFill>
                <a:latin typeface="Arial" panose="020B0604020202020204" pitchFamily="34" charset="0"/>
                <a:ea typeface="黑体" panose="02010609060101010101" pitchFamily="49" charset="-122"/>
                <a:cs typeface="+mn-cs"/>
              </a:defRPr>
            </a:lvl4pPr>
            <a:lvl5pPr marL="720000" indent="0" algn="just" defTabSz="914400" rtl="0" eaLnBrk="1" latinLnBrk="0" hangingPunct="1">
              <a:lnSpc>
                <a:spcPct val="120000"/>
              </a:lnSpc>
              <a:spcBef>
                <a:spcPts val="0"/>
              </a:spcBef>
              <a:spcAft>
                <a:spcPts val="600"/>
              </a:spcAft>
              <a:buFont typeface="Arial" panose="020B0604020202020204" pitchFamily="34" charset="0"/>
              <a:buChar char="–"/>
              <a:defRPr sz="1200" b="0" kern="1200" baseline="0">
                <a:solidFill>
                  <a:srgbClr val="333333"/>
                </a:solidFill>
                <a:latin typeface="Arial" panose="020B0604020202020204" pitchFamily="34" charset="0"/>
                <a:ea typeface="黑体" panose="02010609060101010101" pitchFamily="49" charset="-122"/>
                <a:cs typeface="+mn-cs"/>
              </a:defRPr>
            </a:lvl5pPr>
            <a:lvl6pPr marL="0" indent="0" algn="just" defTabSz="914400" rtl="0" eaLnBrk="1" latinLnBrk="0" hangingPunct="1">
              <a:lnSpc>
                <a:spcPct val="120000"/>
              </a:lnSpc>
              <a:spcBef>
                <a:spcPts val="0"/>
              </a:spcBef>
              <a:spcAft>
                <a:spcPts val="600"/>
              </a:spcAft>
              <a:buFontTx/>
              <a:buNone/>
              <a:defRPr sz="1200" b="0" kern="1200" baseline="0">
                <a:solidFill>
                  <a:srgbClr val="333333"/>
                </a:solidFill>
                <a:latin typeface="Arial" panose="020B0604020202020204" pitchFamily="34" charset="0"/>
                <a:ea typeface="黑体" panose="02010609060101010101" pitchFamily="49" charset="-122"/>
                <a:cs typeface="+mn-cs"/>
              </a:defRPr>
            </a:lvl6pPr>
            <a:lvl7pPr marL="0" indent="0" algn="just" defTabSz="914400" rtl="0" eaLnBrk="1" latinLnBrk="0" hangingPunct="1">
              <a:lnSpc>
                <a:spcPct val="120000"/>
              </a:lnSpc>
              <a:spcBef>
                <a:spcPts val="0"/>
              </a:spcBef>
              <a:spcAft>
                <a:spcPts val="600"/>
              </a:spcAft>
              <a:buFontTx/>
              <a:buNone/>
              <a:defRPr sz="1200" b="0" kern="1200" baseline="0">
                <a:solidFill>
                  <a:srgbClr val="333333"/>
                </a:solidFill>
                <a:latin typeface="Arial" panose="020B0604020202020204" pitchFamily="34" charset="0"/>
                <a:ea typeface="黑体" panose="02010609060101010101" pitchFamily="49" charset="-122"/>
                <a:cs typeface="+mn-cs"/>
              </a:defRPr>
            </a:lvl7pPr>
            <a:lvl8pPr marL="0" indent="0" algn="just" defTabSz="914400" rtl="0" eaLnBrk="1" latinLnBrk="0" hangingPunct="1">
              <a:lnSpc>
                <a:spcPct val="120000"/>
              </a:lnSpc>
              <a:spcBef>
                <a:spcPts val="0"/>
              </a:spcBef>
              <a:spcAft>
                <a:spcPts val="600"/>
              </a:spcAft>
              <a:buFontTx/>
              <a:buNone/>
              <a:defRPr sz="1200" b="0" kern="1200" baseline="0">
                <a:solidFill>
                  <a:srgbClr val="333333"/>
                </a:solidFill>
                <a:latin typeface="Arial" panose="020B0604020202020204" pitchFamily="34" charset="0"/>
                <a:ea typeface="黑体" panose="02010609060101010101" pitchFamily="49" charset="-122"/>
                <a:cs typeface="+mn-cs"/>
              </a:defRPr>
            </a:lvl8pPr>
            <a:lvl9pPr marL="0" indent="0" algn="just" defTabSz="914400" rtl="0" eaLnBrk="1" latinLnBrk="0" hangingPunct="1">
              <a:lnSpc>
                <a:spcPct val="120000"/>
              </a:lnSpc>
              <a:spcBef>
                <a:spcPts val="0"/>
              </a:spcBef>
              <a:spcAft>
                <a:spcPts val="600"/>
              </a:spcAft>
              <a:buFontTx/>
              <a:buNone/>
              <a:defRPr sz="1200" b="0" kern="1200" baseline="0">
                <a:solidFill>
                  <a:srgbClr val="333333"/>
                </a:solidFill>
                <a:latin typeface="Arial" panose="020B0604020202020204" pitchFamily="34" charset="0"/>
                <a:ea typeface="黑体" panose="02010609060101010101" pitchFamily="49" charset="-122"/>
                <a:cs typeface="+mn-cs"/>
              </a:defRPr>
            </a:lvl9pPr>
          </a:lstStyle>
          <a:p>
            <a:pPr marL="285750" indent="-285750">
              <a:buClr>
                <a:schemeClr val="accent1">
                  <a:lumMod val="75000"/>
                </a:schemeClr>
              </a:buClr>
              <a:buSzPct val="80000"/>
              <a:buFont typeface="Wingdings" panose="05000000000000000000" pitchFamily="2" charset="2"/>
              <a:buChar char="n"/>
            </a:pPr>
            <a:r>
              <a:rPr lang="zh-CN" altLang="en-US" dirty="0"/>
              <a:t>参考指数业务</a:t>
            </a:r>
            <a:r>
              <a:rPr lang="en-US" altLang="zh-CN" dirty="0"/>
              <a:t>IOSCO</a:t>
            </a:r>
            <a:r>
              <a:rPr lang="zh-CN" altLang="en-US" dirty="0"/>
              <a:t>鉴证先例，鉴证内控工作标准可遵循“国际软法”</a:t>
            </a:r>
          </a:p>
          <a:p>
            <a:pPr marL="561600" indent="-285750">
              <a:buSzPct val="100000"/>
              <a:buFont typeface="Arial" panose="020B0604020202020204" pitchFamily="34" charset="0"/>
              <a:buChar char="•"/>
            </a:pPr>
            <a:r>
              <a:rPr lang="zh-CN" altLang="en-US" dirty="0"/>
              <a:t>内容相适应</a:t>
            </a:r>
          </a:p>
          <a:p>
            <a:pPr marL="853200" indent="-285750">
              <a:buSzPct val="100000"/>
              <a:buFont typeface="Arial" panose="020B0604020202020204" pitchFamily="34" charset="0"/>
              <a:buChar char="-"/>
            </a:pPr>
            <a:r>
              <a:rPr lang="zh-CN" altLang="en-US" dirty="0"/>
              <a:t>除</a:t>
            </a:r>
            <a:r>
              <a:rPr lang="en-US" altLang="zh-CN" dirty="0"/>
              <a:t>140-180</a:t>
            </a:r>
            <a:r>
              <a:rPr lang="zh-CN" altLang="en-US" dirty="0"/>
              <a:t>明确涉及估值内控工作外，</a:t>
            </a:r>
            <a:r>
              <a:rPr lang="en-US" altLang="zh-CN" dirty="0"/>
              <a:t>《</a:t>
            </a:r>
            <a:r>
              <a:rPr lang="zh-CN" altLang="en-US" dirty="0"/>
              <a:t>准则</a:t>
            </a:r>
            <a:r>
              <a:rPr lang="en-US" altLang="zh-CN" dirty="0"/>
              <a:t>》</a:t>
            </a:r>
            <a:r>
              <a:rPr lang="zh-CN" altLang="en-US" dirty="0"/>
              <a:t>还对估值的参数选择、模型搭建、模型文档、模型测试等提出了高阶要求</a:t>
            </a:r>
          </a:p>
          <a:p>
            <a:pPr marL="853200" indent="-285750">
              <a:buSzPct val="100000"/>
              <a:buFont typeface="Arial" panose="020B0604020202020204" pitchFamily="34" charset="0"/>
              <a:buChar char="-"/>
            </a:pPr>
            <a:r>
              <a:rPr lang="zh-CN" altLang="en-US" dirty="0"/>
              <a:t>符合本次内控鉴证服务紧密结合估值专业技术的主旨</a:t>
            </a:r>
          </a:p>
          <a:p>
            <a:pPr marL="561600" indent="-285750">
              <a:buSzPct val="100000"/>
              <a:buFont typeface="Arial" panose="020B0604020202020204" pitchFamily="34" charset="0"/>
              <a:buChar char="•"/>
            </a:pPr>
            <a:r>
              <a:rPr lang="zh-CN" altLang="en-US" dirty="0"/>
              <a:t>由具有影响力的国际组织编制</a:t>
            </a:r>
          </a:p>
          <a:p>
            <a:pPr marL="853200" indent="-285750">
              <a:buSzPct val="100000"/>
              <a:buFont typeface="Arial" panose="020B0604020202020204" pitchFamily="34" charset="0"/>
              <a:buChar char="-"/>
            </a:pPr>
            <a:r>
              <a:rPr lang="zh-CN" altLang="en-US" dirty="0"/>
              <a:t>由国际评估准则理事会编制，</a:t>
            </a:r>
            <a:r>
              <a:rPr lang="en-US" altLang="zh-CN" dirty="0"/>
              <a:t>2025</a:t>
            </a:r>
            <a:r>
              <a:rPr lang="zh-CN" altLang="en-US" dirty="0"/>
              <a:t>年</a:t>
            </a:r>
            <a:r>
              <a:rPr lang="en-US" altLang="zh-CN" dirty="0"/>
              <a:t>1</a:t>
            </a:r>
            <a:r>
              <a:rPr lang="zh-CN" altLang="en-US" dirty="0"/>
              <a:t>月</a:t>
            </a:r>
            <a:r>
              <a:rPr lang="en-US" altLang="zh-CN" dirty="0"/>
              <a:t>1</a:t>
            </a:r>
            <a:r>
              <a:rPr lang="zh-CN" altLang="en-US" dirty="0"/>
              <a:t>日生效，与人行和</a:t>
            </a:r>
            <a:r>
              <a:rPr lang="en-US" altLang="zh-CN" dirty="0"/>
              <a:t>NAFMII</a:t>
            </a:r>
            <a:r>
              <a:rPr lang="zh-CN" altLang="en-US" dirty="0"/>
              <a:t>规则同期</a:t>
            </a:r>
          </a:p>
          <a:p>
            <a:pPr marL="561600" indent="-285750">
              <a:buSzPct val="100000"/>
              <a:buFont typeface="Arial" panose="020B0604020202020204" pitchFamily="34" charset="0"/>
              <a:buChar char="•"/>
            </a:pPr>
            <a:r>
              <a:rPr lang="zh-CN" altLang="en-US" dirty="0"/>
              <a:t>被中国监管部门接纳，符合中国监管原则，但并非我国官方法规渊源</a:t>
            </a:r>
          </a:p>
          <a:p>
            <a:pPr marL="853200" indent="-285750">
              <a:buSzPct val="100000"/>
              <a:buFont typeface="Arial" panose="020B0604020202020204" pitchFamily="34" charset="0"/>
              <a:buChar char="-"/>
            </a:pPr>
            <a:r>
              <a:rPr lang="zh-CN" altLang="en-US" dirty="0"/>
              <a:t>财政部主管的中评协出版</a:t>
            </a:r>
            <a:r>
              <a:rPr lang="en-US" altLang="zh-CN" dirty="0"/>
              <a:t>《</a:t>
            </a:r>
            <a:r>
              <a:rPr lang="zh-CN" altLang="en-US" dirty="0"/>
              <a:t>国际评估准则</a:t>
            </a:r>
            <a:r>
              <a:rPr lang="en-US" altLang="zh-CN" dirty="0"/>
              <a:t>》</a:t>
            </a:r>
            <a:r>
              <a:rPr lang="zh-CN" altLang="en-US" dirty="0"/>
              <a:t>中文版</a:t>
            </a:r>
          </a:p>
          <a:p>
            <a:pPr marL="853200" indent="-285750">
              <a:buSzPct val="100000"/>
              <a:buFont typeface="Arial" panose="020B0604020202020204" pitchFamily="34" charset="0"/>
              <a:buChar char="-"/>
            </a:pPr>
            <a:r>
              <a:rPr lang="zh-CN" altLang="en-US" dirty="0"/>
              <a:t>但我国官方法规并未直接承认为正式渊源</a:t>
            </a:r>
            <a:endParaRPr lang="en-US" altLang="zh-CN" dirty="0"/>
          </a:p>
          <a:p>
            <a:pPr>
              <a:buClr>
                <a:schemeClr val="accent1">
                  <a:lumMod val="75000"/>
                </a:schemeClr>
              </a:buClr>
              <a:buSzPct val="80000"/>
              <a:buNone/>
            </a:pPr>
            <a:r>
              <a:rPr lang="zh-CN" altLang="en-US" b="1" dirty="0">
                <a:solidFill>
                  <a:schemeClr val="accent1"/>
                </a:solidFill>
              </a:rPr>
              <a:t>建议：</a:t>
            </a:r>
            <a:endParaRPr lang="en-US" altLang="zh-CN" dirty="0"/>
          </a:p>
          <a:p>
            <a:pPr marL="285750" indent="-285750">
              <a:buClr>
                <a:schemeClr val="accent1">
                  <a:lumMod val="75000"/>
                </a:schemeClr>
              </a:buClr>
              <a:buSzPct val="80000"/>
              <a:buFont typeface="Wingdings" panose="05000000000000000000" pitchFamily="2" charset="2"/>
              <a:buChar char="n"/>
            </a:pPr>
            <a:r>
              <a:rPr lang="zh-CN" altLang="en-US" dirty="0"/>
              <a:t>鉴证就“估值服务产品内控遵循</a:t>
            </a:r>
            <a:r>
              <a:rPr lang="en-US" altLang="zh-CN" dirty="0"/>
              <a:t>《</a:t>
            </a:r>
            <a:r>
              <a:rPr lang="zh-CN" altLang="en-US" dirty="0"/>
              <a:t>国际评估准则</a:t>
            </a:r>
            <a:r>
              <a:rPr lang="en-US" altLang="zh-CN" dirty="0"/>
              <a:t>》</a:t>
            </a:r>
            <a:r>
              <a:rPr lang="zh-CN" altLang="en-US" dirty="0"/>
              <a:t>原则和金融工具篇要求”出具意见</a:t>
            </a:r>
          </a:p>
          <a:p>
            <a:pPr marL="285750" indent="-285750">
              <a:buClr>
                <a:schemeClr val="accent1">
                  <a:lumMod val="75000"/>
                </a:schemeClr>
              </a:buClr>
              <a:buSzPct val="80000"/>
              <a:buFont typeface="Wingdings" panose="05000000000000000000" pitchFamily="2" charset="2"/>
              <a:buChar char="n"/>
            </a:pPr>
            <a:r>
              <a:rPr lang="zh-CN" altLang="en-US" dirty="0"/>
              <a:t>测试工作中参考</a:t>
            </a:r>
            <a:r>
              <a:rPr lang="en-US" altLang="zh-CN" dirty="0"/>
              <a:t>《</a:t>
            </a:r>
            <a:r>
              <a:rPr lang="zh-CN" altLang="en-US" dirty="0"/>
              <a:t>银行间债券市场债券估值业务管理办法</a:t>
            </a:r>
            <a:r>
              <a:rPr lang="en-US" altLang="zh-CN" dirty="0"/>
              <a:t>》 </a:t>
            </a:r>
            <a:r>
              <a:rPr lang="zh-CN" altLang="en-US" dirty="0"/>
              <a:t>和</a:t>
            </a:r>
            <a:r>
              <a:rPr lang="en-US" altLang="zh-CN" dirty="0"/>
              <a:t>《</a:t>
            </a:r>
            <a:r>
              <a:rPr lang="zh-CN" altLang="en-US" dirty="0"/>
              <a:t>银行间债券市场债券估值业务自律指引（试行）</a:t>
            </a:r>
            <a:r>
              <a:rPr lang="en-US" altLang="zh-CN" dirty="0"/>
              <a:t>》</a:t>
            </a:r>
            <a:r>
              <a:rPr lang="zh-CN" altLang="en-US" dirty="0"/>
              <a:t>增补相应规范</a:t>
            </a:r>
            <a:endParaRPr lang="en-US" altLang="zh-CN" dirty="0"/>
          </a:p>
          <a:p>
            <a:pPr marL="285750" indent="-285750">
              <a:buClr>
                <a:schemeClr val="accent1">
                  <a:lumMod val="75000"/>
                </a:schemeClr>
              </a:buClr>
              <a:buSzPct val="80000"/>
              <a:buFont typeface="Wingdings" panose="05000000000000000000" pitchFamily="2" charset="2"/>
              <a:buChar char="n"/>
            </a:pPr>
            <a:endParaRPr lang="zh-CN" altLang="en-US" sz="1400" dirty="0"/>
          </a:p>
        </p:txBody>
      </p:sp>
      <p:pic>
        <p:nvPicPr>
          <p:cNvPr id="12" name="Content Placeholder 4">
            <a:extLst>
              <a:ext uri="{FF2B5EF4-FFF2-40B4-BE49-F238E27FC236}">
                <a16:creationId xmlns:a16="http://schemas.microsoft.com/office/drawing/2014/main" id="{050C0024-DCAB-51AF-5329-F97B9EDCC19F}"/>
              </a:ext>
            </a:extLst>
          </p:cNvPr>
          <p:cNvPicPr>
            <a:picLocks noGrp="1" noChangeAspect="1"/>
          </p:cNvPicPr>
          <p:nvPr>
            <p:ph idx="1"/>
          </p:nvPr>
        </p:nvPicPr>
        <p:blipFill>
          <a:blip r:embed="rId2"/>
          <a:stretch>
            <a:fillRect/>
          </a:stretch>
        </p:blipFill>
        <p:spPr>
          <a:xfrm>
            <a:off x="535709" y="1701204"/>
            <a:ext cx="3847142" cy="4596097"/>
          </a:xfrm>
          <a:prstGeom prst="rect">
            <a:avLst/>
          </a:prstGeom>
        </p:spPr>
      </p:pic>
    </p:spTree>
    <p:extLst>
      <p:ext uri="{BB962C8B-B14F-4D97-AF65-F5344CB8AC3E}">
        <p14:creationId xmlns:p14="http://schemas.microsoft.com/office/powerpoint/2010/main" val="2719306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城市的夜景&#10;&#10;描述已自动生成"/>
          <p:cNvPicPr>
            <a:picLocks noChangeAspect="1"/>
          </p:cNvPicPr>
          <p:nvPr/>
        </p:nvPicPr>
        <p:blipFill rotWithShape="1">
          <a:blip r:embed="rId2" cstate="screen">
            <a:alphaModFix amt="20000"/>
          </a:blip>
          <a:srcRect/>
          <a:stretch>
            <a:fillRect/>
          </a:stretch>
        </p:blipFill>
        <p:spPr>
          <a:xfrm>
            <a:off x="-1872" y="4622"/>
            <a:ext cx="12195744" cy="6858000"/>
          </a:xfrm>
          <a:prstGeom prst="rect">
            <a:avLst/>
          </a:prstGeom>
        </p:spPr>
      </p:pic>
      <p:sp>
        <p:nvSpPr>
          <p:cNvPr id="3" name="矩形 2"/>
          <p:cNvSpPr/>
          <p:nvPr/>
        </p:nvSpPr>
        <p:spPr>
          <a:xfrm>
            <a:off x="1588" y="0"/>
            <a:ext cx="12192000" cy="6858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endParaRPr>
          </a:p>
        </p:txBody>
      </p:sp>
      <p:pic>
        <p:nvPicPr>
          <p:cNvPr id="4" name="图形 3"/>
          <p:cNvPicPr>
            <a:picLocks noChangeAspect="1"/>
          </p:cNvPicPr>
          <p:nvPr/>
        </p:nvPicPr>
        <p:blipFill rotWithShape="1">
          <a:blip>
            <a:extLst>
              <a:ext uri="{96DAC541-7B7A-43D3-8B79-37D633B846F1}">
                <asvg:svgBlip xmlns:asvg="http://schemas.microsoft.com/office/drawing/2016/SVG/main" r:embed="rId3"/>
              </a:ext>
            </a:extLst>
          </a:blip>
          <a:srcRect l="-1" r="-1" b="44894"/>
          <a:stretch>
            <a:fillRect/>
          </a:stretch>
        </p:blipFill>
        <p:spPr>
          <a:xfrm>
            <a:off x="8761" y="3105618"/>
            <a:ext cx="12192000" cy="3752382"/>
          </a:xfrm>
          <a:prstGeom prst="rect">
            <a:avLst/>
          </a:prstGeom>
        </p:spPr>
      </p:pic>
      <p:sp>
        <p:nvSpPr>
          <p:cNvPr id="5" name="文本框 4"/>
          <p:cNvSpPr txBox="1"/>
          <p:nvPr/>
        </p:nvSpPr>
        <p:spPr>
          <a:xfrm>
            <a:off x="9322767" y="6172200"/>
            <a:ext cx="2520242" cy="230832"/>
          </a:xfrm>
          <a:prstGeom prst="rect">
            <a:avLst/>
          </a:prstGeom>
          <a:noFill/>
        </p:spPr>
        <p:txBody>
          <a:bodyPr wrap="none" rtlCol="0">
            <a:spAutoFit/>
          </a:bodyPr>
          <a:lstStyle/>
          <a:p>
            <a:r>
              <a:rPr lang="en-US" altLang="zh-CN" sz="900" dirty="0">
                <a:solidFill>
                  <a:schemeClr val="bg1"/>
                </a:solidFill>
                <a:latin typeface="Arial" panose="020B0604020202020204" pitchFamily="34" charset="0"/>
                <a:ea typeface="楷体" panose="02010609060101010101" pitchFamily="49" charset="-122"/>
                <a:cs typeface="Arial" panose="020B0604020202020204" pitchFamily="34" charset="0"/>
              </a:rPr>
              <a:t>© </a:t>
            </a:r>
            <a:r>
              <a:rPr lang="zh-CN" altLang="en-US" sz="900" dirty="0">
                <a:solidFill>
                  <a:schemeClr val="bg1"/>
                </a:solidFill>
                <a:latin typeface="Arial" panose="020B0604020202020204" pitchFamily="34" charset="0"/>
                <a:ea typeface="楷体" panose="02010609060101010101" pitchFamily="49" charset="-122"/>
              </a:rPr>
              <a:t>容诚会计师事务所（特殊普通合伙），</a:t>
            </a:r>
            <a:r>
              <a:rPr lang="en-US" altLang="zh-CN" sz="900" dirty="0">
                <a:solidFill>
                  <a:schemeClr val="bg1"/>
                </a:solidFill>
                <a:latin typeface="Arial" panose="020B0604020202020204" pitchFamily="34" charset="0"/>
                <a:ea typeface="楷体" panose="02010609060101010101" pitchFamily="49" charset="-122"/>
              </a:rPr>
              <a:t>2026</a:t>
            </a:r>
            <a:endParaRPr lang="zh-CN" altLang="en-US" sz="900" dirty="0">
              <a:solidFill>
                <a:schemeClr val="bg1"/>
              </a:solidFill>
              <a:latin typeface="Arial" panose="020B0604020202020204" pitchFamily="34" charset="0"/>
              <a:ea typeface="楷体" panose="02010609060101010101" pitchFamily="49" charset="-122"/>
            </a:endParaRPr>
          </a:p>
        </p:txBody>
      </p:sp>
      <p:pic>
        <p:nvPicPr>
          <p:cNvPr id="7" name="图片 6" descr="徽标, 图标&#10;&#10;描述已自动生成"/>
          <p:cNvPicPr>
            <a:picLocks noChangeAspect="1"/>
          </p:cNvPicPr>
          <p:nvPr/>
        </p:nvPicPr>
        <p:blipFill>
          <a:blip r:embed="rId4" cstate="print"/>
          <a:stretch>
            <a:fillRect/>
          </a:stretch>
        </p:blipFill>
        <p:spPr>
          <a:xfrm>
            <a:off x="10066940" y="454968"/>
            <a:ext cx="1682148" cy="316144"/>
          </a:xfrm>
          <a:prstGeom prst="rect">
            <a:avLst/>
          </a:prstGeom>
        </p:spPr>
      </p:pic>
      <p:sp>
        <p:nvSpPr>
          <p:cNvPr id="8" name="文本框 7"/>
          <p:cNvSpPr txBox="1"/>
          <p:nvPr/>
        </p:nvSpPr>
        <p:spPr>
          <a:xfrm>
            <a:off x="587375" y="4397573"/>
            <a:ext cx="4565366" cy="430887"/>
          </a:xfrm>
          <a:prstGeom prst="rect">
            <a:avLst/>
          </a:prstGeom>
          <a:noFill/>
        </p:spPr>
        <p:txBody>
          <a:bodyPr wrap="square" lIns="0" tIns="0" rIns="0" bIns="0" rtlCol="0">
            <a:spAutoFit/>
          </a:bodyPr>
          <a:lstStyle/>
          <a:p>
            <a:pPr defTabSz="1219200"/>
            <a:r>
              <a:rPr lang="zh-CN" altLang="en-US" sz="1400" dirty="0">
                <a:solidFill>
                  <a:srgbClr val="333333"/>
                </a:solidFill>
                <a:latin typeface="Arial" panose="020B0604020202020204" pitchFamily="34" charset="0"/>
                <a:ea typeface="楷体" panose="02010609060101010101" pitchFamily="49" charset="-122"/>
                <a:sym typeface="Arial" panose="020B0604020202020204" pitchFamily="34" charset="0"/>
              </a:rPr>
              <a:t>了解更多容诚资讯可登录</a:t>
            </a:r>
            <a:endParaRPr lang="en-US" altLang="zh-CN" sz="1400" dirty="0">
              <a:solidFill>
                <a:srgbClr val="333333"/>
              </a:solidFill>
              <a:latin typeface="Arial" panose="020B0604020202020204" pitchFamily="34" charset="0"/>
              <a:ea typeface="楷体" panose="02010609060101010101" pitchFamily="49" charset="-122"/>
              <a:sym typeface="Arial" panose="020B0604020202020204" pitchFamily="34" charset="0"/>
            </a:endParaRPr>
          </a:p>
          <a:p>
            <a:pPr defTabSz="1219200"/>
            <a:r>
              <a:rPr lang="en-US" altLang="zh-CN" sz="1400" dirty="0">
                <a:solidFill>
                  <a:srgbClr val="333333"/>
                </a:solidFill>
                <a:latin typeface="Arial" panose="020B0604020202020204" pitchFamily="34" charset="0"/>
                <a:ea typeface="楷体" panose="02010609060101010101" pitchFamily="49" charset="-122"/>
                <a:cs typeface="Times New Roman" panose="02020603050405020304" pitchFamily="18" charset="0"/>
                <a:sym typeface="Arial" panose="020B0604020202020204" pitchFamily="34" charset="0"/>
              </a:rPr>
              <a:t>https://www.rsm.global/china/zh-hans</a:t>
            </a:r>
            <a:endParaRPr lang="zh-CN" altLang="en-US" sz="1400" dirty="0">
              <a:solidFill>
                <a:srgbClr val="333333"/>
              </a:solidFill>
              <a:latin typeface="Arial" panose="020B0604020202020204" pitchFamily="34" charset="0"/>
              <a:ea typeface="楷体" panose="02010609060101010101" pitchFamily="49" charset="-122"/>
              <a:cs typeface="Times New Roman" panose="02020603050405020304" pitchFamily="18" charset="0"/>
              <a:sym typeface="Arial" panose="020B0604020202020204" pitchFamily="34" charset="0"/>
            </a:endParaRPr>
          </a:p>
        </p:txBody>
      </p:sp>
      <p:sp>
        <p:nvSpPr>
          <p:cNvPr id="9" name="矩形 8"/>
          <p:cNvSpPr/>
          <p:nvPr/>
        </p:nvSpPr>
        <p:spPr>
          <a:xfrm>
            <a:off x="587375" y="5151508"/>
            <a:ext cx="5144785" cy="558102"/>
          </a:xfrm>
          <a:prstGeom prst="rect">
            <a:avLst/>
          </a:prstGeom>
        </p:spPr>
        <p:txBody>
          <a:bodyPr wrap="square" lIns="0" tIns="0" rIns="0" bIns="0">
            <a:spAutoFit/>
          </a:bodyPr>
          <a:lstStyle/>
          <a:p>
            <a:pPr algn="just" defTabSz="1219200">
              <a:lnSpc>
                <a:spcPct val="119000"/>
              </a:lnSpc>
            </a:pPr>
            <a:r>
              <a:rPr lang="zh-CN" altLang="en-US" sz="1050" kern="1400" dirty="0">
                <a:solidFill>
                  <a:srgbClr val="333333"/>
                </a:solidFill>
                <a:latin typeface="Arial" panose="020B0604020202020204" pitchFamily="34" charset="0"/>
                <a:ea typeface="楷体" panose="02010609060101010101" pitchFamily="49" charset="-122"/>
                <a:sym typeface="Arial" panose="020B0604020202020204" pitchFamily="34" charset="0"/>
              </a:rPr>
              <a:t>容诚会计师事务所（特殊普通合伙）为</a:t>
            </a:r>
            <a:r>
              <a:rPr lang="en-US" altLang="zh-CN" sz="1050" kern="1400" dirty="0">
                <a:solidFill>
                  <a:srgbClr val="333333"/>
                </a:solidFill>
                <a:latin typeface="Arial" panose="020B0604020202020204" pitchFamily="34" charset="0"/>
                <a:ea typeface="楷体" panose="02010609060101010101" pitchFamily="49" charset="-122"/>
                <a:sym typeface="Arial" panose="020B0604020202020204" pitchFamily="34" charset="0"/>
              </a:rPr>
              <a:t>RSM</a:t>
            </a:r>
            <a:r>
              <a:rPr lang="zh-CN" altLang="en-US" sz="1050" kern="1400" dirty="0">
                <a:solidFill>
                  <a:srgbClr val="333333"/>
                </a:solidFill>
                <a:latin typeface="Arial" panose="020B0604020202020204" pitchFamily="34" charset="0"/>
                <a:ea typeface="楷体" panose="02010609060101010101" pitchFamily="49" charset="-122"/>
                <a:sym typeface="Arial" panose="020B0604020202020204" pitchFamily="34" charset="0"/>
              </a:rPr>
              <a:t>成员所。</a:t>
            </a:r>
            <a:r>
              <a:rPr lang="en-US" altLang="zh-CN" sz="1050" kern="1400" dirty="0">
                <a:solidFill>
                  <a:srgbClr val="333333"/>
                </a:solidFill>
                <a:latin typeface="Arial" panose="020B0604020202020204" pitchFamily="34" charset="0"/>
                <a:ea typeface="楷体" panose="02010609060101010101" pitchFamily="49" charset="-122"/>
                <a:cs typeface="Times New Roman" panose="02020603050405020304" pitchFamily="18" charset="0"/>
                <a:sym typeface="Arial" panose="020B0604020202020204" pitchFamily="34" charset="0"/>
              </a:rPr>
              <a:t>RSM</a:t>
            </a:r>
            <a:r>
              <a:rPr lang="zh-CN" altLang="en-US" sz="1050" kern="1400" dirty="0">
                <a:solidFill>
                  <a:srgbClr val="333333"/>
                </a:solidFill>
                <a:latin typeface="Arial" panose="020B0604020202020204" pitchFamily="34" charset="0"/>
                <a:ea typeface="楷体" panose="02010609060101010101" pitchFamily="49" charset="-122"/>
                <a:sym typeface="Arial" panose="020B0604020202020204" pitchFamily="34" charset="0"/>
              </a:rPr>
              <a:t>由独立的会计及咨询事务所组织，各事务所都是在其职权范围里运营。本出版物所含信息仅供参考。容诚不对任何依据本出版物内容所采取或不采取行为而导致的直接、间接或意外损失承担责任。</a:t>
            </a:r>
          </a:p>
        </p:txBody>
      </p:sp>
      <p:pic>
        <p:nvPicPr>
          <p:cNvPr id="10" name="图片 9"/>
          <p:cNvPicPr>
            <a:picLocks noChangeAspect="1"/>
          </p:cNvPicPr>
          <p:nvPr/>
        </p:nvPicPr>
        <p:blipFill>
          <a:blip r:embed="rId5" cstate="screen"/>
          <a:stretch>
            <a:fillRect/>
          </a:stretch>
        </p:blipFill>
        <p:spPr>
          <a:xfrm>
            <a:off x="4651891" y="3833251"/>
            <a:ext cx="995209" cy="995209"/>
          </a:xfrm>
          <a:prstGeom prst="rect">
            <a:avLst/>
          </a:prstGeom>
        </p:spPr>
      </p:pic>
      <p:sp>
        <p:nvSpPr>
          <p:cNvPr id="11" name="文本框 10"/>
          <p:cNvSpPr txBox="1"/>
          <p:nvPr/>
        </p:nvSpPr>
        <p:spPr>
          <a:xfrm>
            <a:off x="502315" y="3241110"/>
            <a:ext cx="4565366" cy="923330"/>
          </a:xfrm>
          <a:prstGeom prst="rect">
            <a:avLst/>
          </a:prstGeom>
          <a:noFill/>
        </p:spPr>
        <p:txBody>
          <a:bodyPr wrap="square" rtlCol="0">
            <a:spAutoFit/>
          </a:bodyPr>
          <a:lstStyle/>
          <a:p>
            <a:pPr defTabSz="1219200"/>
            <a:r>
              <a:rPr lang="zh-CN" altLang="en-US" sz="5400" dirty="0">
                <a:solidFill>
                  <a:srgbClr val="333333"/>
                </a:solidFill>
                <a:latin typeface="Arial" panose="020B0604020202020204" pitchFamily="34" charset="0"/>
                <a:ea typeface="楷体" panose="02010609060101010101" pitchFamily="49" charset="-122"/>
                <a:sym typeface="Arial" panose="020B0604020202020204" pitchFamily="34" charset="0"/>
              </a:rPr>
              <a:t>感谢！</a:t>
            </a:r>
            <a:endParaRPr lang="zh-CN" altLang="en-US" sz="5400" dirty="0">
              <a:solidFill>
                <a:srgbClr val="333333"/>
              </a:solidFill>
              <a:latin typeface="Arial" panose="020B0604020202020204" pitchFamily="34" charset="0"/>
              <a:ea typeface="楷体" panose="02010609060101010101" pitchFamily="49"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29895557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emplate Printbook">
  <a:themeElements>
    <a:clrScheme name="RSM 2024">
      <a:dk1>
        <a:srgbClr val="63666A"/>
      </a:dk1>
      <a:lt1>
        <a:srgbClr val="FFFFFF"/>
      </a:lt1>
      <a:dk2>
        <a:srgbClr val="00153D"/>
      </a:dk2>
      <a:lt2>
        <a:srgbClr val="CCCFCF"/>
      </a:lt2>
      <a:accent1>
        <a:srgbClr val="009CDE"/>
      </a:accent1>
      <a:accent2>
        <a:srgbClr val="3F9C35"/>
      </a:accent2>
      <a:accent3>
        <a:srgbClr val="888B8D"/>
      </a:accent3>
      <a:accent4>
        <a:srgbClr val="63666A"/>
      </a:accent4>
      <a:accent5>
        <a:srgbClr val="CCCFCF"/>
      </a:accent5>
      <a:accent6>
        <a:srgbClr val="00153D"/>
      </a:accent6>
      <a:hlink>
        <a:srgbClr val="33AFE4"/>
      </a:hlink>
      <a:folHlink>
        <a:srgbClr val="66C3EB"/>
      </a:folHlink>
    </a:clrScheme>
    <a:fontScheme name="自定义 5">
      <a:majorFont>
        <a:latin typeface="Arial"/>
        <a:ea typeface="楷体"/>
        <a:cs typeface=""/>
      </a:majorFont>
      <a:minorFont>
        <a:latin typeface="Arial"/>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RSM 2024">
        <a:dk1>
          <a:srgbClr val="63666A"/>
        </a:dk1>
        <a:lt1>
          <a:srgbClr val="FFFFFF"/>
        </a:lt1>
        <a:dk2>
          <a:srgbClr val="00153D"/>
        </a:dk2>
        <a:lt2>
          <a:srgbClr val="CCCFCF"/>
        </a:lt2>
        <a:accent1>
          <a:srgbClr val="009CDE"/>
        </a:accent1>
        <a:accent2>
          <a:srgbClr val="3F9C35"/>
        </a:accent2>
        <a:accent3>
          <a:srgbClr val="888B8D"/>
        </a:accent3>
        <a:accent4>
          <a:srgbClr val="63666A"/>
        </a:accent4>
        <a:accent5>
          <a:srgbClr val="CCCFCF"/>
        </a:accent5>
        <a:accent6>
          <a:srgbClr val="00153D"/>
        </a:accent6>
        <a:hlink>
          <a:srgbClr val="33AFE4"/>
        </a:hlink>
        <a:folHlink>
          <a:srgbClr val="66C3EB"/>
        </a:folHlink>
      </a:clrScheme>
      <a:clrMap bg1="lt1" tx1="dk1" bg2="lt2" tx2="dk2" accent1="accent1" accent2="accent2" accent3="accent3" accent4="accent4" accent5="accent5" accent6="accent6" hlink="hlink" folHlink="folHlink"/>
    </a:extraClrScheme>
  </a:extraClrSchemeLst>
  <a:custClrLst>
    <a:custClr name="RSM Blue">
      <a:srgbClr val="009CDE"/>
    </a:custClr>
    <a:custClr name="RSM Green">
      <a:srgbClr val="3F9C35"/>
    </a:custClr>
    <a:custClr name="RSM Mid Grey">
      <a:srgbClr val="888B8D"/>
    </a:custClr>
    <a:custClr name="RSM Dark Grey">
      <a:srgbClr val="63666A"/>
    </a:custClr>
    <a:custClr name="Teal">
      <a:srgbClr val="34A798"/>
    </a:custClr>
    <a:custClr name="Purple">
      <a:srgbClr val="9F5CC0"/>
    </a:custClr>
    <a:custClr name="Yellow">
      <a:srgbClr val="F1B434"/>
    </a:custClr>
    <a:custClr name="Red">
      <a:srgbClr val="E40046"/>
    </a:custClr>
    <a:custClr name="Olive">
      <a:srgbClr val="A2A569"/>
    </a:custClr>
    <a:custClr name="Orange">
      <a:srgbClr val="E87722"/>
    </a:custClr>
    <a:custClr name="Blue 80%">
      <a:srgbClr val="33AFE4"/>
    </a:custClr>
    <a:custClr name="Green 80%">
      <a:srgbClr val="6CAF5D"/>
    </a:custClr>
    <a:custClr name="Mid Grey 80%">
      <a:srgbClr val="9FA2A3"/>
    </a:custClr>
    <a:custClr name="Dark Grey 80%">
      <a:srgbClr val="828487"/>
    </a:custClr>
    <a:custClr name="Teal 80%">
      <a:srgbClr val="5CB8AC"/>
    </a:custClr>
    <a:custClr name="Purple 80%">
      <a:srgbClr val="B27CCC"/>
    </a:custClr>
    <a:custClr name="Yellow 80%">
      <a:srgbClr val="F3C35C"/>
    </a:custClr>
    <a:custClr name="Red 80%">
      <a:srgbClr val="E9336B"/>
    </a:custClr>
    <a:custClr name="Olive 80%">
      <a:srgbClr val="B4B787"/>
    </a:custClr>
    <a:custClr name="Orange 80%">
      <a:srgbClr val="EC924E"/>
    </a:custClr>
    <a:custClr name="RSM Blue 60%">
      <a:srgbClr val="66C3EB"/>
    </a:custClr>
    <a:custClr name="RSM Green 60%">
      <a:srgbClr val="8BC385"/>
    </a:custClr>
    <a:custClr name="RSM Mid Grey 60%">
      <a:srgbClr val="B7B9BA"/>
    </a:custClr>
    <a:custClr name="RSM Dark Grey 60%">
      <a:srgbClr val="A1A3A5"/>
    </a:custClr>
    <a:custClr name="Teal 60%">
      <a:srgbClr val="85CAC1"/>
    </a:custClr>
    <a:custClr name="Purple 60%">
      <a:srgbClr val="C59DD9"/>
    </a:custClr>
    <a:custClr name="Yellow 60%">
      <a:srgbClr val="F6D285"/>
    </a:custClr>
    <a:custClr name="Red 60%">
      <a:srgbClr val="EE6690"/>
    </a:custClr>
    <a:custClr name="Olive 60%">
      <a:srgbClr val="C7C9A5"/>
    </a:custClr>
    <a:custClr name="Orange 60%">
      <a:srgbClr val="F1AD7A"/>
    </a:custClr>
    <a:custClr name="RSM Blue 20%">
      <a:srgbClr val="CCEBF8"/>
    </a:custClr>
    <a:custClr name="RSM Green 20%">
      <a:srgbClr val="D8EBD6"/>
    </a:custClr>
    <a:custClr name="RSM Mid Grey 20%">
      <a:srgbClr val="E7E7E8"/>
    </a:custClr>
    <a:custClr name="RSM Dark Grey 20%">
      <a:srgbClr val="DFE0E1"/>
    </a:custClr>
    <a:custClr name="Teal 20%">
      <a:srgbClr val="D6EDEA"/>
    </a:custClr>
    <a:custClr name="Purple 20%">
      <a:srgbClr val="EBDEF2"/>
    </a:custClr>
    <a:custClr name="Yellow 20%">
      <a:srgbClr val="FCF0D6"/>
    </a:custClr>
    <a:custClr name="Red 20%">
      <a:srgbClr val="F9CCDA"/>
    </a:custClr>
    <a:custClr name="Olive 20%">
      <a:srgbClr val="ECEDE1"/>
    </a:custClr>
    <a:custClr name="Orange 20%">
      <a:srgbClr val="FAE3D2"/>
    </a:custClr>
    <a:custClr name="Midnight Blue">
      <a:srgbClr val="00153D"/>
    </a:custClr>
    <a:custClr name="White">
      <a:srgbClr val="FFFFFF"/>
    </a:custClr>
    <a:custClr name="Light grey">
      <a:srgbClr val="CCCFCF"/>
    </a:custClr>
    <a:custClr name="80% Black">
      <a:srgbClr val="333333"/>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Widescreen_Main.potx" id="{0F375CD1-FD77-40BF-A9CA-D8E7406EF056}" vid="{055AEBF6-119E-42F8-AB5C-F1570655642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4EB7EDD2A41FD41B6029BDCE3CFA919" ma:contentTypeVersion="0" ma:contentTypeDescription="Create a new document." ma:contentTypeScope="" ma:versionID="db7ef36d5f44a12af764396a2e2d6b6c">
  <xsd:schema xmlns:xsd="http://www.w3.org/2001/XMLSchema" xmlns:xs="http://www.w3.org/2001/XMLSchema" xmlns:p="http://schemas.microsoft.com/office/2006/metadata/properties" targetNamespace="http://schemas.microsoft.com/office/2006/metadata/properties" ma:root="true" ma:fieldsID="f9bce4d9769d259b9f22a0ab32779d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1C2E8C7-417A-4EF7-9B0B-0D8CFB5B2C84}"/>
</file>

<file path=customXml/itemProps2.xml><?xml version="1.0" encoding="utf-8"?>
<ds:datastoreItem xmlns:ds="http://schemas.openxmlformats.org/officeDocument/2006/customXml" ds:itemID="{635EF47D-66DD-4C52-9FE1-58BA5BAA73B6}">
  <ds:schemaRefs>
    <ds:schemaRef ds:uri="http://purl.org/dc/elements/1.1/"/>
    <ds:schemaRef ds:uri="http://schemas.microsoft.com/office/2006/documentManagement/types"/>
    <ds:schemaRef ds:uri="http://purl.org/dc/dcmitype/"/>
    <ds:schemaRef ds:uri="http://purl.org/dc/terms/"/>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A329E22B-6C10-426A-A8BD-2ED855922877}">
  <ds:schemaRefs>
    <ds:schemaRef ds:uri="http://schemas.microsoft.com/sharepoint/v3/contenttype/forms"/>
  </ds:schemaRefs>
</ds:datastoreItem>
</file>

<file path=docMetadata/LabelInfo.xml><?xml version="1.0" encoding="utf-8"?>
<clbl:labelList xmlns:clbl="http://schemas.microsoft.com/office/2020/mipLabelMetadata">
  <clbl:label id="{08048efe-38c9-4b7b-aaf8-a94f25cc2a16}" enabled="0" method="" siteId="{08048efe-38c9-4b7b-aaf8-a94f25cc2a16}" removed="1"/>
</clbl:labelList>
</file>

<file path=docProps/app.xml><?xml version="1.0" encoding="utf-8"?>
<Properties xmlns="http://schemas.openxmlformats.org/officeDocument/2006/extended-properties" xmlns:vt="http://schemas.openxmlformats.org/officeDocument/2006/docPropsVTypes">
  <TotalTime>3302</TotalTime>
  <Words>2499</Words>
  <Application>Microsoft Office PowerPoint</Application>
  <PresentationFormat>Widescreen</PresentationFormat>
  <Paragraphs>315</Paragraphs>
  <Slides>13</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2" baseType="lpstr">
      <vt:lpstr>Prelo Bold Italic</vt:lpstr>
      <vt:lpstr>楷体</vt:lpstr>
      <vt:lpstr>等线</vt:lpstr>
      <vt:lpstr>等线 Light</vt:lpstr>
      <vt:lpstr>Arial</vt:lpstr>
      <vt:lpstr>Georgia</vt:lpstr>
      <vt:lpstr>Wingdings</vt:lpstr>
      <vt:lpstr>Template Printbook</vt:lpstr>
      <vt:lpstr>think-cell 幻灯片</vt:lpstr>
      <vt:lpstr>PowerPoint Presentation</vt:lpstr>
      <vt:lpstr>估值交流</vt:lpstr>
      <vt:lpstr>Bloomberg -定价数据类型</vt:lpstr>
      <vt:lpstr>Bloomberg – BVAL评分体系</vt:lpstr>
      <vt:lpstr>BVAL估值模式的借鉴路径 （2024年交流）</vt:lpstr>
      <vt:lpstr>估值内控鉴证</vt:lpstr>
      <vt:lpstr>估值内控鉴证</vt:lpstr>
      <vt:lpstr>估值内控鉴证</vt:lpstr>
      <vt:lpstr>估值内控鉴证</vt:lpstr>
      <vt:lpstr>估值内控鉴证</vt:lpstr>
      <vt:lpstr>估值内控鉴证</vt:lpstr>
      <vt:lpstr>估值内控鉴证</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 chen</dc:creator>
  <cp:lastModifiedBy>Xingjian Zou</cp:lastModifiedBy>
  <cp:revision>406</cp:revision>
  <cp:lastPrinted>2026-04-14T11:10:07Z</cp:lastPrinted>
  <dcterms:created xsi:type="dcterms:W3CDTF">2025-08-04T09:42:57Z</dcterms:created>
  <dcterms:modified xsi:type="dcterms:W3CDTF">2026-04-14T15:58:03Z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0x01010004EB7EDD2A41FD41B6029BDCE3CFA919</vt:lpwstr>
  </property>
</Properties>
</file>